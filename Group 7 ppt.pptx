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9" r:id="rId4"/>
    <p:sldId id="258" r:id="rId5"/>
    <p:sldId id="260" r:id="rId6"/>
    <p:sldId id="261" r:id="rId7"/>
    <p:sldId id="262" r:id="rId8"/>
    <p:sldId id="290" r:id="rId9"/>
    <p:sldId id="291" r:id="rId10"/>
    <p:sldId id="294" r:id="rId11"/>
    <p:sldId id="264" r:id="rId12"/>
    <p:sldId id="293" r:id="rId13"/>
    <p:sldId id="284" r:id="rId14"/>
    <p:sldId id="272" r:id="rId15"/>
    <p:sldId id="285" r:id="rId16"/>
    <p:sldId id="286" r:id="rId17"/>
    <p:sldId id="267" r:id="rId18"/>
    <p:sldId id="268" r:id="rId19"/>
    <p:sldId id="288" r:id="rId20"/>
    <p:sldId id="269" r:id="rId21"/>
    <p:sldId id="270" r:id="rId22"/>
    <p:sldId id="271" r:id="rId23"/>
    <p:sldId id="287" r:id="rId24"/>
    <p:sldId id="275" r:id="rId25"/>
    <p:sldId id="277" r:id="rId26"/>
    <p:sldId id="276" r:id="rId27"/>
    <p:sldId id="278" r:id="rId28"/>
    <p:sldId id="279" r:id="rId29"/>
    <p:sldId id="280" r:id="rId30"/>
    <p:sldId id="281" r:id="rId31"/>
    <p:sldId id="283" r:id="rId32"/>
    <p:sldId id="282"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5347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7F20-1853-F132-D9E5-9FE8DF4F0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F46E4-940D-F7EB-0FFE-28EA601326A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BD00CCA-8AEB-AC24-6F8B-61576407A6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36E222-5DFD-3BDF-D457-664C2FE1631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85052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D9BEF-70CF-F0CC-3A63-EC09B1A78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BAA88-D25F-A60C-0C96-77F821FD97C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EFCFD3-0C1C-D76C-8810-A67409A790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CEF878-F1C9-EBA6-B673-6E9CA5C5F1C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74766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07A4F-A1EE-8BCE-DBBD-37D4A9F8B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53797-4849-3424-CA91-513C52A5801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930B801-973B-0A8C-68BB-82D73C1004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6F00F6-42A1-2CA2-8B49-B2FF4CB0146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77244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219C1-EB43-036F-0CF5-872724847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84A72-5E3F-BA28-4DD7-E48D207C2E2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5557312-E1CE-D910-AEB6-054CC9FCC8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FF57B2-3DC7-A6FA-3A67-5D71261F6BF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41271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603BA-3A2B-E43A-38B2-A07792911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2FB31-21AA-9558-3537-6F46A9E854C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DD31432-1787-3657-7D67-47B235684D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95682C-D286-CCCD-5533-DAFF132F1CD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94879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05191-8840-C37E-E9EE-332331250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50D39-6940-5E76-94AD-91C3511E4E2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6D77B6A-C43F-1BD0-33A9-62CF1F3D18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23FD1A-0B09-A89F-FE65-FE1717BF10E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22297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1791-E3BA-222E-E59C-2485E34F0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99380-98DD-21D6-FF0B-6EFE75FA738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8DBC11D-92E9-4F88-3AA5-C93CFB65B0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4DC540-663E-D5E6-B6C2-2919AD68CAA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70921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7714-C8DC-3B3F-96EF-72317B287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0430F-4FDF-72C4-534D-5002EBDC2FE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4D2A704-D3A6-3E69-E121-F4DA5A3D65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438FAE-F55E-AAF5-470A-2184CF98DBE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8747393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78293-11FC-5349-8E9D-95D70EA02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FFF32-6EB8-028B-1FF4-BA82713C1F0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8C09A6F-FAF2-76F5-C692-0D4DCE58AF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C24C60-5BFD-9FD5-FE2C-FD00715A501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085982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3.jpe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hyperlink" Target="https://share.google/6FupdV0VVW7JuFJSj"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352044" y="5751576"/>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704088" y="5751576"/>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56132" y="5751576"/>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408176" y="5751576"/>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760220" y="5751576"/>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2112264" y="5751576"/>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2464308" y="5751576"/>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352044" y="6254496"/>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704088" y="6254496"/>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56132" y="6254496"/>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408176" y="6254496"/>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760220" y="6254496"/>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2112264" y="6254496"/>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2464308" y="6254496"/>
            <a:ext cx="310896" cy="310896"/>
          </a:xfrm>
          <a:prstGeom prst="line">
            <a:avLst/>
          </a:prstGeom>
          <a:noFill/>
          <a:ln w="15875">
            <a:solidFill>
              <a:srgbClr val="B8BCD0"/>
            </a:solidFill>
            <a:prstDash val="solid"/>
          </a:ln>
        </p:spPr>
        <p:txBody>
          <a:bodyPr/>
          <a:lstStyle/>
          <a:p>
            <a:endParaRPr lang="en-IN"/>
          </a:p>
        </p:txBody>
      </p:sp>
      <p:pic>
        <p:nvPicPr>
          <p:cNvPr id="16" name="Image 0" descr="a/logo.png"/>
          <p:cNvPicPr>
            <a:picLocks noChangeAspect="1"/>
          </p:cNvPicPr>
          <p:nvPr/>
        </p:nvPicPr>
        <p:blipFill>
          <a:blip r:embed="rId4"/>
          <a:stretch>
            <a:fillRect/>
          </a:stretch>
        </p:blipFill>
        <p:spPr>
          <a:xfrm>
            <a:off x="5178490" y="469330"/>
            <a:ext cx="1999550" cy="1999550"/>
          </a:xfrm>
          <a:prstGeom prst="rect">
            <a:avLst/>
          </a:prstGeom>
        </p:spPr>
      </p:pic>
      <p:sp>
        <p:nvSpPr>
          <p:cNvPr id="17" name="Text 14"/>
          <p:cNvSpPr txBox="1"/>
          <p:nvPr/>
        </p:nvSpPr>
        <p:spPr>
          <a:xfrm>
            <a:off x="0" y="2606040"/>
            <a:ext cx="12191695" cy="548640"/>
          </a:xfrm>
          <a:prstGeom prst="rect">
            <a:avLst/>
          </a:prstGeom>
          <a:noFill/>
          <a:ln/>
        </p:spPr>
        <p:txBody>
          <a:bodyPr wrap="square" lIns="0" tIns="0" rIns="0" bIns="0" rtlCol="0" anchor="t"/>
          <a:lstStyle/>
          <a:p>
            <a:pPr marL="0" indent="0" algn="ctr">
              <a:buNone/>
            </a:pPr>
            <a:r>
              <a:rPr lang="en-US" sz="3600" b="1" dirty="0">
                <a:solidFill>
                  <a:srgbClr val="F2F2F8"/>
                </a:solidFill>
                <a:latin typeface="Calibri" pitchFamily="34" charset="0"/>
                <a:ea typeface="Calibri" pitchFamily="34" charset="-122"/>
                <a:cs typeface="Calibri" pitchFamily="34" charset="-120"/>
              </a:rPr>
              <a:t>NETAJI SUBHAS UNIVERSITY OF TECHNOLOGY</a:t>
            </a:r>
            <a:endParaRPr lang="en-US" sz="3600" dirty="0"/>
          </a:p>
        </p:txBody>
      </p:sp>
      <p:sp>
        <p:nvSpPr>
          <p:cNvPr id="18" name="Text 15"/>
          <p:cNvSpPr txBox="1"/>
          <p:nvPr/>
        </p:nvSpPr>
        <p:spPr>
          <a:xfrm>
            <a:off x="0" y="3200400"/>
            <a:ext cx="12191695" cy="457200"/>
          </a:xfrm>
          <a:prstGeom prst="rect">
            <a:avLst/>
          </a:prstGeom>
          <a:noFill/>
          <a:ln/>
        </p:spPr>
        <p:txBody>
          <a:bodyPr wrap="square" lIns="0" tIns="0" rIns="0" bIns="0" rtlCol="0" anchor="t"/>
          <a:lstStyle/>
          <a:p>
            <a:pPr marL="0" indent="0" algn="ctr">
              <a:buNone/>
            </a:pPr>
            <a:r>
              <a:rPr lang="en-US" sz="3100" b="1" dirty="0">
                <a:solidFill>
                  <a:srgbClr val="F2F2F8"/>
                </a:solidFill>
                <a:latin typeface="Calibri" pitchFamily="34" charset="0"/>
                <a:ea typeface="Calibri" pitchFamily="34" charset="-122"/>
                <a:cs typeface="Calibri" pitchFamily="34" charset="-120"/>
              </a:rPr>
              <a:t>Soft Computing (COCSC503)</a:t>
            </a:r>
            <a:endParaRPr lang="en-US" sz="3100" dirty="0"/>
          </a:p>
        </p:txBody>
      </p:sp>
      <p:sp>
        <p:nvSpPr>
          <p:cNvPr id="19" name="Shape 16"/>
          <p:cNvSpPr/>
          <p:nvPr/>
        </p:nvSpPr>
        <p:spPr>
          <a:xfrm>
            <a:off x="6675120" y="4069080"/>
            <a:ext cx="4846320" cy="2331720"/>
          </a:xfrm>
          <a:prstGeom prst="roundRect">
            <a:avLst>
              <a:gd name="adj" fmla="val 4706"/>
            </a:avLst>
          </a:prstGeom>
          <a:solidFill>
            <a:srgbClr val="1C2036"/>
          </a:solidFill>
          <a:ln w="9525">
            <a:solidFill>
              <a:srgbClr val="343A58"/>
            </a:solidFill>
            <a:prstDash val="solid"/>
          </a:ln>
        </p:spPr>
        <p:txBody>
          <a:bodyPr/>
          <a:lstStyle/>
          <a:p>
            <a:endParaRPr lang="en-IN"/>
          </a:p>
        </p:txBody>
      </p:sp>
      <p:sp>
        <p:nvSpPr>
          <p:cNvPr id="20" name="Text 17"/>
          <p:cNvSpPr txBox="1"/>
          <p:nvPr/>
        </p:nvSpPr>
        <p:spPr>
          <a:xfrm>
            <a:off x="6949440" y="4251960"/>
            <a:ext cx="4480560" cy="2011680"/>
          </a:xfrm>
          <a:prstGeom prst="rect">
            <a:avLst/>
          </a:prstGeom>
          <a:noFill/>
          <a:ln/>
        </p:spPr>
        <p:txBody>
          <a:bodyPr wrap="square" lIns="0" tIns="0" rIns="0" bIns="0" rtlCol="0" anchor="t"/>
          <a:lstStyle/>
          <a:p>
            <a:pPr marL="0" indent="0">
              <a:spcAft>
                <a:spcPts val="500"/>
              </a:spcAft>
              <a:buNone/>
            </a:pPr>
            <a:r>
              <a:rPr lang="en-US" sz="1800" b="1" dirty="0">
                <a:solidFill>
                  <a:srgbClr val="F2F2F8"/>
                </a:solidFill>
                <a:latin typeface="Calibri" pitchFamily="34" charset="0"/>
                <a:ea typeface="Calibri" pitchFamily="34" charset="-122"/>
                <a:cs typeface="Calibri" pitchFamily="34" charset="-120"/>
              </a:rPr>
              <a:t>Submitted By:</a:t>
            </a:r>
            <a:endParaRPr lang="en-US" sz="1900" dirty="0"/>
          </a:p>
          <a:p>
            <a:pPr marL="0" indent="0">
              <a:spcAft>
                <a:spcPts val="500"/>
              </a:spcAft>
              <a:buNone/>
            </a:pPr>
            <a:r>
              <a:rPr lang="en-US" sz="1900" dirty="0">
                <a:solidFill>
                  <a:srgbClr val="F2F2F8"/>
                </a:solidFill>
                <a:latin typeface="Calibri" pitchFamily="34" charset="0"/>
                <a:ea typeface="Calibri" pitchFamily="34" charset="-122"/>
                <a:cs typeface="Calibri" pitchFamily="34" charset="-120"/>
              </a:rPr>
              <a:t>1. Kartik Jha (2024UCS1609)</a:t>
            </a:r>
            <a:endParaRPr lang="en-US" sz="1900" dirty="0"/>
          </a:p>
          <a:p>
            <a:pPr marL="0" indent="0">
              <a:spcAft>
                <a:spcPts val="500"/>
              </a:spcAft>
              <a:buNone/>
            </a:pPr>
            <a:r>
              <a:rPr lang="en-US" sz="1900" dirty="0">
                <a:solidFill>
                  <a:srgbClr val="F2F2F8"/>
                </a:solidFill>
                <a:latin typeface="Calibri" pitchFamily="34" charset="0"/>
                <a:ea typeface="Calibri" pitchFamily="34" charset="-122"/>
                <a:cs typeface="Calibri" pitchFamily="34" charset="-120"/>
              </a:rPr>
              <a:t>2. Atharv Pratap Singh (2024UCS1610)</a:t>
            </a:r>
            <a:endParaRPr lang="en-US" sz="1900" dirty="0"/>
          </a:p>
          <a:p>
            <a:pPr marL="0" indent="0">
              <a:spcAft>
                <a:spcPts val="500"/>
              </a:spcAft>
              <a:buNone/>
            </a:pPr>
            <a:r>
              <a:rPr lang="en-US" sz="1900" dirty="0">
                <a:solidFill>
                  <a:srgbClr val="F2F2F8"/>
                </a:solidFill>
                <a:latin typeface="Calibri" pitchFamily="34" charset="0"/>
                <a:ea typeface="Calibri" pitchFamily="34" charset="-122"/>
                <a:cs typeface="Calibri" pitchFamily="34" charset="-120"/>
              </a:rPr>
              <a:t>3. Anirudh Sreekumar Nair (2024UCS1619)</a:t>
            </a:r>
            <a:endParaRPr lang="en-US" sz="1900" dirty="0"/>
          </a:p>
          <a:p>
            <a:pPr marL="0" indent="0">
              <a:spcAft>
                <a:spcPts val="500"/>
              </a:spcAft>
              <a:buNone/>
            </a:pPr>
            <a:r>
              <a:rPr lang="en-US" sz="1900" dirty="0">
                <a:solidFill>
                  <a:srgbClr val="F2F2F8"/>
                </a:solidFill>
                <a:latin typeface="Calibri" pitchFamily="34" charset="0"/>
                <a:ea typeface="Calibri" pitchFamily="34" charset="-122"/>
                <a:cs typeface="Calibri" pitchFamily="34" charset="-120"/>
              </a:rPr>
              <a:t>4. Bhagya Ranjan Singh (2024UCS2135)</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6" name="Text 14"/>
          <p:cNvSpPr txBox="1"/>
          <p:nvPr/>
        </p:nvSpPr>
        <p:spPr>
          <a:xfrm>
            <a:off x="822960" y="1554480"/>
            <a:ext cx="6400800" cy="1463040"/>
          </a:xfrm>
          <a:prstGeom prst="rect">
            <a:avLst/>
          </a:prstGeom>
          <a:noFill/>
          <a:ln/>
        </p:spPr>
        <p:txBody>
          <a:bodyPr wrap="square" lIns="0" tIns="0" rIns="0" bIns="0" rtlCol="0" anchor="ctr"/>
          <a:lstStyle/>
          <a:p>
            <a:pPr marL="0" indent="0">
              <a:buNone/>
            </a:pPr>
            <a:r>
              <a:rPr lang="en-US" sz="8000" dirty="0">
                <a:solidFill>
                  <a:srgbClr val="F2F2F8"/>
                </a:solidFill>
                <a:latin typeface="Impact" pitchFamily="34" charset="0"/>
                <a:ea typeface="Impact" pitchFamily="34" charset="-122"/>
                <a:cs typeface="Impact" pitchFamily="34" charset="-120"/>
              </a:rPr>
              <a:t>Perceptron</a:t>
            </a:r>
            <a:endParaRPr lang="en-US" sz="8000" dirty="0"/>
          </a:p>
        </p:txBody>
      </p:sp>
      <p:sp>
        <p:nvSpPr>
          <p:cNvPr id="17" name="Text 15"/>
          <p:cNvSpPr txBox="1"/>
          <p:nvPr/>
        </p:nvSpPr>
        <p:spPr>
          <a:xfrm>
            <a:off x="822960" y="3200400"/>
            <a:ext cx="5760720" cy="914400"/>
          </a:xfrm>
          <a:prstGeom prst="rect">
            <a:avLst/>
          </a:prstGeom>
          <a:noFill/>
          <a:ln/>
        </p:spPr>
        <p:txBody>
          <a:bodyPr wrap="square" lIns="0" tIns="0" rIns="0" bIns="0" rtlCol="0" anchor="t"/>
          <a:lstStyle/>
          <a:p>
            <a:pPr marL="0" indent="0">
              <a:buNone/>
            </a:pPr>
            <a:r>
              <a:rPr lang="en-US" sz="2650" dirty="0">
                <a:solidFill>
                  <a:srgbClr val="A9AFC8"/>
                </a:solidFill>
                <a:latin typeface="Calibri" pitchFamily="34" charset="0"/>
                <a:ea typeface="Calibri" pitchFamily="34" charset="-122"/>
                <a:cs typeface="Calibri" pitchFamily="34" charset="-120"/>
              </a:rPr>
              <a:t>Architecture • Training Rule • Decision Boundaries • Limitations</a:t>
            </a:r>
            <a:endParaRPr lang="en-US" sz="2650" dirty="0"/>
          </a:p>
        </p:txBody>
      </p:sp>
      <p:sp>
        <p:nvSpPr>
          <p:cNvPr id="18" name="Text 16"/>
          <p:cNvSpPr txBox="1"/>
          <p:nvPr/>
        </p:nvSpPr>
        <p:spPr>
          <a:xfrm>
            <a:off x="822960" y="4846320"/>
            <a:ext cx="5943600" cy="365760"/>
          </a:xfrm>
          <a:prstGeom prst="rect">
            <a:avLst/>
          </a:prstGeom>
          <a:noFill/>
          <a:ln/>
        </p:spPr>
        <p:txBody>
          <a:bodyPr wrap="square" lIns="0" tIns="0" rIns="0" bIns="0" rtlCol="0" anchor="t"/>
          <a:lstStyle/>
          <a:p>
            <a:pPr marL="0" indent="0">
              <a:buNone/>
            </a:pPr>
            <a:r>
              <a:rPr lang="en-US" sz="2050" b="1" dirty="0">
                <a:solidFill>
                  <a:schemeClr val="tx2">
                    <a:lumMod val="40000"/>
                    <a:lumOff val="60000"/>
                  </a:schemeClr>
                </a:solidFill>
                <a:latin typeface="Calibri" pitchFamily="34" charset="0"/>
                <a:ea typeface="Calibri" pitchFamily="34" charset="-122"/>
                <a:cs typeface="Calibri" pitchFamily="34" charset="-120"/>
              </a:rPr>
              <a:t>Artificial Neural Networks / Soft Computing</a:t>
            </a:r>
            <a:endParaRPr lang="en-US" sz="2050" dirty="0">
              <a:solidFill>
                <a:schemeClr val="tx2">
                  <a:lumMod val="40000"/>
                  <a:lumOff val="60000"/>
                </a:schemeClr>
              </a:solidFill>
            </a:endParaRPr>
          </a:p>
        </p:txBody>
      </p:sp>
      <p:sp>
        <p:nvSpPr>
          <p:cNvPr id="19" name="Shape 17"/>
          <p:cNvSpPr/>
          <p:nvPr/>
        </p:nvSpPr>
        <p:spPr>
          <a:xfrm>
            <a:off x="8001000" y="2514600"/>
            <a:ext cx="1325880" cy="1097280"/>
          </a:xfrm>
          <a:prstGeom prst="line">
            <a:avLst/>
          </a:prstGeom>
          <a:noFill/>
          <a:ln w="12700">
            <a:solidFill>
              <a:srgbClr val="A9AFC8"/>
            </a:solidFill>
            <a:prstDash val="solid"/>
          </a:ln>
        </p:spPr>
        <p:txBody>
          <a:bodyPr/>
          <a:lstStyle/>
          <a:p>
            <a:endParaRPr lang="en-IN"/>
          </a:p>
        </p:txBody>
      </p:sp>
      <p:sp>
        <p:nvSpPr>
          <p:cNvPr id="20" name="Text 18"/>
          <p:cNvSpPr txBox="1"/>
          <p:nvPr/>
        </p:nvSpPr>
        <p:spPr>
          <a:xfrm>
            <a:off x="7315200" y="2194560"/>
            <a:ext cx="640080" cy="64008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x₁</a:t>
            </a:r>
            <a:endParaRPr lang="en-US" sz="1600" dirty="0"/>
          </a:p>
        </p:txBody>
      </p:sp>
      <p:sp>
        <p:nvSpPr>
          <p:cNvPr id="21" name="Shape 19"/>
          <p:cNvSpPr/>
          <p:nvPr/>
        </p:nvSpPr>
        <p:spPr>
          <a:xfrm>
            <a:off x="8001000" y="3611880"/>
            <a:ext cx="1325880" cy="0"/>
          </a:xfrm>
          <a:prstGeom prst="line">
            <a:avLst/>
          </a:prstGeom>
          <a:noFill/>
          <a:ln w="12700">
            <a:solidFill>
              <a:srgbClr val="A9AFC8"/>
            </a:solidFill>
            <a:prstDash val="solid"/>
          </a:ln>
        </p:spPr>
        <p:txBody>
          <a:bodyPr/>
          <a:lstStyle/>
          <a:p>
            <a:endParaRPr lang="en-IN"/>
          </a:p>
        </p:txBody>
      </p:sp>
      <p:sp>
        <p:nvSpPr>
          <p:cNvPr id="22" name="Text 20"/>
          <p:cNvSpPr txBox="1"/>
          <p:nvPr/>
        </p:nvSpPr>
        <p:spPr>
          <a:xfrm>
            <a:off x="7315200" y="3291840"/>
            <a:ext cx="640080" cy="64008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x₂</a:t>
            </a:r>
            <a:endParaRPr lang="en-US" sz="1600" dirty="0"/>
          </a:p>
        </p:txBody>
      </p:sp>
      <p:sp>
        <p:nvSpPr>
          <p:cNvPr id="23" name="Shape 21"/>
          <p:cNvSpPr/>
          <p:nvPr/>
        </p:nvSpPr>
        <p:spPr>
          <a:xfrm flipV="1">
            <a:off x="8001000" y="3611880"/>
            <a:ext cx="1325880" cy="1097280"/>
          </a:xfrm>
          <a:prstGeom prst="line">
            <a:avLst/>
          </a:prstGeom>
          <a:noFill/>
          <a:ln w="12700">
            <a:solidFill>
              <a:srgbClr val="A9AFC8"/>
            </a:solidFill>
            <a:prstDash val="solid"/>
          </a:ln>
        </p:spPr>
        <p:txBody>
          <a:bodyPr/>
          <a:lstStyle/>
          <a:p>
            <a:endParaRPr lang="en-IN"/>
          </a:p>
        </p:txBody>
      </p:sp>
      <p:sp>
        <p:nvSpPr>
          <p:cNvPr id="24" name="Text 22"/>
          <p:cNvSpPr txBox="1"/>
          <p:nvPr/>
        </p:nvSpPr>
        <p:spPr>
          <a:xfrm>
            <a:off x="7315200" y="4389120"/>
            <a:ext cx="640080" cy="64008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xₙ</a:t>
            </a:r>
            <a:endParaRPr lang="en-US" sz="1600" dirty="0"/>
          </a:p>
        </p:txBody>
      </p:sp>
      <p:sp>
        <p:nvSpPr>
          <p:cNvPr id="25" name="Text 23"/>
          <p:cNvSpPr txBox="1"/>
          <p:nvPr/>
        </p:nvSpPr>
        <p:spPr>
          <a:xfrm>
            <a:off x="9326880" y="2926080"/>
            <a:ext cx="1371600" cy="1371600"/>
          </a:xfrm>
          <a:prstGeom prst="ellipse">
            <a:avLst/>
          </a:prstGeom>
          <a:solidFill>
            <a:srgbClr val="3B4366"/>
          </a:solid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Σ</a:t>
            </a:r>
            <a:endParaRPr lang="en-US" sz="4000" dirty="0"/>
          </a:p>
        </p:txBody>
      </p:sp>
      <p:sp>
        <p:nvSpPr>
          <p:cNvPr id="26" name="Shape 24"/>
          <p:cNvSpPr/>
          <p:nvPr/>
        </p:nvSpPr>
        <p:spPr>
          <a:xfrm>
            <a:off x="10698480" y="3611880"/>
            <a:ext cx="457200" cy="0"/>
          </a:xfrm>
          <a:prstGeom prst="line">
            <a:avLst/>
          </a:prstGeom>
          <a:noFill/>
          <a:ln w="19050">
            <a:solidFill>
              <a:srgbClr val="3B4366"/>
            </a:solidFill>
            <a:prstDash val="solid"/>
          </a:ln>
        </p:spPr>
        <p:txBody>
          <a:bodyPr/>
          <a:lstStyle/>
          <a:p>
            <a:endParaRPr lang="en-IN"/>
          </a:p>
        </p:txBody>
      </p:sp>
      <p:sp>
        <p:nvSpPr>
          <p:cNvPr id="27" name="Text 25"/>
          <p:cNvSpPr txBox="1"/>
          <p:nvPr/>
        </p:nvSpPr>
        <p:spPr>
          <a:xfrm>
            <a:off x="11155680" y="3291840"/>
            <a:ext cx="640080" cy="640080"/>
          </a:xfrm>
          <a:prstGeom prst="ellipse">
            <a:avLst/>
          </a:prstGeom>
          <a:solidFill>
            <a:srgbClr val="8A90A8"/>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0" y="411480"/>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What Is a Perceptron?</a:t>
            </a:r>
            <a:endParaRPr lang="en-US" sz="4000" dirty="0"/>
          </a:p>
        </p:txBody>
      </p:sp>
      <p:sp>
        <p:nvSpPr>
          <p:cNvPr id="17" name="Shape 15"/>
          <p:cNvSpPr/>
          <p:nvPr/>
        </p:nvSpPr>
        <p:spPr>
          <a:xfrm>
            <a:off x="571500" y="1463040"/>
            <a:ext cx="10885932" cy="1303808"/>
          </a:xfrm>
          <a:prstGeom prst="roundRect">
            <a:avLst>
              <a:gd name="adj" fmla="val 10909"/>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1005840" y="1627631"/>
            <a:ext cx="10149840" cy="957913"/>
          </a:xfrm>
          <a:prstGeom prst="rect">
            <a:avLst/>
          </a:prstGeom>
          <a:noFill/>
          <a:ln/>
        </p:spPr>
        <p:txBody>
          <a:bodyPr wrap="square" lIns="0" tIns="0" rIns="0" bIns="0" rtlCol="0" anchor="ctr"/>
          <a:lstStyle/>
          <a:p>
            <a:pPr marL="0" indent="0">
              <a:buNone/>
            </a:pPr>
            <a:r>
              <a:rPr lang="en-US" sz="2400" dirty="0">
                <a:solidFill>
                  <a:srgbClr val="F2F2F8"/>
                </a:solidFill>
                <a:latin typeface="Calibri" pitchFamily="34" charset="0"/>
                <a:ea typeface="Calibri" pitchFamily="34" charset="-122"/>
                <a:cs typeface="Calibri" pitchFamily="34" charset="-120"/>
              </a:rPr>
              <a:t>A single-layer neural network that learns to classify input values using adjustable weights and activation function.</a:t>
            </a:r>
          </a:p>
        </p:txBody>
      </p:sp>
      <p:sp>
        <p:nvSpPr>
          <p:cNvPr id="24" name="Shape 19">
            <a:extLst>
              <a:ext uri="{FF2B5EF4-FFF2-40B4-BE49-F238E27FC236}">
                <a16:creationId xmlns:a16="http://schemas.microsoft.com/office/drawing/2014/main" id="{58A86A35-E255-8AE1-23FB-7A36FE3B294D}"/>
              </a:ext>
            </a:extLst>
          </p:cNvPr>
          <p:cNvSpPr/>
          <p:nvPr/>
        </p:nvSpPr>
        <p:spPr>
          <a:xfrm>
            <a:off x="6235894" y="3042115"/>
            <a:ext cx="5564596" cy="3258732"/>
          </a:xfrm>
          <a:prstGeom prst="roundRect">
            <a:avLst>
              <a:gd name="adj" fmla="val 3158"/>
            </a:avLst>
          </a:prstGeom>
          <a:solidFill>
            <a:srgbClr val="3B4366"/>
          </a:solidFill>
          <a:ln w="9525">
            <a:solidFill>
              <a:srgbClr val="3B4366"/>
            </a:solidFill>
            <a:prstDash val="solid"/>
          </a:ln>
        </p:spPr>
        <p:txBody>
          <a:bodyPr/>
          <a:lstStyle/>
          <a:p>
            <a:endParaRPr lang="en-IN" sz="2400" dirty="0">
              <a:solidFill>
                <a:schemeClr val="bg1"/>
              </a:solidFill>
            </a:endParaRPr>
          </a:p>
        </p:txBody>
      </p:sp>
      <p:sp>
        <p:nvSpPr>
          <p:cNvPr id="26" name="Text 20">
            <a:extLst>
              <a:ext uri="{FF2B5EF4-FFF2-40B4-BE49-F238E27FC236}">
                <a16:creationId xmlns:a16="http://schemas.microsoft.com/office/drawing/2014/main" id="{0A47023D-7ED3-7CED-A986-88E709ECC6C3}"/>
              </a:ext>
            </a:extLst>
          </p:cNvPr>
          <p:cNvSpPr txBox="1"/>
          <p:nvPr/>
        </p:nvSpPr>
        <p:spPr>
          <a:xfrm>
            <a:off x="6442474" y="3199137"/>
            <a:ext cx="5233361" cy="2945632"/>
          </a:xfrm>
          <a:prstGeom prst="rect">
            <a:avLst/>
          </a:prstGeom>
          <a:noFill/>
          <a:ln/>
        </p:spPr>
        <p:txBody>
          <a:bodyPr wrap="square" lIns="0" tIns="0" rIns="0" bIns="0" rtlCol="0" anchor="t"/>
          <a:lstStyle/>
          <a:p>
            <a:r>
              <a:rPr lang="en-IN" sz="2400" b="1" dirty="0">
                <a:solidFill>
                  <a:schemeClr val="bg1"/>
                </a:solidFill>
              </a:rPr>
              <a:t>Frank Rosenblatt (1957):</a:t>
            </a:r>
            <a:endParaRPr lang="en-IN" sz="2400" dirty="0">
              <a:solidFill>
                <a:schemeClr val="bg1"/>
              </a:solidFill>
            </a:endParaRPr>
          </a:p>
          <a:p>
            <a:r>
              <a:rPr lang="en-IN" sz="2400" dirty="0">
                <a:solidFill>
                  <a:schemeClr val="bg1"/>
                </a:solidFill>
              </a:rPr>
              <a:t>Frank Rosenblatt was an American scientist who introduced the perceptron in 1957. It was an early neural network model designed to learn from examples and perform pattern recognition, inspired by biological learning.</a:t>
            </a:r>
          </a:p>
        </p:txBody>
      </p:sp>
      <p:sp>
        <p:nvSpPr>
          <p:cNvPr id="20" name="Shape 19">
            <a:extLst>
              <a:ext uri="{FF2B5EF4-FFF2-40B4-BE49-F238E27FC236}">
                <a16:creationId xmlns:a16="http://schemas.microsoft.com/office/drawing/2014/main" id="{4E52BE4D-D9CD-3B74-41CF-D7A300D2B6B5}"/>
              </a:ext>
            </a:extLst>
          </p:cNvPr>
          <p:cNvSpPr/>
          <p:nvPr/>
        </p:nvSpPr>
        <p:spPr>
          <a:xfrm>
            <a:off x="331076" y="3042115"/>
            <a:ext cx="5749684" cy="3266615"/>
          </a:xfrm>
          <a:prstGeom prst="roundRect">
            <a:avLst>
              <a:gd name="adj" fmla="val 3158"/>
            </a:avLst>
          </a:prstGeom>
          <a:solidFill>
            <a:srgbClr val="3B4366"/>
          </a:solidFill>
          <a:ln w="9525">
            <a:solidFill>
              <a:srgbClr val="3B4366"/>
            </a:solidFill>
            <a:prstDash val="solid"/>
          </a:ln>
        </p:spPr>
        <p:txBody>
          <a:bodyPr/>
          <a:lstStyle/>
          <a:p>
            <a:endParaRPr lang="en-IN"/>
          </a:p>
        </p:txBody>
      </p:sp>
      <p:sp>
        <p:nvSpPr>
          <p:cNvPr id="25" name="Text 20">
            <a:extLst>
              <a:ext uri="{FF2B5EF4-FFF2-40B4-BE49-F238E27FC236}">
                <a16:creationId xmlns:a16="http://schemas.microsoft.com/office/drawing/2014/main" id="{2874CD3A-920D-B330-F3FC-90AAB7CE8F42}"/>
              </a:ext>
            </a:extLst>
          </p:cNvPr>
          <p:cNvSpPr txBox="1"/>
          <p:nvPr/>
        </p:nvSpPr>
        <p:spPr>
          <a:xfrm>
            <a:off x="516165" y="3430258"/>
            <a:ext cx="5564595" cy="3929403"/>
          </a:xfrm>
          <a:prstGeom prst="rect">
            <a:avLst/>
          </a:prstGeom>
          <a:noFill/>
          <a:ln/>
        </p:spPr>
        <p:txBody>
          <a:bodyPr wrap="square" lIns="0" tIns="0" rIns="0" bIns="0" rtlCol="0" anchor="t"/>
          <a:lstStyle/>
          <a:p>
            <a:r>
              <a:rPr lang="en-IN" sz="2400" b="1" dirty="0">
                <a:solidFill>
                  <a:schemeClr val="bg1"/>
                </a:solidFill>
              </a:rPr>
              <a:t>Warren McCulloch and Walter Pitts (1943):</a:t>
            </a:r>
            <a:endParaRPr lang="en-IN" sz="2400" dirty="0">
              <a:solidFill>
                <a:schemeClr val="bg1"/>
              </a:solidFill>
            </a:endParaRPr>
          </a:p>
          <a:p>
            <a:r>
              <a:rPr lang="en-IN" sz="2400" dirty="0">
                <a:solidFill>
                  <a:schemeClr val="bg1"/>
                </a:solidFill>
              </a:rPr>
              <a:t>They proposed a mathematical model of an artificial neuron using binary outputs and a threshold function. Its connection parameters were fixed rather than automatically learned from training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457200"/>
            <a:ext cx="10725912" cy="5943600"/>
          </a:xfrm>
          <a:prstGeom prst="roundRect">
            <a:avLst>
              <a:gd name="adj" fmla="val 1846"/>
            </a:avLst>
          </a:prstGeom>
          <a:solidFill>
            <a:srgbClr val="1C2036"/>
          </a:solidFill>
          <a:ln w="9525">
            <a:solidFill>
              <a:srgbClr val="343A58"/>
            </a:solidFill>
            <a:prstDash val="solid"/>
          </a:ln>
        </p:spPr>
        <p:txBody>
          <a:bodyPr/>
          <a:lstStyle/>
          <a:p>
            <a:endParaRPr lang="en-IN"/>
          </a:p>
        </p:txBody>
      </p:sp>
      <p:pic>
        <p:nvPicPr>
          <p:cNvPr id="3" name="Image 0" descr="a/bio.png"/>
          <p:cNvPicPr>
            <a:picLocks noChangeAspect="1"/>
          </p:cNvPicPr>
          <p:nvPr/>
        </p:nvPicPr>
        <p:blipFill>
          <a:blip r:embed="rId4"/>
          <a:stretch>
            <a:fillRect/>
          </a:stretch>
        </p:blipFill>
        <p:spPr>
          <a:xfrm>
            <a:off x="1097280" y="621792"/>
            <a:ext cx="10059162" cy="5614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365760" y="411480"/>
            <a:ext cx="9144000" cy="868680"/>
          </a:xfrm>
          <a:prstGeom prst="rect">
            <a:avLst/>
          </a:prstGeom>
          <a:noFill/>
          <a:ln/>
        </p:spPr>
        <p:txBody>
          <a:bodyPr wrap="square" lIns="0" tIns="0" rIns="0" bIns="0" rtlCol="0" anchor="ctr"/>
          <a:lstStyle/>
          <a:p>
            <a:pPr marL="0" indent="0" algn="ctr">
              <a:buNone/>
            </a:pPr>
            <a:r>
              <a:rPr lang="en-US" sz="3200" dirty="0">
                <a:solidFill>
                  <a:srgbClr val="F2F2F8"/>
                </a:solidFill>
                <a:latin typeface="Impact" pitchFamily="34" charset="0"/>
                <a:ea typeface="Impact" pitchFamily="34" charset="-122"/>
                <a:cs typeface="Impact" pitchFamily="34" charset="-120"/>
              </a:rPr>
              <a:t>Understanding the Perceptron: Key Concepts</a:t>
            </a:r>
            <a:endParaRPr lang="en-US" sz="3200" dirty="0"/>
          </a:p>
        </p:txBody>
      </p:sp>
      <p:sp>
        <p:nvSpPr>
          <p:cNvPr id="17" name="Shape 15"/>
          <p:cNvSpPr/>
          <p:nvPr/>
        </p:nvSpPr>
        <p:spPr>
          <a:xfrm>
            <a:off x="731520" y="146304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1005840" y="1691640"/>
            <a:ext cx="4709160" cy="1920240"/>
          </a:xfrm>
          <a:prstGeom prst="rect">
            <a:avLst/>
          </a:prstGeom>
          <a:noFill/>
          <a:ln/>
        </p:spPr>
        <p:txBody>
          <a:bodyPr wrap="square" lIns="0" tIns="0" rIns="0" bIns="0" rtlCol="0" anchor="t"/>
          <a:lstStyle/>
          <a:p>
            <a:pPr marL="0" indent="0">
              <a:spcAft>
                <a:spcPts val="400"/>
              </a:spcAft>
              <a:buNone/>
            </a:pPr>
            <a:r>
              <a:rPr lang="en-US" sz="2400" b="1" dirty="0">
                <a:solidFill>
                  <a:srgbClr val="F2F2F8"/>
                </a:solidFill>
                <a:latin typeface="Calibri" pitchFamily="34" charset="0"/>
                <a:ea typeface="Calibri" pitchFamily="34" charset="-122"/>
                <a:cs typeface="Calibri" pitchFamily="34" charset="-120"/>
              </a:rPr>
              <a:t>1. Perceptron Architecture</a:t>
            </a:r>
            <a:endParaRPr lang="en-US" sz="2400" b="1"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How inputs, weights and bias are combined to produce an output.</a:t>
            </a:r>
            <a:endParaRPr lang="en-US" sz="1900"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The step activation function determines the predicted class.</a:t>
            </a:r>
            <a:endParaRPr lang="en-US" sz="1900" dirty="0"/>
          </a:p>
        </p:txBody>
      </p:sp>
      <p:sp>
        <p:nvSpPr>
          <p:cNvPr id="19" name="Shape 17"/>
          <p:cNvSpPr/>
          <p:nvPr/>
        </p:nvSpPr>
        <p:spPr>
          <a:xfrm>
            <a:off x="6199632" y="1470923"/>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0" name="Text 18"/>
          <p:cNvSpPr txBox="1"/>
          <p:nvPr/>
        </p:nvSpPr>
        <p:spPr>
          <a:xfrm>
            <a:off x="6473952" y="1691640"/>
            <a:ext cx="4709160" cy="1920240"/>
          </a:xfrm>
          <a:prstGeom prst="rect">
            <a:avLst/>
          </a:prstGeom>
          <a:noFill/>
          <a:ln/>
        </p:spPr>
        <p:txBody>
          <a:bodyPr wrap="square" lIns="0" tIns="0" rIns="0" bIns="0" rtlCol="0" anchor="t"/>
          <a:lstStyle/>
          <a:p>
            <a:pPr marL="0" indent="0">
              <a:spcAft>
                <a:spcPts val="400"/>
              </a:spcAft>
              <a:buNone/>
            </a:pPr>
            <a:r>
              <a:rPr lang="en-US" sz="2400" b="1" dirty="0">
                <a:solidFill>
                  <a:srgbClr val="F2F2F8"/>
                </a:solidFill>
                <a:latin typeface="Calibri" pitchFamily="34" charset="0"/>
                <a:ea typeface="Calibri" pitchFamily="34" charset="-122"/>
                <a:cs typeface="Calibri" pitchFamily="34" charset="-120"/>
              </a:rPr>
              <a:t>2. Training Rule</a:t>
            </a:r>
            <a:endParaRPr lang="en-US" sz="2400"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The model compares its predicted output with the desired output.</a:t>
            </a:r>
            <a:endParaRPr lang="en-US" sz="1900"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Weights and bias are updated to correct classification errors.</a:t>
            </a:r>
            <a:endParaRPr lang="en-US" sz="1900" dirty="0"/>
          </a:p>
        </p:txBody>
      </p:sp>
      <p:sp>
        <p:nvSpPr>
          <p:cNvPr id="21" name="Shape 19"/>
          <p:cNvSpPr/>
          <p:nvPr/>
        </p:nvSpPr>
        <p:spPr>
          <a:xfrm>
            <a:off x="731520" y="393192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2" name="Text 20"/>
          <p:cNvSpPr txBox="1"/>
          <p:nvPr/>
        </p:nvSpPr>
        <p:spPr>
          <a:xfrm>
            <a:off x="1005840" y="4160520"/>
            <a:ext cx="4709160" cy="1920240"/>
          </a:xfrm>
          <a:prstGeom prst="rect">
            <a:avLst/>
          </a:prstGeom>
          <a:noFill/>
          <a:ln/>
        </p:spPr>
        <p:txBody>
          <a:bodyPr wrap="square" lIns="0" tIns="0" rIns="0" bIns="0" rtlCol="0" anchor="t"/>
          <a:lstStyle/>
          <a:p>
            <a:pPr marL="0" indent="0">
              <a:spcAft>
                <a:spcPts val="400"/>
              </a:spcAft>
              <a:buNone/>
            </a:pPr>
            <a:r>
              <a:rPr lang="en-US" sz="2400" b="1" dirty="0">
                <a:solidFill>
                  <a:srgbClr val="F2F2F8"/>
                </a:solidFill>
                <a:latin typeface="Calibri" pitchFamily="34" charset="0"/>
                <a:ea typeface="Calibri" pitchFamily="34" charset="-122"/>
                <a:cs typeface="Calibri" pitchFamily="34" charset="-120"/>
              </a:rPr>
              <a:t>3. Decision Boundaries</a:t>
            </a:r>
            <a:endParaRPr lang="en-US" sz="2400"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Weights determine the orientation of the boundary, while bias shifts its position.</a:t>
            </a:r>
            <a:endParaRPr lang="en-US" sz="1900"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The boundary separates the input space into different classes.</a:t>
            </a:r>
            <a:endParaRPr lang="en-US" sz="1900" dirty="0"/>
          </a:p>
        </p:txBody>
      </p:sp>
      <p:sp>
        <p:nvSpPr>
          <p:cNvPr id="23" name="Shape 21"/>
          <p:cNvSpPr/>
          <p:nvPr/>
        </p:nvSpPr>
        <p:spPr>
          <a:xfrm>
            <a:off x="6199632" y="393192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4" name="Text 22"/>
          <p:cNvSpPr txBox="1"/>
          <p:nvPr/>
        </p:nvSpPr>
        <p:spPr>
          <a:xfrm>
            <a:off x="6473952" y="4160520"/>
            <a:ext cx="4709160" cy="1920240"/>
          </a:xfrm>
          <a:prstGeom prst="rect">
            <a:avLst/>
          </a:prstGeom>
          <a:noFill/>
          <a:ln/>
        </p:spPr>
        <p:txBody>
          <a:bodyPr wrap="square" lIns="0" tIns="0" rIns="0" bIns="0" rtlCol="0" anchor="t"/>
          <a:lstStyle/>
          <a:p>
            <a:pPr marL="0" indent="0">
              <a:spcAft>
                <a:spcPts val="400"/>
              </a:spcAft>
              <a:buNone/>
            </a:pPr>
            <a:r>
              <a:rPr lang="en-US" sz="2400" b="1" dirty="0">
                <a:solidFill>
                  <a:srgbClr val="F2F2F8"/>
                </a:solidFill>
                <a:latin typeface="Calibri" pitchFamily="34" charset="0"/>
                <a:ea typeface="Calibri" pitchFamily="34" charset="-122"/>
                <a:cs typeface="Calibri" pitchFamily="34" charset="-120"/>
              </a:rPr>
              <a:t>4. Limitations of the Perceptron</a:t>
            </a:r>
            <a:endParaRPr lang="en-US" sz="2400"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A single-layer perceptron can classify linearly separable data.</a:t>
            </a:r>
            <a:endParaRPr lang="en-US" sz="1900" dirty="0"/>
          </a:p>
          <a:p>
            <a:pPr marL="0" indent="0">
              <a:spcAft>
                <a:spcPts val="400"/>
              </a:spcAft>
              <a:buNone/>
            </a:pPr>
            <a:r>
              <a:rPr lang="en-US" sz="1900" dirty="0">
                <a:solidFill>
                  <a:srgbClr val="F2F2F8"/>
                </a:solidFill>
                <a:latin typeface="Calibri" pitchFamily="34" charset="0"/>
                <a:ea typeface="Calibri" pitchFamily="34" charset="-122"/>
                <a:cs typeface="Calibri" pitchFamily="34" charset="-120"/>
              </a:rPr>
              <a:t>It cannot solve non-linearly separable problems such as XOR.</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0" y="411480"/>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Perceptron Architecture</a:t>
            </a:r>
            <a:endParaRPr lang="en-US" sz="4000" dirty="0"/>
          </a:p>
        </p:txBody>
      </p:sp>
      <p:sp>
        <p:nvSpPr>
          <p:cNvPr id="17" name="Shape 15"/>
          <p:cNvSpPr/>
          <p:nvPr/>
        </p:nvSpPr>
        <p:spPr>
          <a:xfrm>
            <a:off x="341377" y="1793190"/>
            <a:ext cx="7328548" cy="4004441"/>
          </a:xfrm>
          <a:prstGeom prst="roundRect">
            <a:avLst>
              <a:gd name="adj" fmla="val 2637"/>
            </a:avLst>
          </a:prstGeom>
          <a:solidFill>
            <a:srgbClr val="1C2036"/>
          </a:solidFill>
          <a:ln w="9525">
            <a:solidFill>
              <a:srgbClr val="343A58"/>
            </a:solidFill>
            <a:prstDash val="solid"/>
          </a:ln>
        </p:spPr>
        <p:txBody>
          <a:bodyPr/>
          <a:lstStyle/>
          <a:p>
            <a:endParaRPr lang="en-IN"/>
          </a:p>
        </p:txBody>
      </p:sp>
      <p:pic>
        <p:nvPicPr>
          <p:cNvPr id="18" name="Image 0" descr="a/arch.png"/>
          <p:cNvPicPr>
            <a:picLocks noChangeAspect="1"/>
          </p:cNvPicPr>
          <p:nvPr/>
        </p:nvPicPr>
        <p:blipFill>
          <a:blip r:embed="rId4"/>
          <a:srcRect b="15728"/>
          <a:stretch>
            <a:fillRect/>
          </a:stretch>
        </p:blipFill>
        <p:spPr>
          <a:xfrm>
            <a:off x="468366" y="2141432"/>
            <a:ext cx="7061718" cy="3323722"/>
          </a:xfrm>
          <a:prstGeom prst="rect">
            <a:avLst/>
          </a:prstGeom>
        </p:spPr>
      </p:pic>
      <p:sp>
        <p:nvSpPr>
          <p:cNvPr id="19" name="Text 16"/>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
        <p:nvSpPr>
          <p:cNvPr id="20" name="Shape 17"/>
          <p:cNvSpPr/>
          <p:nvPr/>
        </p:nvSpPr>
        <p:spPr>
          <a:xfrm>
            <a:off x="7964424" y="1472184"/>
            <a:ext cx="3977640" cy="4846320"/>
          </a:xfrm>
          <a:prstGeom prst="roundRect">
            <a:avLst>
              <a:gd name="adj" fmla="val 2759"/>
            </a:avLst>
          </a:prstGeom>
          <a:solidFill>
            <a:srgbClr val="1C2036"/>
          </a:solidFill>
          <a:ln w="9525">
            <a:solidFill>
              <a:srgbClr val="343A58"/>
            </a:solidFill>
            <a:prstDash val="solid"/>
          </a:ln>
        </p:spPr>
        <p:txBody>
          <a:bodyPr/>
          <a:lstStyle/>
          <a:p>
            <a:endParaRPr lang="en-IN"/>
          </a:p>
        </p:txBody>
      </p:sp>
      <p:sp>
        <p:nvSpPr>
          <p:cNvPr id="21" name="Text 18"/>
          <p:cNvSpPr txBox="1"/>
          <p:nvPr/>
        </p:nvSpPr>
        <p:spPr>
          <a:xfrm>
            <a:off x="8193024" y="1700784"/>
            <a:ext cx="457200" cy="45720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2" name="Text 19"/>
          <p:cNvSpPr txBox="1"/>
          <p:nvPr/>
        </p:nvSpPr>
        <p:spPr>
          <a:xfrm>
            <a:off x="8833104" y="1655064"/>
            <a:ext cx="3017520" cy="685800"/>
          </a:xfrm>
          <a:prstGeom prst="rect">
            <a:avLst/>
          </a:prstGeom>
          <a:noFill/>
          <a:ln/>
        </p:spPr>
        <p:txBody>
          <a:bodyPr wrap="square" lIns="0" tIns="0" rIns="0" bIns="0" rtlCol="0" anchor="t"/>
          <a:lstStyle/>
          <a:p>
            <a:pPr marL="0" indent="0">
              <a:buNone/>
            </a:pPr>
            <a:r>
              <a:rPr lang="en-US" sz="1700" b="1" dirty="0">
                <a:solidFill>
                  <a:srgbClr val="F2F2F8"/>
                </a:solidFill>
                <a:latin typeface="Calibri" pitchFamily="34" charset="0"/>
                <a:ea typeface="Calibri" pitchFamily="34" charset="-122"/>
                <a:cs typeface="Calibri" pitchFamily="34" charset="-120"/>
              </a:rPr>
              <a:t>Input units</a:t>
            </a:r>
            <a:endParaRPr lang="en-US" sz="1700" dirty="0"/>
          </a:p>
          <a:p>
            <a:pPr marL="0" indent="0">
              <a:buNone/>
            </a:pPr>
            <a:r>
              <a:rPr lang="en-US" sz="1700" dirty="0">
                <a:solidFill>
                  <a:srgbClr val="A9AFC8"/>
                </a:solidFill>
                <a:latin typeface="Calibri" pitchFamily="34" charset="0"/>
                <a:ea typeface="Calibri" pitchFamily="34" charset="-122"/>
                <a:cs typeface="Calibri" pitchFamily="34" charset="-120"/>
              </a:rPr>
              <a:t>receive features x₁ … xₙ</a:t>
            </a:r>
            <a:endParaRPr lang="en-US" sz="1700" dirty="0"/>
          </a:p>
        </p:txBody>
      </p:sp>
      <p:sp>
        <p:nvSpPr>
          <p:cNvPr id="23" name="Text 20"/>
          <p:cNvSpPr txBox="1"/>
          <p:nvPr/>
        </p:nvSpPr>
        <p:spPr>
          <a:xfrm>
            <a:off x="8193024" y="2478024"/>
            <a:ext cx="457200" cy="45720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4" name="Text 21"/>
          <p:cNvSpPr txBox="1"/>
          <p:nvPr/>
        </p:nvSpPr>
        <p:spPr>
          <a:xfrm>
            <a:off x="8833104" y="2432304"/>
            <a:ext cx="3017520" cy="685800"/>
          </a:xfrm>
          <a:prstGeom prst="rect">
            <a:avLst/>
          </a:prstGeom>
          <a:noFill/>
          <a:ln/>
        </p:spPr>
        <p:txBody>
          <a:bodyPr wrap="square" lIns="0" tIns="0" rIns="0" bIns="0" rtlCol="0" anchor="t"/>
          <a:lstStyle/>
          <a:p>
            <a:pPr marL="0" indent="0">
              <a:buNone/>
            </a:pPr>
            <a:r>
              <a:rPr lang="en-US" sz="1700" b="1" dirty="0">
                <a:solidFill>
                  <a:srgbClr val="F2F2F8"/>
                </a:solidFill>
                <a:latin typeface="Calibri" pitchFamily="34" charset="0"/>
                <a:ea typeface="Calibri" pitchFamily="34" charset="-122"/>
                <a:cs typeface="Calibri" pitchFamily="34" charset="-120"/>
              </a:rPr>
              <a:t>Weights</a:t>
            </a:r>
            <a:endParaRPr lang="en-US" sz="1700" dirty="0"/>
          </a:p>
          <a:p>
            <a:pPr marL="0" indent="0">
              <a:buNone/>
            </a:pPr>
            <a:r>
              <a:rPr lang="en-US" sz="1700" dirty="0">
                <a:solidFill>
                  <a:srgbClr val="A9AFC8"/>
                </a:solidFill>
                <a:latin typeface="Calibri" pitchFamily="34" charset="0"/>
                <a:ea typeface="Calibri" pitchFamily="34" charset="-122"/>
                <a:cs typeface="Calibri" pitchFamily="34" charset="-120"/>
              </a:rPr>
              <a:t>set each input's contribution</a:t>
            </a:r>
            <a:endParaRPr lang="en-US" sz="1700" dirty="0"/>
          </a:p>
        </p:txBody>
      </p:sp>
      <p:sp>
        <p:nvSpPr>
          <p:cNvPr id="25" name="Text 22"/>
          <p:cNvSpPr txBox="1"/>
          <p:nvPr/>
        </p:nvSpPr>
        <p:spPr>
          <a:xfrm>
            <a:off x="8193024" y="3255264"/>
            <a:ext cx="457200" cy="45720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3"/>
          <p:cNvSpPr txBox="1"/>
          <p:nvPr/>
        </p:nvSpPr>
        <p:spPr>
          <a:xfrm>
            <a:off x="8833104" y="3209544"/>
            <a:ext cx="3017520" cy="685800"/>
          </a:xfrm>
          <a:prstGeom prst="rect">
            <a:avLst/>
          </a:prstGeom>
          <a:noFill/>
          <a:ln/>
        </p:spPr>
        <p:txBody>
          <a:bodyPr wrap="square" lIns="0" tIns="0" rIns="0" bIns="0" rtlCol="0" anchor="t"/>
          <a:lstStyle/>
          <a:p>
            <a:pPr marL="0" indent="0">
              <a:buNone/>
            </a:pPr>
            <a:r>
              <a:rPr lang="en-US" sz="1700" b="1" dirty="0">
                <a:solidFill>
                  <a:srgbClr val="F2F2F8"/>
                </a:solidFill>
                <a:latin typeface="Calibri" pitchFamily="34" charset="0"/>
                <a:ea typeface="Calibri" pitchFamily="34" charset="-122"/>
                <a:cs typeface="Calibri" pitchFamily="34" charset="-120"/>
              </a:rPr>
              <a:t>Summation</a:t>
            </a:r>
            <a:endParaRPr lang="en-US" sz="1700" dirty="0"/>
          </a:p>
          <a:p>
            <a:pPr marL="0" indent="0">
              <a:buNone/>
            </a:pPr>
            <a:r>
              <a:rPr lang="en-US" sz="1700" dirty="0">
                <a:solidFill>
                  <a:srgbClr val="A9AFC8"/>
                </a:solidFill>
                <a:latin typeface="Calibri" pitchFamily="34" charset="0"/>
                <a:ea typeface="Calibri" pitchFamily="34" charset="-122"/>
                <a:cs typeface="Calibri" pitchFamily="34" charset="-120"/>
              </a:rPr>
              <a:t>computes the weighted sum</a:t>
            </a:r>
            <a:endParaRPr lang="en-US" sz="1700" dirty="0"/>
          </a:p>
        </p:txBody>
      </p:sp>
      <p:sp>
        <p:nvSpPr>
          <p:cNvPr id="27" name="Text 24"/>
          <p:cNvSpPr txBox="1"/>
          <p:nvPr/>
        </p:nvSpPr>
        <p:spPr>
          <a:xfrm>
            <a:off x="8193024" y="4023360"/>
            <a:ext cx="457200" cy="45720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5"/>
          <p:cNvSpPr txBox="1"/>
          <p:nvPr/>
        </p:nvSpPr>
        <p:spPr>
          <a:xfrm>
            <a:off x="8833104" y="3986784"/>
            <a:ext cx="3017520" cy="685800"/>
          </a:xfrm>
          <a:prstGeom prst="rect">
            <a:avLst/>
          </a:prstGeom>
          <a:noFill/>
          <a:ln/>
        </p:spPr>
        <p:txBody>
          <a:bodyPr wrap="square" lIns="0" tIns="0" rIns="0" bIns="0" rtlCol="0" anchor="t"/>
          <a:lstStyle/>
          <a:p>
            <a:pPr marL="0" indent="0">
              <a:buNone/>
            </a:pPr>
            <a:r>
              <a:rPr lang="en-US" sz="1700" b="1" dirty="0">
                <a:solidFill>
                  <a:srgbClr val="F2F2F8"/>
                </a:solidFill>
                <a:latin typeface="Calibri" pitchFamily="34" charset="0"/>
                <a:ea typeface="Calibri" pitchFamily="34" charset="-122"/>
                <a:cs typeface="Calibri" pitchFamily="34" charset="-120"/>
              </a:rPr>
              <a:t>Bias</a:t>
            </a:r>
            <a:endParaRPr lang="en-US" sz="1700" dirty="0"/>
          </a:p>
          <a:p>
            <a:pPr marL="0" indent="0">
              <a:buNone/>
            </a:pPr>
            <a:r>
              <a:rPr lang="en-US" sz="1700" dirty="0">
                <a:solidFill>
                  <a:srgbClr val="A9AFC8"/>
                </a:solidFill>
                <a:latin typeface="Calibri" pitchFamily="34" charset="0"/>
                <a:ea typeface="Calibri" pitchFamily="34" charset="-122"/>
                <a:cs typeface="Calibri" pitchFamily="34" charset="-120"/>
              </a:rPr>
              <a:t>shifts the decision boundary</a:t>
            </a:r>
            <a:endParaRPr lang="en-US" sz="1700" dirty="0"/>
          </a:p>
        </p:txBody>
      </p:sp>
      <p:sp>
        <p:nvSpPr>
          <p:cNvPr id="29" name="Text 26"/>
          <p:cNvSpPr txBox="1"/>
          <p:nvPr/>
        </p:nvSpPr>
        <p:spPr>
          <a:xfrm>
            <a:off x="8193024" y="4809744"/>
            <a:ext cx="457200" cy="45720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0" name="Text 27"/>
          <p:cNvSpPr txBox="1"/>
          <p:nvPr/>
        </p:nvSpPr>
        <p:spPr>
          <a:xfrm>
            <a:off x="8833104" y="4764024"/>
            <a:ext cx="3017520" cy="685800"/>
          </a:xfrm>
          <a:prstGeom prst="rect">
            <a:avLst/>
          </a:prstGeom>
          <a:noFill/>
          <a:ln/>
        </p:spPr>
        <p:txBody>
          <a:bodyPr wrap="square" lIns="0" tIns="0" rIns="0" bIns="0" rtlCol="0" anchor="t"/>
          <a:lstStyle/>
          <a:p>
            <a:pPr marL="0" indent="0">
              <a:buNone/>
            </a:pPr>
            <a:r>
              <a:rPr lang="en-US" sz="1700" b="1" dirty="0">
                <a:solidFill>
                  <a:srgbClr val="F2F2F8"/>
                </a:solidFill>
                <a:latin typeface="Calibri" pitchFamily="34" charset="0"/>
                <a:ea typeface="Calibri" pitchFamily="34" charset="-122"/>
                <a:cs typeface="Calibri" pitchFamily="34" charset="-120"/>
              </a:rPr>
              <a:t>Activation</a:t>
            </a:r>
            <a:endParaRPr lang="en-US" sz="1700" dirty="0"/>
          </a:p>
          <a:p>
            <a:pPr marL="0" indent="0">
              <a:buNone/>
            </a:pPr>
            <a:r>
              <a:rPr lang="en-US" sz="1700" dirty="0">
                <a:solidFill>
                  <a:srgbClr val="A9AFC8"/>
                </a:solidFill>
                <a:latin typeface="Calibri" pitchFamily="34" charset="0"/>
                <a:ea typeface="Calibri" pitchFamily="34" charset="-122"/>
                <a:cs typeface="Calibri" pitchFamily="34" charset="-120"/>
              </a:rPr>
              <a:t>turns net input into a class</a:t>
            </a:r>
            <a:endParaRPr lang="en-US" sz="1700" dirty="0"/>
          </a:p>
        </p:txBody>
      </p:sp>
      <p:sp>
        <p:nvSpPr>
          <p:cNvPr id="31" name="Text 28"/>
          <p:cNvSpPr txBox="1"/>
          <p:nvPr/>
        </p:nvSpPr>
        <p:spPr>
          <a:xfrm>
            <a:off x="8193024" y="5586984"/>
            <a:ext cx="457200" cy="45720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29"/>
          <p:cNvSpPr txBox="1"/>
          <p:nvPr/>
        </p:nvSpPr>
        <p:spPr>
          <a:xfrm>
            <a:off x="8833104" y="5541264"/>
            <a:ext cx="3017520" cy="685800"/>
          </a:xfrm>
          <a:prstGeom prst="rect">
            <a:avLst/>
          </a:prstGeom>
          <a:noFill/>
          <a:ln/>
        </p:spPr>
        <p:txBody>
          <a:bodyPr wrap="square" lIns="0" tIns="0" rIns="0" bIns="0" rtlCol="0" anchor="t"/>
          <a:lstStyle/>
          <a:p>
            <a:pPr marL="0" indent="0">
              <a:buNone/>
            </a:pPr>
            <a:r>
              <a:rPr lang="en-US" sz="1700" b="1" dirty="0">
                <a:solidFill>
                  <a:srgbClr val="F2F2F8"/>
                </a:solidFill>
                <a:latin typeface="Calibri" pitchFamily="34" charset="0"/>
                <a:ea typeface="Calibri" pitchFamily="34" charset="-122"/>
                <a:cs typeface="Calibri" pitchFamily="34" charset="-120"/>
              </a:rPr>
              <a:t>Output</a:t>
            </a:r>
            <a:endParaRPr lang="en-US" sz="1700" dirty="0"/>
          </a:p>
          <a:p>
            <a:pPr marL="0" indent="0">
              <a:buNone/>
            </a:pPr>
            <a:r>
              <a:rPr lang="en-US" sz="1700" dirty="0">
                <a:solidFill>
                  <a:srgbClr val="A9AFC8"/>
                </a:solidFill>
                <a:latin typeface="Calibri" pitchFamily="34" charset="0"/>
                <a:ea typeface="Calibri" pitchFamily="34" charset="-122"/>
                <a:cs typeface="Calibri" pitchFamily="34" charset="-120"/>
              </a:rPr>
              <a:t>predicted class, 0 or 1</a:t>
            </a:r>
            <a:endParaRPr lang="en-US" sz="1700" dirty="0"/>
          </a:p>
        </p:txBody>
      </p:sp>
      <p:sp>
        <p:nvSpPr>
          <p:cNvPr id="33" name="Rectangle 32">
            <a:extLst>
              <a:ext uri="{FF2B5EF4-FFF2-40B4-BE49-F238E27FC236}">
                <a16:creationId xmlns:a16="http://schemas.microsoft.com/office/drawing/2014/main" id="{0EBBF1FA-785C-84D3-04B4-5A5B4A6A145E}"/>
              </a:ext>
            </a:extLst>
          </p:cNvPr>
          <p:cNvSpPr/>
          <p:nvPr/>
        </p:nvSpPr>
        <p:spPr>
          <a:xfrm>
            <a:off x="1944938" y="2615341"/>
            <a:ext cx="1231813" cy="31988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dirty="0">
                <a:cs typeface="Arial" panose="020B0604020202020204" pitchFamily="34" charset="0"/>
              </a:rPr>
              <a:t>Weights &amp; bias</a:t>
            </a:r>
            <a:endParaRPr lang="en-IN" sz="1000" dirty="0">
              <a:cs typeface="Arial" panose="020B0604020202020204" pitchFamily="34" charset="0"/>
            </a:endParaRPr>
          </a:p>
        </p:txBody>
      </p:sp>
      <p:sp>
        <p:nvSpPr>
          <p:cNvPr id="34" name="Rectangle 33">
            <a:extLst>
              <a:ext uri="{FF2B5EF4-FFF2-40B4-BE49-F238E27FC236}">
                <a16:creationId xmlns:a16="http://schemas.microsoft.com/office/drawing/2014/main" id="{130B8C25-7C83-D32C-C35F-BAB16A3A0D60}"/>
              </a:ext>
            </a:extLst>
          </p:cNvPr>
          <p:cNvSpPr/>
          <p:nvPr/>
        </p:nvSpPr>
        <p:spPr>
          <a:xfrm>
            <a:off x="788275" y="4536940"/>
            <a:ext cx="1529255" cy="8718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10264" y="228600"/>
            <a:ext cx="12191695" cy="868680"/>
          </a:xfrm>
          <a:prstGeom prst="rect">
            <a:avLst/>
          </a:prstGeom>
          <a:noFill/>
          <a:ln/>
        </p:spPr>
        <p:txBody>
          <a:bodyPr wrap="square" lIns="0" tIns="0" rIns="0" bIns="0" rtlCol="0" anchor="ctr"/>
          <a:lstStyle/>
          <a:p>
            <a:pPr marL="0" indent="0" algn="ctr">
              <a:buNone/>
            </a:pPr>
            <a:r>
              <a:rPr lang="en-US" sz="4000" dirty="0">
                <a:solidFill>
                  <a:schemeClr val="bg2"/>
                </a:solidFill>
                <a:latin typeface="+mj-lt"/>
              </a:rPr>
              <a:t>WEIGHT AND BIAS</a:t>
            </a:r>
          </a:p>
        </p:txBody>
      </p:sp>
      <p:sp>
        <p:nvSpPr>
          <p:cNvPr id="35" name="Shape 33"/>
          <p:cNvSpPr/>
          <p:nvPr/>
        </p:nvSpPr>
        <p:spPr>
          <a:xfrm>
            <a:off x="731520" y="1340437"/>
            <a:ext cx="10725912" cy="4561385"/>
          </a:xfrm>
          <a:prstGeom prst="roundRect">
            <a:avLst>
              <a:gd name="adj" fmla="val 8571"/>
            </a:avLst>
          </a:prstGeom>
          <a:solidFill>
            <a:srgbClr val="1C2036"/>
          </a:solidFill>
          <a:ln w="9525">
            <a:solidFill>
              <a:srgbClr val="343A58"/>
            </a:solidFill>
            <a:prstDash val="solid"/>
          </a:ln>
        </p:spPr>
        <p:txBody>
          <a:bodyPr/>
          <a:lstStyle/>
          <a:p>
            <a:endParaRPr lang="en-IN"/>
          </a:p>
        </p:txBody>
      </p:sp>
      <p:sp>
        <p:nvSpPr>
          <p:cNvPr id="36" name="Text 34"/>
          <p:cNvSpPr txBox="1"/>
          <p:nvPr/>
        </p:nvSpPr>
        <p:spPr>
          <a:xfrm>
            <a:off x="1032640" y="1420947"/>
            <a:ext cx="10168759" cy="3817620"/>
          </a:xfrm>
          <a:prstGeom prst="rect">
            <a:avLst/>
          </a:prstGeom>
          <a:noFill/>
          <a:ln/>
        </p:spPr>
        <p:txBody>
          <a:bodyPr wrap="square" lIns="0" tIns="0" rIns="0" bIns="0" rtlCol="0" anchor="t"/>
          <a:lstStyle/>
          <a:p>
            <a:pPr marL="0" indent="0">
              <a:spcAft>
                <a:spcPts val="300"/>
              </a:spcAft>
              <a:buNone/>
            </a:pPr>
            <a:endParaRPr lang="en-US" sz="1500" b="1" dirty="0">
              <a:solidFill>
                <a:schemeClr val="bg2"/>
              </a:solidFill>
              <a:latin typeface="Calibri" pitchFamily="34" charset="0"/>
              <a:ea typeface="Calibri" pitchFamily="34" charset="-122"/>
              <a:cs typeface="Calibri" pitchFamily="34" charset="-120"/>
            </a:endParaRPr>
          </a:p>
          <a:p>
            <a:pPr>
              <a:spcAft>
                <a:spcPts val="300"/>
              </a:spcAft>
            </a:pPr>
            <a:endParaRPr lang="en-IN" sz="2000" dirty="0">
              <a:solidFill>
                <a:schemeClr val="bg2"/>
              </a:solidFill>
            </a:endParaRPr>
          </a:p>
          <a:p>
            <a:pPr>
              <a:spcAft>
                <a:spcPts val="300"/>
              </a:spcAft>
            </a:pPr>
            <a:endParaRPr lang="en-US" sz="2400" b="1" dirty="0">
              <a:solidFill>
                <a:schemeClr val="bg2"/>
              </a:solidFill>
              <a:latin typeface="Calibri" pitchFamily="34" charset="0"/>
              <a:ea typeface="Calibri" pitchFamily="34" charset="-122"/>
              <a:cs typeface="Calibri" pitchFamily="34" charset="-120"/>
            </a:endParaRPr>
          </a:p>
          <a:p>
            <a:pPr>
              <a:spcAft>
                <a:spcPts val="300"/>
              </a:spcAft>
            </a:pPr>
            <a:endParaRPr lang="en-US" sz="2400" b="1" dirty="0">
              <a:solidFill>
                <a:schemeClr val="bg2"/>
              </a:solidFill>
              <a:latin typeface="Calibri" pitchFamily="34" charset="0"/>
              <a:ea typeface="Calibri" pitchFamily="34" charset="-122"/>
              <a:cs typeface="Calibri" pitchFamily="34" charset="-120"/>
            </a:endParaRPr>
          </a:p>
          <a:p>
            <a:pPr>
              <a:spcAft>
                <a:spcPts val="300"/>
              </a:spcAft>
            </a:pPr>
            <a:r>
              <a:rPr lang="en-US" sz="2400" b="1" dirty="0">
                <a:solidFill>
                  <a:schemeClr val="bg2"/>
                </a:solidFill>
                <a:latin typeface="Calibri" pitchFamily="34" charset="0"/>
                <a:ea typeface="Calibri" pitchFamily="34" charset="-122"/>
                <a:cs typeface="Calibri" pitchFamily="34" charset="-120"/>
              </a:rPr>
              <a:t>Weight Sign Meaning</a:t>
            </a:r>
            <a:endParaRPr lang="en-US" sz="2800" dirty="0">
              <a:solidFill>
                <a:schemeClr val="bg2"/>
              </a:solidFill>
            </a:endParaRPr>
          </a:p>
          <a:p>
            <a:pPr marL="0" indent="0">
              <a:spcAft>
                <a:spcPts val="300"/>
              </a:spcAft>
              <a:buNone/>
            </a:pPr>
            <a:r>
              <a:rPr lang="en-US" sz="1700" b="1" dirty="0">
                <a:solidFill>
                  <a:schemeClr val="accent6"/>
                </a:solidFill>
                <a:latin typeface="Calibri" pitchFamily="34" charset="0"/>
                <a:ea typeface="Calibri" pitchFamily="34" charset="-122"/>
                <a:cs typeface="Calibri" pitchFamily="34" charset="-120"/>
              </a:rPr>
              <a:t>Positive Weight (w</a:t>
            </a:r>
            <a:r>
              <a:rPr lang="en-US" sz="1700" b="1" baseline="-25000" dirty="0">
                <a:solidFill>
                  <a:schemeClr val="accent6"/>
                </a:solidFill>
                <a:latin typeface="Calibri" pitchFamily="34" charset="0"/>
                <a:ea typeface="Calibri" pitchFamily="34" charset="-122"/>
                <a:cs typeface="Calibri" pitchFamily="34" charset="-120"/>
              </a:rPr>
              <a:t>i</a:t>
            </a:r>
            <a:r>
              <a:rPr lang="en-US" sz="1700" b="1" dirty="0">
                <a:solidFill>
                  <a:schemeClr val="accent6"/>
                </a:solidFill>
                <a:latin typeface="Calibri" pitchFamily="34" charset="0"/>
                <a:ea typeface="Calibri" pitchFamily="34" charset="-122"/>
                <a:cs typeface="Calibri" pitchFamily="34" charset="-120"/>
              </a:rPr>
              <a:t> &gt; 0):</a:t>
            </a:r>
            <a:r>
              <a:rPr lang="en-US" sz="1700" b="1" dirty="0">
                <a:solidFill>
                  <a:schemeClr val="bg2"/>
                </a:solidFill>
                <a:latin typeface="Calibri" pitchFamily="34" charset="0"/>
                <a:ea typeface="Calibri" pitchFamily="34" charset="-122"/>
                <a:cs typeface="Calibri" pitchFamily="34" charset="-120"/>
              </a:rPr>
              <a:t> </a:t>
            </a:r>
            <a:r>
              <a:rPr lang="en-US" sz="1700" dirty="0">
                <a:solidFill>
                  <a:schemeClr val="bg2"/>
                </a:solidFill>
                <a:latin typeface="Calibri" pitchFamily="34" charset="0"/>
                <a:ea typeface="Calibri" pitchFamily="34" charset="-122"/>
                <a:cs typeface="Calibri" pitchFamily="34" charset="-120"/>
              </a:rPr>
              <a:t>Increasing feature value x</a:t>
            </a:r>
            <a:r>
              <a:rPr lang="en-US" sz="1700" baseline="-25000" dirty="0">
                <a:solidFill>
                  <a:schemeClr val="bg2"/>
                </a:solidFill>
                <a:latin typeface="Calibri" pitchFamily="34" charset="0"/>
                <a:ea typeface="Calibri" pitchFamily="34" charset="-122"/>
                <a:cs typeface="Calibri" pitchFamily="34" charset="-120"/>
              </a:rPr>
              <a:t>i</a:t>
            </a:r>
            <a:r>
              <a:rPr lang="en-US" sz="1700" dirty="0">
                <a:solidFill>
                  <a:schemeClr val="bg2"/>
                </a:solidFill>
                <a:latin typeface="Calibri" pitchFamily="34" charset="0"/>
                <a:ea typeface="Calibri" pitchFamily="34" charset="-122"/>
                <a:cs typeface="Calibri" pitchFamily="34" charset="-120"/>
              </a:rPr>
              <a:t> increases z, driving prediction toward positive class ŷ = 1.</a:t>
            </a:r>
            <a:endParaRPr lang="en-US" sz="1700" dirty="0">
              <a:solidFill>
                <a:schemeClr val="bg2"/>
              </a:solidFill>
            </a:endParaRPr>
          </a:p>
          <a:p>
            <a:pPr marL="0" indent="0">
              <a:spcAft>
                <a:spcPts val="300"/>
              </a:spcAft>
              <a:buNone/>
            </a:pPr>
            <a:r>
              <a:rPr lang="en-US" sz="1700" b="1" dirty="0">
                <a:solidFill>
                  <a:srgbClr val="FF6600"/>
                </a:solidFill>
                <a:latin typeface="Calibri" pitchFamily="34" charset="0"/>
                <a:ea typeface="Calibri" pitchFamily="34" charset="-122"/>
                <a:cs typeface="Calibri" pitchFamily="34" charset="-120"/>
              </a:rPr>
              <a:t>Negative Weight (w</a:t>
            </a:r>
            <a:r>
              <a:rPr lang="en-US" sz="1700" b="1" baseline="-25000" dirty="0">
                <a:solidFill>
                  <a:srgbClr val="FF6600"/>
                </a:solidFill>
                <a:latin typeface="Calibri" pitchFamily="34" charset="0"/>
                <a:ea typeface="Calibri" pitchFamily="34" charset="-122"/>
                <a:cs typeface="Calibri" pitchFamily="34" charset="-120"/>
              </a:rPr>
              <a:t>i </a:t>
            </a:r>
            <a:r>
              <a:rPr lang="en-US" sz="1700" b="1" dirty="0">
                <a:solidFill>
                  <a:srgbClr val="FF6600"/>
                </a:solidFill>
                <a:latin typeface="Calibri" pitchFamily="34" charset="0"/>
                <a:ea typeface="Calibri" pitchFamily="34" charset="-122"/>
                <a:cs typeface="Calibri" pitchFamily="34" charset="-120"/>
              </a:rPr>
              <a:t>&lt; 0):</a:t>
            </a:r>
            <a:r>
              <a:rPr lang="en-US" sz="1700" b="1" dirty="0">
                <a:solidFill>
                  <a:schemeClr val="bg2"/>
                </a:solidFill>
                <a:latin typeface="Calibri" pitchFamily="34" charset="0"/>
                <a:ea typeface="Calibri" pitchFamily="34" charset="-122"/>
                <a:cs typeface="Calibri" pitchFamily="34" charset="-120"/>
              </a:rPr>
              <a:t> </a:t>
            </a:r>
            <a:r>
              <a:rPr lang="en-US" sz="1700" dirty="0">
                <a:solidFill>
                  <a:schemeClr val="bg2"/>
                </a:solidFill>
                <a:latin typeface="Calibri" pitchFamily="34" charset="0"/>
                <a:ea typeface="Calibri" pitchFamily="34" charset="-122"/>
                <a:cs typeface="Calibri" pitchFamily="34" charset="-120"/>
              </a:rPr>
              <a:t>Increasing feature value x</a:t>
            </a:r>
            <a:r>
              <a:rPr lang="en-US" sz="1700" baseline="-25000" dirty="0">
                <a:solidFill>
                  <a:schemeClr val="bg2"/>
                </a:solidFill>
                <a:latin typeface="Calibri" pitchFamily="34" charset="0"/>
                <a:ea typeface="Calibri" pitchFamily="34" charset="-122"/>
                <a:cs typeface="Calibri" pitchFamily="34" charset="-120"/>
              </a:rPr>
              <a:t>i </a:t>
            </a:r>
            <a:r>
              <a:rPr lang="en-US" sz="1700" dirty="0">
                <a:solidFill>
                  <a:schemeClr val="bg2"/>
                </a:solidFill>
                <a:latin typeface="Calibri" pitchFamily="34" charset="0"/>
                <a:ea typeface="Calibri" pitchFamily="34" charset="-122"/>
                <a:cs typeface="Calibri" pitchFamily="34" charset="-120"/>
              </a:rPr>
              <a:t>decreases z, pulling prediction toward negative class ŷ = 0.</a:t>
            </a:r>
          </a:p>
          <a:p>
            <a:pPr marL="0" indent="0">
              <a:spcAft>
                <a:spcPts val="300"/>
              </a:spcAft>
              <a:buNone/>
            </a:pPr>
            <a:endParaRPr lang="en-US" sz="2000" dirty="0">
              <a:solidFill>
                <a:schemeClr val="bg2"/>
              </a:solidFill>
              <a:latin typeface="Calibri" pitchFamily="34" charset="0"/>
              <a:ea typeface="Calibri" pitchFamily="34" charset="-122"/>
              <a:cs typeface="Calibri" pitchFamily="34" charset="-120"/>
            </a:endParaRPr>
          </a:p>
          <a:p>
            <a:pPr marL="0" indent="0">
              <a:spcAft>
                <a:spcPts val="300"/>
              </a:spcAft>
              <a:buNone/>
            </a:pPr>
            <a:endParaRPr lang="en-US" sz="1700" dirty="0">
              <a:solidFill>
                <a:schemeClr val="bg2"/>
              </a:solidFill>
            </a:endParaRPr>
          </a:p>
        </p:txBody>
      </p:sp>
      <p:sp>
        <p:nvSpPr>
          <p:cNvPr id="37" name="Shape 35"/>
          <p:cNvSpPr/>
          <p:nvPr/>
        </p:nvSpPr>
        <p:spPr>
          <a:xfrm>
            <a:off x="894848" y="1552590"/>
            <a:ext cx="10032232" cy="1022708"/>
          </a:xfrm>
          <a:prstGeom prst="roundRect">
            <a:avLst>
              <a:gd name="adj" fmla="val 10000"/>
            </a:avLst>
          </a:prstGeom>
          <a:solidFill>
            <a:srgbClr val="3B4366"/>
          </a:solidFill>
          <a:ln w="9525">
            <a:solidFill>
              <a:srgbClr val="3B4366"/>
            </a:solidFill>
            <a:prstDash val="solid"/>
          </a:ln>
        </p:spPr>
        <p:txBody>
          <a:bodyPr/>
          <a:lstStyle/>
          <a:p>
            <a:pPr>
              <a:spcAft>
                <a:spcPts val="300"/>
              </a:spcAft>
            </a:pPr>
            <a:r>
              <a:rPr lang="en-IN" sz="2400" dirty="0">
                <a:solidFill>
                  <a:schemeClr val="bg2"/>
                </a:solidFill>
              </a:rPr>
              <a:t>A weight is a numerical value assigned to each input that determines how much that input contributes to the perceptron's final output.</a:t>
            </a:r>
          </a:p>
        </p:txBody>
      </p:sp>
      <p:sp>
        <p:nvSpPr>
          <p:cNvPr id="32" name="Shape 37">
            <a:extLst>
              <a:ext uri="{FF2B5EF4-FFF2-40B4-BE49-F238E27FC236}">
                <a16:creationId xmlns:a16="http://schemas.microsoft.com/office/drawing/2014/main" id="{B1C1D048-84CE-3A96-6F9F-1CBD8DF7F28B}"/>
              </a:ext>
            </a:extLst>
          </p:cNvPr>
          <p:cNvSpPr/>
          <p:nvPr/>
        </p:nvSpPr>
        <p:spPr>
          <a:xfrm>
            <a:off x="941833" y="4422965"/>
            <a:ext cx="10259566" cy="1277374"/>
          </a:xfrm>
          <a:prstGeom prst="roundRect">
            <a:avLst>
              <a:gd name="adj" fmla="val 10000"/>
            </a:avLst>
          </a:prstGeom>
          <a:solidFill>
            <a:srgbClr val="3B4366"/>
          </a:solidFill>
          <a:ln w="9525">
            <a:solidFill>
              <a:srgbClr val="3B4366"/>
            </a:solidFill>
            <a:prstDash val="solid"/>
          </a:ln>
        </p:spPr>
        <p:txBody>
          <a:bodyPr/>
          <a:lstStyle/>
          <a:p>
            <a:pPr>
              <a:spcAft>
                <a:spcPts val="300"/>
              </a:spcAft>
            </a:pPr>
            <a:r>
              <a:rPr lang="en-IN" sz="2400" dirty="0">
                <a:solidFill>
                  <a:schemeClr val="bg2"/>
                </a:solidFill>
              </a:rPr>
              <a:t>Bias is an extra value added to the weighted sum that helps adjust the perceptron's decision threshold. It allows the decision boundary to shift instead of being forced to pass through the origin.</a:t>
            </a:r>
            <a:endParaRPr lang="en-US" sz="2400" dirty="0">
              <a:solidFill>
                <a:schemeClr val="bg2"/>
              </a:solidFill>
              <a:latin typeface="Calibri" pitchFamily="34" charset="0"/>
              <a:ea typeface="Calibri" pitchFamily="34" charset="-122"/>
              <a:cs typeface="Calibri"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24273E5-1FF5-017F-0C47-CC43D5690F2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015953-8615-EC9E-9F9A-D77ADAF7EB78}"/>
              </a:ext>
            </a:extLst>
          </p:cNvPr>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a:extLst>
              <a:ext uri="{FF2B5EF4-FFF2-40B4-BE49-F238E27FC236}">
                <a16:creationId xmlns:a16="http://schemas.microsoft.com/office/drawing/2014/main" id="{4FCC1C6F-B800-3093-DA60-040A36D16E8D}"/>
              </a:ext>
            </a:extLst>
          </p:cNvPr>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a:extLst>
              <a:ext uri="{FF2B5EF4-FFF2-40B4-BE49-F238E27FC236}">
                <a16:creationId xmlns:a16="http://schemas.microsoft.com/office/drawing/2014/main" id="{12649B82-8152-1921-202B-6B3E0F1A91C3}"/>
              </a:ext>
            </a:extLst>
          </p:cNvPr>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a:extLst>
              <a:ext uri="{FF2B5EF4-FFF2-40B4-BE49-F238E27FC236}">
                <a16:creationId xmlns:a16="http://schemas.microsoft.com/office/drawing/2014/main" id="{E3A73D3C-7094-0FA5-6723-47F5AF6E4B92}"/>
              </a:ext>
            </a:extLst>
          </p:cNvPr>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a:extLst>
              <a:ext uri="{FF2B5EF4-FFF2-40B4-BE49-F238E27FC236}">
                <a16:creationId xmlns:a16="http://schemas.microsoft.com/office/drawing/2014/main" id="{65AB1D9C-6928-FE71-E369-3D21E05ADBF5}"/>
              </a:ext>
            </a:extLst>
          </p:cNvPr>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a:extLst>
              <a:ext uri="{FF2B5EF4-FFF2-40B4-BE49-F238E27FC236}">
                <a16:creationId xmlns:a16="http://schemas.microsoft.com/office/drawing/2014/main" id="{6EF9B5D8-DFD5-E4A3-C712-1E7A17A4E652}"/>
              </a:ext>
            </a:extLst>
          </p:cNvPr>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a:extLst>
              <a:ext uri="{FF2B5EF4-FFF2-40B4-BE49-F238E27FC236}">
                <a16:creationId xmlns:a16="http://schemas.microsoft.com/office/drawing/2014/main" id="{C2E3AB99-241D-351C-68CD-8F57DAF13446}"/>
              </a:ext>
            </a:extLst>
          </p:cNvPr>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a:extLst>
              <a:ext uri="{FF2B5EF4-FFF2-40B4-BE49-F238E27FC236}">
                <a16:creationId xmlns:a16="http://schemas.microsoft.com/office/drawing/2014/main" id="{A6C5730B-0C0E-1242-2069-8F2BEA1C2E38}"/>
              </a:ext>
            </a:extLst>
          </p:cNvPr>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a:extLst>
              <a:ext uri="{FF2B5EF4-FFF2-40B4-BE49-F238E27FC236}">
                <a16:creationId xmlns:a16="http://schemas.microsoft.com/office/drawing/2014/main" id="{A7BA0065-A825-1CA8-8D55-C6F1CF7C0675}"/>
              </a:ext>
            </a:extLst>
          </p:cNvPr>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a:extLst>
              <a:ext uri="{FF2B5EF4-FFF2-40B4-BE49-F238E27FC236}">
                <a16:creationId xmlns:a16="http://schemas.microsoft.com/office/drawing/2014/main" id="{CC25DA60-66C1-5027-CF1D-CF7B87B8EC4A}"/>
              </a:ext>
            </a:extLst>
          </p:cNvPr>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a:extLst>
              <a:ext uri="{FF2B5EF4-FFF2-40B4-BE49-F238E27FC236}">
                <a16:creationId xmlns:a16="http://schemas.microsoft.com/office/drawing/2014/main" id="{08F392CC-FBB0-B62F-EAA8-41020ADA8C38}"/>
              </a:ext>
            </a:extLst>
          </p:cNvPr>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a:extLst>
              <a:ext uri="{FF2B5EF4-FFF2-40B4-BE49-F238E27FC236}">
                <a16:creationId xmlns:a16="http://schemas.microsoft.com/office/drawing/2014/main" id="{D838A8AC-A16D-4223-16AE-0DB042E72241}"/>
              </a:ext>
            </a:extLst>
          </p:cNvPr>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a:extLst>
              <a:ext uri="{FF2B5EF4-FFF2-40B4-BE49-F238E27FC236}">
                <a16:creationId xmlns:a16="http://schemas.microsoft.com/office/drawing/2014/main" id="{11D1C6A4-DCCB-66DA-981D-4D7AF4A94308}"/>
              </a:ext>
            </a:extLst>
          </p:cNvPr>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a:extLst>
              <a:ext uri="{FF2B5EF4-FFF2-40B4-BE49-F238E27FC236}">
                <a16:creationId xmlns:a16="http://schemas.microsoft.com/office/drawing/2014/main" id="{DB809C47-3DD6-60AB-C06A-6A59BA72BC1C}"/>
              </a:ext>
            </a:extLst>
          </p:cNvPr>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a:extLst>
              <a:ext uri="{FF2B5EF4-FFF2-40B4-BE49-F238E27FC236}">
                <a16:creationId xmlns:a16="http://schemas.microsoft.com/office/drawing/2014/main" id="{59887156-FCF2-98F5-03D8-AB4FD8FC4FD6}"/>
              </a:ext>
            </a:extLst>
          </p:cNvPr>
          <p:cNvSpPr txBox="1"/>
          <p:nvPr/>
        </p:nvSpPr>
        <p:spPr>
          <a:xfrm>
            <a:off x="365760" y="411480"/>
            <a:ext cx="9144000" cy="868680"/>
          </a:xfrm>
          <a:prstGeom prst="rect">
            <a:avLst/>
          </a:prstGeom>
          <a:noFill/>
          <a:ln/>
        </p:spPr>
        <p:txBody>
          <a:bodyPr wrap="square" lIns="0" tIns="0" rIns="0" bIns="0" rtlCol="0" anchor="ctr"/>
          <a:lstStyle/>
          <a:p>
            <a:pPr marL="0" indent="0" algn="ctr">
              <a:buNone/>
            </a:pPr>
            <a:r>
              <a:rPr lang="en-US" sz="3200" dirty="0">
                <a:solidFill>
                  <a:schemeClr val="bg2"/>
                </a:solidFill>
                <a:latin typeface="+mj-lt"/>
              </a:rPr>
              <a:t>ACTIVATION FUNCTIONS</a:t>
            </a:r>
          </a:p>
        </p:txBody>
      </p:sp>
      <p:sp>
        <p:nvSpPr>
          <p:cNvPr id="41" name="Step Function Card"/>
          <p:cNvSpPr/>
          <p:nvPr/>
        </p:nvSpPr>
        <p:spPr>
          <a:xfrm>
            <a:off x="548640" y="1337883"/>
            <a:ext cx="5400000" cy="5020000"/>
          </a:xfrm>
          <a:prstGeom prst="roundRect">
            <a:avLst>
              <a:gd name="adj" fmla="val 4000"/>
            </a:avLst>
          </a:prstGeom>
          <a:solidFill>
            <a:srgbClr val="1C2036"/>
          </a:solidFill>
          <a:ln w="9525">
            <a:solidFill>
              <a:srgbClr val="343A58"/>
            </a:solidFill>
            <a:prstDash val="solid"/>
          </a:ln>
        </p:spPr>
        <p:txBody>
          <a:bodyPr/>
          <a:lstStyle/>
          <a:p>
            <a:endParaRPr lang="en-IN"/>
          </a:p>
        </p:txBody>
      </p:sp>
      <p:sp>
        <p:nvSpPr>
          <p:cNvPr id="42" name="Step Function Number"/>
          <p:cNvSpPr txBox="1"/>
          <p:nvPr/>
        </p:nvSpPr>
        <p:spPr>
          <a:xfrm>
            <a:off x="748640" y="1500000"/>
            <a:ext cx="520000" cy="520000"/>
          </a:xfrm>
          <a:prstGeom prst="ellipse">
            <a:avLst/>
          </a:prstGeom>
          <a:solidFill>
            <a:srgbClr val="6B76A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p>
        </p:txBody>
      </p:sp>
      <p:sp>
        <p:nvSpPr>
          <p:cNvPr id="43" name="Step Function Heading"/>
          <p:cNvSpPr txBox="1"/>
          <p:nvPr/>
        </p:nvSpPr>
        <p:spPr>
          <a:xfrm>
            <a:off x="1438640" y="1450000"/>
            <a:ext cx="4310000" cy="640000"/>
          </a:xfrm>
          <a:prstGeom prst="rect">
            <a:avLst/>
          </a:prstGeom>
          <a:noFill/>
          <a:ln/>
        </p:spPr>
        <p:txBody>
          <a:bodyPr wrap="square" lIns="0" tIns="0" rIns="0" bIns="0" rtlCol="0" anchor="ctr"/>
          <a:lstStyle/>
          <a:p>
            <a:pPr marL="0" indent="0">
              <a:spcAft>
                <a:spcPts val="200"/>
              </a:spcAft>
              <a:buNone/>
            </a:pPr>
            <a:r>
              <a:rPr lang="en-US" sz="2000" b="1" dirty="0">
                <a:solidFill>
                  <a:srgbClr val="F2F2F8"/>
                </a:solidFill>
                <a:latin typeface="Calibri" pitchFamily="34" charset="0"/>
                <a:ea typeface="Calibri" pitchFamily="34" charset="-122"/>
                <a:cs typeface="Calibri" pitchFamily="34" charset="-120"/>
              </a:rPr>
              <a:t>Step Function</a:t>
            </a:r>
          </a:p>
          <a:p>
            <a:pPr marL="0" indent="0">
              <a:buNone/>
            </a:pPr>
            <a:r>
              <a:rPr lang="en-US" sz="1700" dirty="0">
                <a:solidFill>
                  <a:srgbClr val="D9D6EE"/>
                </a:solidFill>
                <a:latin typeface="Calibri" pitchFamily="34" charset="0"/>
                <a:ea typeface="Calibri" pitchFamily="34" charset="-122"/>
                <a:cs typeface="Calibri" pitchFamily="34" charset="-120"/>
              </a:rPr>
              <a:t>f(x) = 1 if x ≥ 0;   f(x) = 0 if x &lt; 0</a:t>
            </a:r>
          </a:p>
        </p:txBody>
      </p:sp>
      <p:pic>
        <p:nvPicPr>
          <p:cNvPr id="44" name="Step Function Graph" descr="Graph of the step function: 0 for x below 0, 1 for x at or above 0"/>
          <p:cNvPicPr>
            <a:picLocks noChangeAspect="1"/>
          </p:cNvPicPr>
          <p:nvPr/>
        </p:nvPicPr>
        <p:blipFill>
          <a:blip r:embed="rId4"/>
          <a:stretch>
            <a:fillRect/>
          </a:stretch>
        </p:blipFill>
        <p:spPr>
          <a:xfrm>
            <a:off x="548640" y="2290000"/>
            <a:ext cx="5000000" cy="1850000"/>
          </a:xfrm>
          <a:prstGeom prst="rect">
            <a:avLst/>
          </a:prstGeom>
        </p:spPr>
      </p:pic>
      <p:sp>
        <p:nvSpPr>
          <p:cNvPr id="45" name="Step Function Details"/>
          <p:cNvSpPr txBox="1"/>
          <p:nvPr/>
        </p:nvSpPr>
        <p:spPr>
          <a:xfrm>
            <a:off x="748640" y="4210000"/>
            <a:ext cx="5000000" cy="2020000"/>
          </a:xfrm>
          <a:prstGeom prst="rect">
            <a:avLst/>
          </a:prstGeom>
          <a:noFill/>
          <a:ln/>
        </p:spPr>
        <p:txBody>
          <a:bodyPr wrap="square" lIns="0" tIns="0" rIns="0" bIns="0" rtlCol="0" anchor="t"/>
          <a:lstStyle/>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Definition: </a:t>
            </a:r>
            <a:r>
              <a:rPr lang="en-US" sz="1700" dirty="0">
                <a:solidFill>
                  <a:srgbClr val="F2F2F8"/>
                </a:solidFill>
                <a:latin typeface="Calibri" pitchFamily="34" charset="0"/>
                <a:ea typeface="Calibri" pitchFamily="34" charset="-122"/>
                <a:cs typeface="Calibri" pitchFamily="34" charset="-120"/>
              </a:rPr>
              <a:t>Outputs 1 when the input is ≥ 0, otherwise 0.</a:t>
            </a:r>
          </a:p>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Uses: </a:t>
            </a:r>
            <a:r>
              <a:rPr lang="en-US" sz="1700" dirty="0">
                <a:solidFill>
                  <a:srgbClr val="F2F2F8"/>
                </a:solidFill>
                <a:latin typeface="Calibri" pitchFamily="34" charset="0"/>
                <a:ea typeface="Calibri" pitchFamily="34" charset="-122"/>
                <a:cs typeface="Calibri" pitchFamily="34" charset="-120"/>
              </a:rPr>
              <a:t>Classic perceptron; Yes/No decisions.</a:t>
            </a:r>
          </a:p>
          <a:p>
            <a:pPr marL="0" indent="0">
              <a:spcAft>
                <a:spcPts val="800"/>
              </a:spcAft>
              <a:buNone/>
            </a:pPr>
            <a:r>
              <a:rPr lang="en-US" sz="1700" b="1" dirty="0">
                <a:solidFill>
                  <a:srgbClr val="5FD0A0"/>
                </a:solidFill>
                <a:latin typeface="Calibri" pitchFamily="34" charset="0"/>
                <a:ea typeface="Calibri" pitchFamily="34" charset="-122"/>
                <a:cs typeface="Calibri" pitchFamily="34" charset="-120"/>
              </a:rPr>
              <a:t>Advantage: </a:t>
            </a:r>
            <a:r>
              <a:rPr lang="en-US" sz="1700" dirty="0">
                <a:solidFill>
                  <a:srgbClr val="F2F2F8"/>
                </a:solidFill>
                <a:latin typeface="Calibri" pitchFamily="34" charset="0"/>
                <a:ea typeface="Calibri" pitchFamily="34" charset="-122"/>
                <a:cs typeface="Calibri" pitchFamily="34" charset="-120"/>
              </a:rPr>
              <a:t>Simple, fast and easy to understand.</a:t>
            </a:r>
          </a:p>
          <a:p>
            <a:pPr marL="0" indent="0">
              <a:spcAft>
                <a:spcPts val="800"/>
              </a:spcAft>
              <a:buNone/>
            </a:pPr>
            <a:r>
              <a:rPr lang="en-US" sz="1700" b="1" dirty="0">
                <a:solidFill>
                  <a:srgbClr val="FF8A80"/>
                </a:solidFill>
                <a:latin typeface="Calibri" pitchFamily="34" charset="0"/>
                <a:ea typeface="Calibri" pitchFamily="34" charset="-122"/>
                <a:cs typeface="Calibri" pitchFamily="34" charset="-120"/>
              </a:rPr>
              <a:t>Disadvantage: </a:t>
            </a:r>
            <a:r>
              <a:rPr lang="en-US" sz="1700" dirty="0">
                <a:solidFill>
                  <a:srgbClr val="F2F2F8"/>
                </a:solidFill>
                <a:latin typeface="Calibri" pitchFamily="34" charset="0"/>
                <a:ea typeface="Calibri" pitchFamily="34" charset="-122"/>
                <a:cs typeface="Calibri" pitchFamily="34" charset="-120"/>
              </a:rPr>
              <a:t>Zero gradient, so no gradient-based learning.</a:t>
            </a:r>
          </a:p>
        </p:txBody>
      </p:sp>
      <p:sp>
        <p:nvSpPr>
          <p:cNvPr id="46" name="Sigmoid Function Card"/>
          <p:cNvSpPr/>
          <p:nvPr/>
        </p:nvSpPr>
        <p:spPr>
          <a:xfrm>
            <a:off x="6148640" y="1330000"/>
            <a:ext cx="5400000" cy="5020000"/>
          </a:xfrm>
          <a:prstGeom prst="roundRect">
            <a:avLst>
              <a:gd name="adj" fmla="val 4000"/>
            </a:avLst>
          </a:prstGeom>
          <a:solidFill>
            <a:srgbClr val="1C2036"/>
          </a:solidFill>
          <a:ln w="9525">
            <a:solidFill>
              <a:srgbClr val="343A58"/>
            </a:solidFill>
            <a:prstDash val="solid"/>
          </a:ln>
        </p:spPr>
        <p:txBody>
          <a:bodyPr/>
          <a:lstStyle/>
          <a:p>
            <a:endParaRPr lang="en-IN"/>
          </a:p>
        </p:txBody>
      </p:sp>
      <p:sp>
        <p:nvSpPr>
          <p:cNvPr id="47" name="Sigmoid Function Number"/>
          <p:cNvSpPr txBox="1"/>
          <p:nvPr/>
        </p:nvSpPr>
        <p:spPr>
          <a:xfrm>
            <a:off x="6348640" y="1500000"/>
            <a:ext cx="520000" cy="520000"/>
          </a:xfrm>
          <a:prstGeom prst="ellipse">
            <a:avLst/>
          </a:prstGeom>
          <a:solidFill>
            <a:srgbClr val="6B76A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p>
        </p:txBody>
      </p:sp>
      <p:sp>
        <p:nvSpPr>
          <p:cNvPr id="48" name="Sigmoid Function Heading"/>
          <p:cNvSpPr txBox="1"/>
          <p:nvPr/>
        </p:nvSpPr>
        <p:spPr>
          <a:xfrm>
            <a:off x="7038640" y="1450000"/>
            <a:ext cx="4310000" cy="640000"/>
          </a:xfrm>
          <a:prstGeom prst="rect">
            <a:avLst/>
          </a:prstGeom>
          <a:noFill/>
          <a:ln/>
        </p:spPr>
        <p:txBody>
          <a:bodyPr wrap="square" lIns="0" tIns="0" rIns="0" bIns="0" rtlCol="0" anchor="ctr"/>
          <a:lstStyle/>
          <a:p>
            <a:pPr marL="0" indent="0">
              <a:spcAft>
                <a:spcPts val="200"/>
              </a:spcAft>
              <a:buNone/>
            </a:pPr>
            <a:r>
              <a:rPr lang="en-US" sz="2000" b="1" dirty="0">
                <a:solidFill>
                  <a:srgbClr val="F2F2F8"/>
                </a:solidFill>
                <a:latin typeface="Calibri" pitchFamily="34" charset="0"/>
                <a:ea typeface="Calibri" pitchFamily="34" charset="-122"/>
                <a:cs typeface="Calibri" pitchFamily="34" charset="-120"/>
              </a:rPr>
              <a:t>Sigmoid Function</a:t>
            </a:r>
          </a:p>
          <a:p>
            <a:pPr marL="0" indent="0">
              <a:buNone/>
            </a:pPr>
            <a:r>
              <a:rPr lang="en-US" sz="1700" dirty="0">
                <a:solidFill>
                  <a:srgbClr val="D9D6EE"/>
                </a:solidFill>
                <a:latin typeface="Calibri" pitchFamily="34" charset="0"/>
                <a:ea typeface="Calibri" pitchFamily="34" charset="-122"/>
                <a:cs typeface="Calibri" pitchFamily="34" charset="-120"/>
              </a:rPr>
              <a:t>f(x) = 1 / (1 + e</a:t>
            </a:r>
            <a:r>
              <a:rPr lang="en-US" sz="1700" baseline="30000" dirty="0">
                <a:solidFill>
                  <a:srgbClr val="D9D6EE"/>
                </a:solidFill>
                <a:latin typeface="Calibri" pitchFamily="34" charset="0"/>
                <a:ea typeface="Calibri" pitchFamily="34" charset="-122"/>
                <a:cs typeface="Calibri" pitchFamily="34" charset="-120"/>
              </a:rPr>
              <a:t>−x</a:t>
            </a:r>
            <a:r>
              <a:rPr lang="en-US" sz="1700" dirty="0">
                <a:solidFill>
                  <a:srgbClr val="D9D6EE"/>
                </a:solidFill>
                <a:latin typeface="Calibri" pitchFamily="34" charset="0"/>
                <a:ea typeface="Calibri" pitchFamily="34" charset="-122"/>
                <a:cs typeface="Calibri" pitchFamily="34" charset="-120"/>
              </a:rPr>
              <a:t>)</a:t>
            </a:r>
          </a:p>
        </p:txBody>
      </p:sp>
      <p:pic>
        <p:nvPicPr>
          <p:cNvPr id="49" name="Sigmoid Function Graph" descr="Graph of the sigmoid function: S-shaped curve from 0 to 1"/>
          <p:cNvPicPr>
            <a:picLocks noChangeAspect="1"/>
          </p:cNvPicPr>
          <p:nvPr/>
        </p:nvPicPr>
        <p:blipFill>
          <a:blip r:embed="rId5"/>
          <a:stretch>
            <a:fillRect/>
          </a:stretch>
        </p:blipFill>
        <p:spPr>
          <a:xfrm>
            <a:off x="6348640" y="2230000"/>
            <a:ext cx="5000000" cy="1850000"/>
          </a:xfrm>
          <a:prstGeom prst="rect">
            <a:avLst/>
          </a:prstGeom>
        </p:spPr>
      </p:pic>
      <p:sp>
        <p:nvSpPr>
          <p:cNvPr id="50" name="Sigmoid Function Details"/>
          <p:cNvSpPr txBox="1"/>
          <p:nvPr/>
        </p:nvSpPr>
        <p:spPr>
          <a:xfrm>
            <a:off x="6348640" y="4210000"/>
            <a:ext cx="5000000" cy="2020000"/>
          </a:xfrm>
          <a:prstGeom prst="rect">
            <a:avLst/>
          </a:prstGeom>
          <a:noFill/>
          <a:ln/>
        </p:spPr>
        <p:txBody>
          <a:bodyPr wrap="square" lIns="0" tIns="0" rIns="0" bIns="0" rtlCol="0" anchor="t"/>
          <a:lstStyle/>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Definition: </a:t>
            </a:r>
            <a:r>
              <a:rPr lang="en-US" sz="1700" dirty="0">
                <a:solidFill>
                  <a:srgbClr val="F2F2F8"/>
                </a:solidFill>
                <a:latin typeface="Calibri" pitchFamily="34" charset="0"/>
                <a:ea typeface="Calibri" pitchFamily="34" charset="-122"/>
                <a:cs typeface="Calibri" pitchFamily="34" charset="-120"/>
              </a:rPr>
              <a:t>Squashes any input into a value between 0 and 1.</a:t>
            </a:r>
          </a:p>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Uses: </a:t>
            </a:r>
            <a:r>
              <a:rPr lang="en-US" sz="1700" dirty="0">
                <a:solidFill>
                  <a:srgbClr val="F2F2F8"/>
                </a:solidFill>
                <a:latin typeface="Calibri" pitchFamily="34" charset="0"/>
                <a:ea typeface="Calibri" pitchFamily="34" charset="-122"/>
                <a:cs typeface="Calibri" pitchFamily="34" charset="-120"/>
              </a:rPr>
              <a:t>Binary classification outputs; probability-like scores.</a:t>
            </a:r>
          </a:p>
          <a:p>
            <a:pPr marL="0" indent="0">
              <a:spcAft>
                <a:spcPts val="800"/>
              </a:spcAft>
              <a:buNone/>
            </a:pPr>
            <a:r>
              <a:rPr lang="en-US" sz="1700" b="1" dirty="0">
                <a:solidFill>
                  <a:srgbClr val="5FD0A0"/>
                </a:solidFill>
                <a:latin typeface="Calibri" pitchFamily="34" charset="0"/>
                <a:ea typeface="Calibri" pitchFamily="34" charset="-122"/>
                <a:cs typeface="Calibri" pitchFamily="34" charset="-120"/>
              </a:rPr>
              <a:t>Advantage: </a:t>
            </a:r>
            <a:r>
              <a:rPr lang="en-US" sz="1700" dirty="0">
                <a:solidFill>
                  <a:srgbClr val="F2F2F8"/>
                </a:solidFill>
                <a:latin typeface="Calibri" pitchFamily="34" charset="0"/>
                <a:ea typeface="Calibri" pitchFamily="34" charset="-122"/>
                <a:cs typeface="Calibri" pitchFamily="34" charset="-120"/>
              </a:rPr>
              <a:t>Smooth curve; output reads like a probability.</a:t>
            </a:r>
          </a:p>
          <a:p>
            <a:pPr marL="0" indent="0">
              <a:spcAft>
                <a:spcPts val="800"/>
              </a:spcAft>
              <a:buNone/>
            </a:pPr>
            <a:r>
              <a:rPr lang="en-US" sz="1700" b="1" dirty="0">
                <a:solidFill>
                  <a:srgbClr val="FF8A80"/>
                </a:solidFill>
                <a:latin typeface="Calibri" pitchFamily="34" charset="0"/>
                <a:ea typeface="Calibri" pitchFamily="34" charset="-122"/>
                <a:cs typeface="Calibri" pitchFamily="34" charset="-120"/>
              </a:rPr>
              <a:t>Disadvantage: </a:t>
            </a:r>
            <a:r>
              <a:rPr lang="en-US" sz="1700" dirty="0">
                <a:solidFill>
                  <a:srgbClr val="F2F2F8"/>
                </a:solidFill>
                <a:latin typeface="Calibri" pitchFamily="34" charset="0"/>
                <a:ea typeface="Calibri" pitchFamily="34" charset="-122"/>
                <a:cs typeface="Calibri" pitchFamily="34" charset="-120"/>
              </a:rPr>
              <a:t>Vanishing gradients for very large |x|.</a:t>
            </a:r>
          </a:p>
        </p:txBody>
      </p:sp>
    </p:spTree>
    <p:extLst>
      <p:ext uri="{BB962C8B-B14F-4D97-AF65-F5344CB8AC3E}">
        <p14:creationId xmlns:p14="http://schemas.microsoft.com/office/powerpoint/2010/main" val="4141932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3998B22-007A-5C8F-C730-A255A3D50F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2850F3-D4DE-F0A6-D3A3-E006D04C9186}"/>
              </a:ext>
            </a:extLst>
          </p:cNvPr>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a:extLst>
              <a:ext uri="{FF2B5EF4-FFF2-40B4-BE49-F238E27FC236}">
                <a16:creationId xmlns:a16="http://schemas.microsoft.com/office/drawing/2014/main" id="{D696CC24-FDE9-468A-FA0C-AAD37402EC50}"/>
              </a:ext>
            </a:extLst>
          </p:cNvPr>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a:extLst>
              <a:ext uri="{FF2B5EF4-FFF2-40B4-BE49-F238E27FC236}">
                <a16:creationId xmlns:a16="http://schemas.microsoft.com/office/drawing/2014/main" id="{F97BF21C-947D-2974-2326-158A66924A3D}"/>
              </a:ext>
            </a:extLst>
          </p:cNvPr>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a:extLst>
              <a:ext uri="{FF2B5EF4-FFF2-40B4-BE49-F238E27FC236}">
                <a16:creationId xmlns:a16="http://schemas.microsoft.com/office/drawing/2014/main" id="{67232C4E-B12C-9844-5690-3B915813DD53}"/>
              </a:ext>
            </a:extLst>
          </p:cNvPr>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a:extLst>
              <a:ext uri="{FF2B5EF4-FFF2-40B4-BE49-F238E27FC236}">
                <a16:creationId xmlns:a16="http://schemas.microsoft.com/office/drawing/2014/main" id="{190908A9-8F75-35FB-7B9C-35537D845AEE}"/>
              </a:ext>
            </a:extLst>
          </p:cNvPr>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a:extLst>
              <a:ext uri="{FF2B5EF4-FFF2-40B4-BE49-F238E27FC236}">
                <a16:creationId xmlns:a16="http://schemas.microsoft.com/office/drawing/2014/main" id="{E4B105C5-9182-EA42-7CD0-ACB79B6F5954}"/>
              </a:ext>
            </a:extLst>
          </p:cNvPr>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a:extLst>
              <a:ext uri="{FF2B5EF4-FFF2-40B4-BE49-F238E27FC236}">
                <a16:creationId xmlns:a16="http://schemas.microsoft.com/office/drawing/2014/main" id="{793AB718-E165-145A-04C0-A6BC74D9CF6D}"/>
              </a:ext>
            </a:extLst>
          </p:cNvPr>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a:extLst>
              <a:ext uri="{FF2B5EF4-FFF2-40B4-BE49-F238E27FC236}">
                <a16:creationId xmlns:a16="http://schemas.microsoft.com/office/drawing/2014/main" id="{CB717C8A-CE23-D1F3-1939-AFEBCB61598C}"/>
              </a:ext>
            </a:extLst>
          </p:cNvPr>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a:extLst>
              <a:ext uri="{FF2B5EF4-FFF2-40B4-BE49-F238E27FC236}">
                <a16:creationId xmlns:a16="http://schemas.microsoft.com/office/drawing/2014/main" id="{A5A135DC-4BD4-DFE4-7B26-42D1AB9B478B}"/>
              </a:ext>
            </a:extLst>
          </p:cNvPr>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a:extLst>
              <a:ext uri="{FF2B5EF4-FFF2-40B4-BE49-F238E27FC236}">
                <a16:creationId xmlns:a16="http://schemas.microsoft.com/office/drawing/2014/main" id="{91C6FF3D-8709-FC46-6BEC-ABBAA1CD13BE}"/>
              </a:ext>
            </a:extLst>
          </p:cNvPr>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a:extLst>
              <a:ext uri="{FF2B5EF4-FFF2-40B4-BE49-F238E27FC236}">
                <a16:creationId xmlns:a16="http://schemas.microsoft.com/office/drawing/2014/main" id="{618E92A4-4100-00E9-DF1D-323DA7886CB8}"/>
              </a:ext>
            </a:extLst>
          </p:cNvPr>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a:extLst>
              <a:ext uri="{FF2B5EF4-FFF2-40B4-BE49-F238E27FC236}">
                <a16:creationId xmlns:a16="http://schemas.microsoft.com/office/drawing/2014/main" id="{A77D722D-CD85-F85B-CE75-A01D198B6877}"/>
              </a:ext>
            </a:extLst>
          </p:cNvPr>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a:extLst>
              <a:ext uri="{FF2B5EF4-FFF2-40B4-BE49-F238E27FC236}">
                <a16:creationId xmlns:a16="http://schemas.microsoft.com/office/drawing/2014/main" id="{24A8155F-4937-93A3-A302-85A9E09ADB0C}"/>
              </a:ext>
            </a:extLst>
          </p:cNvPr>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a:extLst>
              <a:ext uri="{FF2B5EF4-FFF2-40B4-BE49-F238E27FC236}">
                <a16:creationId xmlns:a16="http://schemas.microsoft.com/office/drawing/2014/main" id="{88663101-1800-95AB-3DE0-ADDEC6A81645}"/>
              </a:ext>
            </a:extLst>
          </p:cNvPr>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a:extLst>
              <a:ext uri="{FF2B5EF4-FFF2-40B4-BE49-F238E27FC236}">
                <a16:creationId xmlns:a16="http://schemas.microsoft.com/office/drawing/2014/main" id="{DBD57FBB-9623-2FEA-1C25-0FDB561E6426}"/>
              </a:ext>
            </a:extLst>
          </p:cNvPr>
          <p:cNvSpPr txBox="1"/>
          <p:nvPr/>
        </p:nvSpPr>
        <p:spPr>
          <a:xfrm>
            <a:off x="365760" y="411480"/>
            <a:ext cx="9144000" cy="868680"/>
          </a:xfrm>
          <a:prstGeom prst="rect">
            <a:avLst/>
          </a:prstGeom>
          <a:noFill/>
          <a:ln/>
        </p:spPr>
        <p:txBody>
          <a:bodyPr wrap="square" lIns="0" tIns="0" rIns="0" bIns="0" rtlCol="0" anchor="ctr"/>
          <a:lstStyle/>
          <a:p>
            <a:pPr marL="0" indent="0" algn="ctr">
              <a:buNone/>
            </a:pPr>
            <a:r>
              <a:rPr lang="en-US" sz="3200" dirty="0">
                <a:solidFill>
                  <a:schemeClr val="bg2"/>
                </a:solidFill>
                <a:latin typeface="+mj-lt"/>
              </a:rPr>
              <a:t>ACTIVATION FUNCTIONS</a:t>
            </a:r>
          </a:p>
        </p:txBody>
      </p:sp>
      <p:sp>
        <p:nvSpPr>
          <p:cNvPr id="51" name="Tanh Function Card"/>
          <p:cNvSpPr/>
          <p:nvPr/>
        </p:nvSpPr>
        <p:spPr>
          <a:xfrm>
            <a:off x="548640" y="1330000"/>
            <a:ext cx="5400000" cy="5020000"/>
          </a:xfrm>
          <a:prstGeom prst="roundRect">
            <a:avLst>
              <a:gd name="adj" fmla="val 4000"/>
            </a:avLst>
          </a:prstGeom>
          <a:solidFill>
            <a:srgbClr val="1C2036"/>
          </a:solidFill>
          <a:ln w="9525">
            <a:solidFill>
              <a:srgbClr val="343A58"/>
            </a:solidFill>
            <a:prstDash val="solid"/>
          </a:ln>
        </p:spPr>
        <p:txBody>
          <a:bodyPr/>
          <a:lstStyle/>
          <a:p>
            <a:endParaRPr lang="en-IN"/>
          </a:p>
        </p:txBody>
      </p:sp>
      <p:sp>
        <p:nvSpPr>
          <p:cNvPr id="52" name="Tanh Function Number"/>
          <p:cNvSpPr txBox="1"/>
          <p:nvPr/>
        </p:nvSpPr>
        <p:spPr>
          <a:xfrm>
            <a:off x="748640" y="1500000"/>
            <a:ext cx="520000" cy="520000"/>
          </a:xfrm>
          <a:prstGeom prst="ellipse">
            <a:avLst/>
          </a:prstGeom>
          <a:solidFill>
            <a:srgbClr val="6B76A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p>
        </p:txBody>
      </p:sp>
      <p:sp>
        <p:nvSpPr>
          <p:cNvPr id="53" name="Tanh Function Heading"/>
          <p:cNvSpPr txBox="1"/>
          <p:nvPr/>
        </p:nvSpPr>
        <p:spPr>
          <a:xfrm>
            <a:off x="1438640" y="1450000"/>
            <a:ext cx="4310000" cy="640000"/>
          </a:xfrm>
          <a:prstGeom prst="rect">
            <a:avLst/>
          </a:prstGeom>
          <a:noFill/>
          <a:ln/>
        </p:spPr>
        <p:txBody>
          <a:bodyPr wrap="square" lIns="0" tIns="0" rIns="0" bIns="0" rtlCol="0" anchor="ctr"/>
          <a:lstStyle/>
          <a:p>
            <a:pPr marL="0" indent="0">
              <a:spcAft>
                <a:spcPts val="200"/>
              </a:spcAft>
              <a:buNone/>
            </a:pPr>
            <a:r>
              <a:rPr lang="en-US" sz="2000" b="1" dirty="0">
                <a:solidFill>
                  <a:srgbClr val="F2F2F8"/>
                </a:solidFill>
                <a:latin typeface="Calibri" pitchFamily="34" charset="0"/>
                <a:ea typeface="Calibri" pitchFamily="34" charset="-122"/>
                <a:cs typeface="Calibri" pitchFamily="34" charset="-120"/>
              </a:rPr>
              <a:t>Tanh Function</a:t>
            </a:r>
          </a:p>
          <a:p>
            <a:pPr marL="0" indent="0">
              <a:buNone/>
            </a:pPr>
            <a:r>
              <a:rPr lang="en-US" sz="1700" dirty="0">
                <a:solidFill>
                  <a:srgbClr val="D9D6EE"/>
                </a:solidFill>
                <a:latin typeface="Calibri" pitchFamily="34" charset="0"/>
                <a:ea typeface="Calibri" pitchFamily="34" charset="-122"/>
                <a:cs typeface="Calibri" pitchFamily="34" charset="-120"/>
              </a:rPr>
              <a:t>f(x) = (e</a:t>
            </a:r>
            <a:r>
              <a:rPr lang="en-US" sz="1700" baseline="30000" dirty="0">
                <a:solidFill>
                  <a:srgbClr val="D9D6EE"/>
                </a:solidFill>
                <a:latin typeface="Calibri" pitchFamily="34" charset="0"/>
                <a:ea typeface="Calibri" pitchFamily="34" charset="-122"/>
                <a:cs typeface="Calibri" pitchFamily="34" charset="-120"/>
              </a:rPr>
              <a:t>x</a:t>
            </a:r>
            <a:r>
              <a:rPr lang="en-US" sz="1700" dirty="0">
                <a:solidFill>
                  <a:srgbClr val="D9D6EE"/>
                </a:solidFill>
                <a:latin typeface="Calibri" pitchFamily="34" charset="0"/>
                <a:ea typeface="Calibri" pitchFamily="34" charset="-122"/>
                <a:cs typeface="Calibri" pitchFamily="34" charset="-120"/>
              </a:rPr>
              <a:t> − e</a:t>
            </a:r>
            <a:r>
              <a:rPr lang="en-US" sz="1700" baseline="30000" dirty="0">
                <a:solidFill>
                  <a:srgbClr val="D9D6EE"/>
                </a:solidFill>
                <a:latin typeface="Calibri" pitchFamily="34" charset="0"/>
                <a:ea typeface="Calibri" pitchFamily="34" charset="-122"/>
                <a:cs typeface="Calibri" pitchFamily="34" charset="-120"/>
              </a:rPr>
              <a:t>−x</a:t>
            </a:r>
            <a:r>
              <a:rPr lang="en-US" sz="1700" dirty="0">
                <a:solidFill>
                  <a:srgbClr val="D9D6EE"/>
                </a:solidFill>
                <a:latin typeface="Calibri" pitchFamily="34" charset="0"/>
                <a:ea typeface="Calibri" pitchFamily="34" charset="-122"/>
                <a:cs typeface="Calibri" pitchFamily="34" charset="-120"/>
              </a:rPr>
              <a:t>) / (e</a:t>
            </a:r>
            <a:r>
              <a:rPr lang="en-US" sz="1700" baseline="30000" dirty="0">
                <a:solidFill>
                  <a:srgbClr val="D9D6EE"/>
                </a:solidFill>
                <a:latin typeface="Calibri" pitchFamily="34" charset="0"/>
                <a:ea typeface="Calibri" pitchFamily="34" charset="-122"/>
                <a:cs typeface="Calibri" pitchFamily="34" charset="-120"/>
              </a:rPr>
              <a:t>x</a:t>
            </a:r>
            <a:r>
              <a:rPr lang="en-US" sz="1700" dirty="0">
                <a:solidFill>
                  <a:srgbClr val="D9D6EE"/>
                </a:solidFill>
                <a:latin typeface="Calibri" pitchFamily="34" charset="0"/>
                <a:ea typeface="Calibri" pitchFamily="34" charset="-122"/>
                <a:cs typeface="Calibri" pitchFamily="34" charset="-120"/>
              </a:rPr>
              <a:t> + e</a:t>
            </a:r>
            <a:r>
              <a:rPr lang="en-US" sz="1700" baseline="30000" dirty="0">
                <a:solidFill>
                  <a:srgbClr val="D9D6EE"/>
                </a:solidFill>
                <a:latin typeface="Calibri" pitchFamily="34" charset="0"/>
                <a:ea typeface="Calibri" pitchFamily="34" charset="-122"/>
                <a:cs typeface="Calibri" pitchFamily="34" charset="-120"/>
              </a:rPr>
              <a:t>−x</a:t>
            </a:r>
            <a:r>
              <a:rPr lang="en-US" sz="1700" dirty="0">
                <a:solidFill>
                  <a:srgbClr val="D9D6EE"/>
                </a:solidFill>
                <a:latin typeface="Calibri" pitchFamily="34" charset="0"/>
                <a:ea typeface="Calibri" pitchFamily="34" charset="-122"/>
                <a:cs typeface="Calibri" pitchFamily="34" charset="-120"/>
              </a:rPr>
              <a:t>)</a:t>
            </a:r>
          </a:p>
        </p:txBody>
      </p:sp>
      <p:pic>
        <p:nvPicPr>
          <p:cNvPr id="54" name="Tanh Function Graph" descr="Graph of the tanh function: S-shaped curve from -1 to 1"/>
          <p:cNvPicPr>
            <a:picLocks noChangeAspect="1"/>
          </p:cNvPicPr>
          <p:nvPr/>
        </p:nvPicPr>
        <p:blipFill>
          <a:blip r:embed="rId4"/>
          <a:stretch>
            <a:fillRect/>
          </a:stretch>
        </p:blipFill>
        <p:spPr>
          <a:xfrm>
            <a:off x="748640" y="2230000"/>
            <a:ext cx="5000000" cy="1850000"/>
          </a:xfrm>
          <a:prstGeom prst="rect">
            <a:avLst/>
          </a:prstGeom>
        </p:spPr>
      </p:pic>
      <p:sp>
        <p:nvSpPr>
          <p:cNvPr id="55" name="Tanh Function Details"/>
          <p:cNvSpPr txBox="1"/>
          <p:nvPr/>
        </p:nvSpPr>
        <p:spPr>
          <a:xfrm>
            <a:off x="748640" y="4210000"/>
            <a:ext cx="5000000" cy="2020000"/>
          </a:xfrm>
          <a:prstGeom prst="rect">
            <a:avLst/>
          </a:prstGeom>
          <a:noFill/>
          <a:ln/>
        </p:spPr>
        <p:txBody>
          <a:bodyPr wrap="square" lIns="0" tIns="0" rIns="0" bIns="0" rtlCol="0" anchor="t"/>
          <a:lstStyle/>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Definition: </a:t>
            </a:r>
            <a:r>
              <a:rPr lang="en-US" sz="1700" dirty="0">
                <a:solidFill>
                  <a:srgbClr val="F2F2F8"/>
                </a:solidFill>
                <a:latin typeface="Calibri" pitchFamily="34" charset="0"/>
                <a:ea typeface="Calibri" pitchFamily="34" charset="-122"/>
                <a:cs typeface="Calibri" pitchFamily="34" charset="-120"/>
              </a:rPr>
              <a:t>Squashes any input into a value between −1 and 1.</a:t>
            </a:r>
          </a:p>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Uses: </a:t>
            </a:r>
            <a:r>
              <a:rPr lang="en-US" sz="1700" dirty="0">
                <a:solidFill>
                  <a:srgbClr val="F2F2F8"/>
                </a:solidFill>
                <a:latin typeface="Calibri" pitchFamily="34" charset="0"/>
                <a:ea typeface="Calibri" pitchFamily="34" charset="-122"/>
                <a:cs typeface="Calibri" pitchFamily="34" charset="-120"/>
              </a:rPr>
              <a:t>Hidden layers; recurrent neural networks.</a:t>
            </a:r>
          </a:p>
          <a:p>
            <a:pPr marL="0" indent="0">
              <a:spcAft>
                <a:spcPts val="800"/>
              </a:spcAft>
              <a:buNone/>
            </a:pPr>
            <a:r>
              <a:rPr lang="en-US" sz="1700" b="1" dirty="0">
                <a:solidFill>
                  <a:srgbClr val="5FD0A0"/>
                </a:solidFill>
                <a:latin typeface="Calibri" pitchFamily="34" charset="0"/>
                <a:ea typeface="Calibri" pitchFamily="34" charset="-122"/>
                <a:cs typeface="Calibri" pitchFamily="34" charset="-120"/>
              </a:rPr>
              <a:t>Advantage: </a:t>
            </a:r>
            <a:r>
              <a:rPr lang="en-US" sz="1700" dirty="0">
                <a:solidFill>
                  <a:srgbClr val="F2F2F8"/>
                </a:solidFill>
                <a:latin typeface="Calibri" pitchFamily="34" charset="0"/>
                <a:ea typeface="Calibri" pitchFamily="34" charset="-122"/>
                <a:cs typeface="Calibri" pitchFamily="34" charset="-120"/>
              </a:rPr>
              <a:t>Zero-centered output helps learning.</a:t>
            </a:r>
          </a:p>
          <a:p>
            <a:pPr marL="0" indent="0">
              <a:spcAft>
                <a:spcPts val="800"/>
              </a:spcAft>
              <a:buNone/>
            </a:pPr>
            <a:r>
              <a:rPr lang="en-US" sz="1700" b="1" dirty="0">
                <a:solidFill>
                  <a:srgbClr val="FF8A80"/>
                </a:solidFill>
                <a:latin typeface="Calibri" pitchFamily="34" charset="0"/>
                <a:ea typeface="Calibri" pitchFamily="34" charset="-122"/>
                <a:cs typeface="Calibri" pitchFamily="34" charset="-120"/>
              </a:rPr>
              <a:t>Disadvantage: </a:t>
            </a:r>
            <a:r>
              <a:rPr lang="en-US" sz="1700" dirty="0">
                <a:solidFill>
                  <a:srgbClr val="F2F2F8"/>
                </a:solidFill>
                <a:latin typeface="Calibri" pitchFamily="34" charset="0"/>
                <a:ea typeface="Calibri" pitchFamily="34" charset="-122"/>
                <a:cs typeface="Calibri" pitchFamily="34" charset="-120"/>
              </a:rPr>
              <a:t>Vanishing gradients for large |x|.</a:t>
            </a:r>
          </a:p>
        </p:txBody>
      </p:sp>
      <p:sp>
        <p:nvSpPr>
          <p:cNvPr id="56" name="ReLU (Rectified Linear Unit) Card"/>
          <p:cNvSpPr/>
          <p:nvPr/>
        </p:nvSpPr>
        <p:spPr>
          <a:xfrm>
            <a:off x="6148640" y="1330000"/>
            <a:ext cx="5400000" cy="5020000"/>
          </a:xfrm>
          <a:prstGeom prst="roundRect">
            <a:avLst>
              <a:gd name="adj" fmla="val 4000"/>
            </a:avLst>
          </a:prstGeom>
          <a:solidFill>
            <a:srgbClr val="1C2036"/>
          </a:solidFill>
          <a:ln w="9525">
            <a:solidFill>
              <a:srgbClr val="343A58"/>
            </a:solidFill>
            <a:prstDash val="solid"/>
          </a:ln>
        </p:spPr>
        <p:txBody>
          <a:bodyPr/>
          <a:lstStyle/>
          <a:p>
            <a:endParaRPr lang="en-IN"/>
          </a:p>
        </p:txBody>
      </p:sp>
      <p:sp>
        <p:nvSpPr>
          <p:cNvPr id="57" name="ReLU (Rectified Linear Unit) Number"/>
          <p:cNvSpPr txBox="1"/>
          <p:nvPr/>
        </p:nvSpPr>
        <p:spPr>
          <a:xfrm>
            <a:off x="6348640" y="1500000"/>
            <a:ext cx="520000" cy="520000"/>
          </a:xfrm>
          <a:prstGeom prst="ellipse">
            <a:avLst/>
          </a:prstGeom>
          <a:solidFill>
            <a:srgbClr val="6B76A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p>
        </p:txBody>
      </p:sp>
      <p:sp>
        <p:nvSpPr>
          <p:cNvPr id="58" name="ReLU (Rectified Linear Unit) Heading"/>
          <p:cNvSpPr txBox="1"/>
          <p:nvPr/>
        </p:nvSpPr>
        <p:spPr>
          <a:xfrm>
            <a:off x="7038640" y="1450000"/>
            <a:ext cx="4310000" cy="640000"/>
          </a:xfrm>
          <a:prstGeom prst="rect">
            <a:avLst/>
          </a:prstGeom>
          <a:noFill/>
          <a:ln/>
        </p:spPr>
        <p:txBody>
          <a:bodyPr wrap="square" lIns="0" tIns="0" rIns="0" bIns="0" rtlCol="0" anchor="ctr"/>
          <a:lstStyle/>
          <a:p>
            <a:pPr marL="0" indent="0">
              <a:spcAft>
                <a:spcPts val="200"/>
              </a:spcAft>
              <a:buNone/>
            </a:pPr>
            <a:r>
              <a:rPr lang="en-US" sz="2000" b="1" dirty="0">
                <a:solidFill>
                  <a:srgbClr val="F2F2F8"/>
                </a:solidFill>
                <a:latin typeface="Calibri" pitchFamily="34" charset="0"/>
                <a:ea typeface="Calibri" pitchFamily="34" charset="-122"/>
                <a:cs typeface="Calibri" pitchFamily="34" charset="-120"/>
              </a:rPr>
              <a:t>ReLU (Rectified Linear Unit)</a:t>
            </a:r>
          </a:p>
          <a:p>
            <a:pPr marL="0" indent="0">
              <a:buNone/>
            </a:pPr>
            <a:r>
              <a:rPr lang="en-US" sz="1700" dirty="0">
                <a:solidFill>
                  <a:srgbClr val="D9D6EE"/>
                </a:solidFill>
                <a:latin typeface="Calibri" pitchFamily="34" charset="0"/>
                <a:ea typeface="Calibri" pitchFamily="34" charset="-122"/>
                <a:cs typeface="Calibri" pitchFamily="34" charset="-120"/>
              </a:rPr>
              <a:t>f(x) = max(0, x)</a:t>
            </a:r>
          </a:p>
        </p:txBody>
      </p:sp>
      <p:pic>
        <p:nvPicPr>
          <p:cNvPr id="59" name="ReLU (Rectified Linear Unit) Graph" descr="Graph of ReLU: 0 for negative x, equal to x for positive x"/>
          <p:cNvPicPr>
            <a:picLocks noChangeAspect="1"/>
          </p:cNvPicPr>
          <p:nvPr/>
        </p:nvPicPr>
        <p:blipFill>
          <a:blip r:embed="rId5"/>
          <a:stretch>
            <a:fillRect/>
          </a:stretch>
        </p:blipFill>
        <p:spPr>
          <a:xfrm>
            <a:off x="6348640" y="2230000"/>
            <a:ext cx="5000000" cy="1850000"/>
          </a:xfrm>
          <a:prstGeom prst="rect">
            <a:avLst/>
          </a:prstGeom>
        </p:spPr>
      </p:pic>
      <p:sp>
        <p:nvSpPr>
          <p:cNvPr id="60" name="ReLU (Rectified Linear Unit) Details"/>
          <p:cNvSpPr txBox="1"/>
          <p:nvPr/>
        </p:nvSpPr>
        <p:spPr>
          <a:xfrm>
            <a:off x="6348640" y="4210000"/>
            <a:ext cx="5000000" cy="2020000"/>
          </a:xfrm>
          <a:prstGeom prst="rect">
            <a:avLst/>
          </a:prstGeom>
          <a:noFill/>
          <a:ln/>
        </p:spPr>
        <p:txBody>
          <a:bodyPr wrap="square" lIns="0" tIns="0" rIns="0" bIns="0" rtlCol="0" anchor="t"/>
          <a:lstStyle/>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Definition: </a:t>
            </a:r>
            <a:r>
              <a:rPr lang="en-US" sz="1700" dirty="0">
                <a:solidFill>
                  <a:srgbClr val="F2F2F8"/>
                </a:solidFill>
                <a:latin typeface="Calibri" pitchFamily="34" charset="0"/>
                <a:ea typeface="Calibri" pitchFamily="34" charset="-122"/>
                <a:cs typeface="Calibri" pitchFamily="34" charset="-120"/>
              </a:rPr>
              <a:t>0 for negative inputs, x for positive inputs.</a:t>
            </a:r>
          </a:p>
          <a:p>
            <a:pPr marL="0" indent="0">
              <a:spcAft>
                <a:spcPts val="800"/>
              </a:spcAft>
              <a:buNone/>
            </a:pPr>
            <a:r>
              <a:rPr lang="en-US" sz="1700" b="1" dirty="0">
                <a:solidFill>
                  <a:srgbClr val="D9D6EE"/>
                </a:solidFill>
                <a:latin typeface="Calibri" pitchFamily="34" charset="0"/>
                <a:ea typeface="Calibri" pitchFamily="34" charset="-122"/>
                <a:cs typeface="Calibri" pitchFamily="34" charset="-120"/>
              </a:rPr>
              <a:t>Uses: </a:t>
            </a:r>
            <a:r>
              <a:rPr lang="en-US" sz="1700" dirty="0">
                <a:solidFill>
                  <a:srgbClr val="F2F2F8"/>
                </a:solidFill>
                <a:latin typeface="Calibri" pitchFamily="34" charset="0"/>
                <a:ea typeface="Calibri" pitchFamily="34" charset="-122"/>
                <a:cs typeface="Calibri" pitchFamily="34" charset="-120"/>
              </a:rPr>
              <a:t>Hidden layers of deep neural networks.</a:t>
            </a:r>
          </a:p>
          <a:p>
            <a:pPr marL="0" indent="0">
              <a:spcAft>
                <a:spcPts val="800"/>
              </a:spcAft>
              <a:buNone/>
            </a:pPr>
            <a:r>
              <a:rPr lang="en-US" sz="1700" b="1" dirty="0">
                <a:solidFill>
                  <a:srgbClr val="5FD0A0"/>
                </a:solidFill>
                <a:latin typeface="Calibri" pitchFamily="34" charset="0"/>
                <a:ea typeface="Calibri" pitchFamily="34" charset="-122"/>
                <a:cs typeface="Calibri" pitchFamily="34" charset="-120"/>
              </a:rPr>
              <a:t>Advantage: </a:t>
            </a:r>
            <a:r>
              <a:rPr lang="en-US" sz="1700" dirty="0">
                <a:solidFill>
                  <a:srgbClr val="F2F2F8"/>
                </a:solidFill>
                <a:latin typeface="Calibri" pitchFamily="34" charset="0"/>
                <a:ea typeface="Calibri" pitchFamily="34" charset="-122"/>
                <a:cs typeface="Calibri" pitchFamily="34" charset="-120"/>
              </a:rPr>
              <a:t>Cheap to compute; eases vanishing gradients.</a:t>
            </a:r>
          </a:p>
          <a:p>
            <a:pPr marL="0" indent="0">
              <a:spcAft>
                <a:spcPts val="800"/>
              </a:spcAft>
              <a:buNone/>
            </a:pPr>
            <a:r>
              <a:rPr lang="en-US" sz="1700" b="1" dirty="0">
                <a:solidFill>
                  <a:srgbClr val="FF8A80"/>
                </a:solidFill>
                <a:latin typeface="Calibri" pitchFamily="34" charset="0"/>
                <a:ea typeface="Calibri" pitchFamily="34" charset="-122"/>
                <a:cs typeface="Calibri" pitchFamily="34" charset="-120"/>
              </a:rPr>
              <a:t>Disadvantage: </a:t>
            </a:r>
            <a:r>
              <a:rPr lang="en-US" sz="1700" dirty="0">
                <a:solidFill>
                  <a:srgbClr val="F2F2F8"/>
                </a:solidFill>
                <a:latin typeface="Calibri" pitchFamily="34" charset="0"/>
                <a:ea typeface="Calibri" pitchFamily="34" charset="-122"/>
                <a:cs typeface="Calibri" pitchFamily="34" charset="-120"/>
              </a:rPr>
              <a:t>Dying ReLU: neurons can get stuck at 0.</a:t>
            </a:r>
          </a:p>
        </p:txBody>
      </p:sp>
    </p:spTree>
    <p:extLst>
      <p:ext uri="{BB962C8B-B14F-4D97-AF65-F5344CB8AC3E}">
        <p14:creationId xmlns:p14="http://schemas.microsoft.com/office/powerpoint/2010/main" val="681974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D25771C-7AEA-7307-F316-747DF365EE3F}"/>
            </a:ext>
          </a:extLst>
        </p:cNvPr>
        <p:cNvGrpSpPr/>
        <p:nvPr/>
      </p:nvGrpSpPr>
      <p:grpSpPr>
        <a:xfrm>
          <a:off x="0" y="0"/>
          <a:ext cx="0" cy="0"/>
          <a:chOff x="0" y="0"/>
          <a:chExt cx="0" cy="0"/>
        </a:xfrm>
      </p:grpSpPr>
      <p:sp>
        <p:nvSpPr>
          <p:cNvPr id="17" name="Text 14">
            <a:extLst>
              <a:ext uri="{FF2B5EF4-FFF2-40B4-BE49-F238E27FC236}">
                <a16:creationId xmlns:a16="http://schemas.microsoft.com/office/drawing/2014/main" id="{C66F5A8B-1E4D-831A-A757-94AEF530593B}"/>
              </a:ext>
            </a:extLst>
          </p:cNvPr>
          <p:cNvSpPr txBox="1"/>
          <p:nvPr/>
        </p:nvSpPr>
        <p:spPr>
          <a:xfrm>
            <a:off x="206003" y="446020"/>
            <a:ext cx="11729317"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600" dirty="0">
                <a:solidFill>
                  <a:srgbClr val="F2F2F8"/>
                </a:solidFill>
                <a:latin typeface="Impact" pitchFamily="34" charset="0"/>
                <a:ea typeface="Impact" pitchFamily="34" charset="-122"/>
                <a:cs typeface="Impact" pitchFamily="34" charset="-120"/>
              </a:rPr>
              <a:t>Worked Example: Student Classification (INFERENCE)</a:t>
            </a:r>
          </a:p>
        </p:txBody>
      </p:sp>
      <p:sp>
        <p:nvSpPr>
          <p:cNvPr id="18" name="Step 1 Card">
            <a:extLst>
              <a:ext uri="{FF2B5EF4-FFF2-40B4-BE49-F238E27FC236}">
                <a16:creationId xmlns:a16="http://schemas.microsoft.com/office/drawing/2014/main" id="{613008EB-B8B4-11BC-05EA-129758404387}"/>
              </a:ext>
            </a:extLst>
          </p:cNvPr>
          <p:cNvSpPr/>
          <p:nvPr/>
        </p:nvSpPr>
        <p:spPr>
          <a:xfrm>
            <a:off x="812862" y="1514700"/>
            <a:ext cx="5257800" cy="1500000"/>
          </a:xfrm>
          <a:prstGeom prst="roundRect">
            <a:avLst>
              <a:gd name="adj" fmla="val 10909"/>
            </a:avLst>
          </a:prstGeom>
          <a:solidFill>
            <a:srgbClr val="1C2036"/>
          </a:solidFill>
          <a:ln w="9525">
            <a:solidFill>
              <a:srgbClr val="343A5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19" name="Step 1 Number">
            <a:extLst>
              <a:ext uri="{FF2B5EF4-FFF2-40B4-BE49-F238E27FC236}">
                <a16:creationId xmlns:a16="http://schemas.microsoft.com/office/drawing/2014/main" id="{019B01DB-0195-23E6-DDC9-95ED63EB6F8C}"/>
              </a:ext>
            </a:extLst>
          </p:cNvPr>
          <p:cNvSpPr txBox="1"/>
          <p:nvPr/>
        </p:nvSpPr>
        <p:spPr>
          <a:xfrm>
            <a:off x="1002862" y="1684700"/>
            <a:ext cx="603504" cy="603504"/>
          </a:xfrm>
          <a:prstGeom prst="ellipse">
            <a:avLst/>
          </a:prstGeom>
          <a:solidFill>
            <a:srgbClr val="6B76A6"/>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p>
        </p:txBody>
      </p:sp>
      <p:sp>
        <p:nvSpPr>
          <p:cNvPr id="20" name="Step 1 Text">
            <a:extLst>
              <a:ext uri="{FF2B5EF4-FFF2-40B4-BE49-F238E27FC236}">
                <a16:creationId xmlns:a16="http://schemas.microsoft.com/office/drawing/2014/main" id="{B3BD6AB4-43D4-0C87-DD72-17C35D1284AD}"/>
              </a:ext>
            </a:extLst>
          </p:cNvPr>
          <p:cNvSpPr txBox="1"/>
          <p:nvPr/>
        </p:nvSpPr>
        <p:spPr>
          <a:xfrm>
            <a:off x="1786366" y="1704700"/>
            <a:ext cx="4134296" cy="12000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None/>
            </a:pPr>
            <a:r>
              <a:rPr lang="en-US" sz="1800" b="1" dirty="0">
                <a:solidFill>
                  <a:srgbClr val="F2F2F8"/>
                </a:solidFill>
                <a:latin typeface="Calibri" pitchFamily="34" charset="0"/>
                <a:ea typeface="Calibri" pitchFamily="34" charset="-122"/>
                <a:cs typeface="Calibri" pitchFamily="34" charset="-120"/>
              </a:rPr>
              <a:t>Input features</a:t>
            </a:r>
          </a:p>
          <a:p>
            <a:pPr marL="0" indent="0">
              <a:spcAft>
                <a:spcPts val="300"/>
              </a:spcAft>
              <a:buNone/>
            </a:pPr>
            <a:r>
              <a:rPr lang="en-US" sz="1800" dirty="0">
                <a:solidFill>
                  <a:srgbClr val="F2F2F8"/>
                </a:solidFill>
                <a:latin typeface="Calibri" pitchFamily="34" charset="0"/>
                <a:ea typeface="Calibri" pitchFamily="34" charset="-122"/>
                <a:cs typeface="Calibri" pitchFamily="34" charset="-120"/>
              </a:rPr>
              <a:t>IQ = 120  →  Input x₁ = 120</a:t>
            </a:r>
          </a:p>
          <a:p>
            <a:pPr marL="0" indent="0">
              <a:spcAft>
                <a:spcPts val="300"/>
              </a:spcAft>
              <a:buNone/>
            </a:pPr>
            <a:r>
              <a:rPr lang="en-US" sz="1800" dirty="0">
                <a:solidFill>
                  <a:srgbClr val="F2F2F8"/>
                </a:solidFill>
                <a:latin typeface="Calibri" pitchFamily="34" charset="0"/>
                <a:ea typeface="Calibri" pitchFamily="34" charset="-122"/>
                <a:cs typeface="Calibri" pitchFamily="34" charset="-120"/>
              </a:rPr>
              <a:t>CGPA = 8.5  →  Input x₂ = 8.5</a:t>
            </a:r>
          </a:p>
        </p:txBody>
      </p:sp>
      <p:sp>
        <p:nvSpPr>
          <p:cNvPr id="21" name="Step 2 Card">
            <a:extLst>
              <a:ext uri="{FF2B5EF4-FFF2-40B4-BE49-F238E27FC236}">
                <a16:creationId xmlns:a16="http://schemas.microsoft.com/office/drawing/2014/main" id="{54D43CF4-A45C-064C-12B9-6886FC5CEA2B}"/>
              </a:ext>
            </a:extLst>
          </p:cNvPr>
          <p:cNvSpPr/>
          <p:nvPr/>
        </p:nvSpPr>
        <p:spPr>
          <a:xfrm>
            <a:off x="6280974" y="1514700"/>
            <a:ext cx="5257800" cy="1500000"/>
          </a:xfrm>
          <a:prstGeom prst="roundRect">
            <a:avLst>
              <a:gd name="adj" fmla="val 10909"/>
            </a:avLst>
          </a:prstGeom>
          <a:solidFill>
            <a:srgbClr val="1C2036"/>
          </a:solidFill>
          <a:ln w="9525">
            <a:solidFill>
              <a:srgbClr val="343A5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22" name="Step 2 Number">
            <a:extLst>
              <a:ext uri="{FF2B5EF4-FFF2-40B4-BE49-F238E27FC236}">
                <a16:creationId xmlns:a16="http://schemas.microsoft.com/office/drawing/2014/main" id="{AC00C837-AAC8-7AD0-C4BA-8D152563E4AF}"/>
              </a:ext>
            </a:extLst>
          </p:cNvPr>
          <p:cNvSpPr txBox="1"/>
          <p:nvPr/>
        </p:nvSpPr>
        <p:spPr>
          <a:xfrm>
            <a:off x="6470974" y="1684700"/>
            <a:ext cx="603504" cy="603504"/>
          </a:xfrm>
          <a:prstGeom prst="ellipse">
            <a:avLst/>
          </a:prstGeom>
          <a:solidFill>
            <a:srgbClr val="6B76A6"/>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p>
        </p:txBody>
      </p:sp>
      <p:sp>
        <p:nvSpPr>
          <p:cNvPr id="23" name="Step 2 Text">
            <a:extLst>
              <a:ext uri="{FF2B5EF4-FFF2-40B4-BE49-F238E27FC236}">
                <a16:creationId xmlns:a16="http://schemas.microsoft.com/office/drawing/2014/main" id="{F65DEF04-1108-6BD0-9F6A-220CD76C69B5}"/>
              </a:ext>
            </a:extLst>
          </p:cNvPr>
          <p:cNvSpPr txBox="1"/>
          <p:nvPr/>
        </p:nvSpPr>
        <p:spPr>
          <a:xfrm>
            <a:off x="7254478" y="1704700"/>
            <a:ext cx="4134296" cy="12000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None/>
            </a:pPr>
            <a:r>
              <a:rPr lang="en-US" sz="1800" b="1" dirty="0">
                <a:solidFill>
                  <a:srgbClr val="F2F2F8"/>
                </a:solidFill>
                <a:latin typeface="Calibri" pitchFamily="34" charset="0"/>
                <a:ea typeface="Calibri" pitchFamily="34" charset="-122"/>
                <a:cs typeface="Calibri" pitchFamily="34" charset="-120"/>
              </a:rPr>
              <a:t>Weights and </a:t>
            </a:r>
            <a:r>
              <a:rPr lang="en-US" b="1" dirty="0">
                <a:solidFill>
                  <a:srgbClr val="F2F2F8"/>
                </a:solidFill>
                <a:latin typeface="Calibri" pitchFamily="34" charset="0"/>
                <a:ea typeface="Calibri" pitchFamily="34" charset="-122"/>
                <a:cs typeface="Calibri" pitchFamily="34" charset="-120"/>
              </a:rPr>
              <a:t>B</a:t>
            </a:r>
            <a:r>
              <a:rPr lang="en-US" sz="1800" b="1" dirty="0">
                <a:solidFill>
                  <a:srgbClr val="F2F2F8"/>
                </a:solidFill>
                <a:latin typeface="Calibri" pitchFamily="34" charset="0"/>
                <a:ea typeface="Calibri" pitchFamily="34" charset="-122"/>
                <a:cs typeface="Calibri" pitchFamily="34" charset="-120"/>
              </a:rPr>
              <a:t>ias after training</a:t>
            </a:r>
          </a:p>
          <a:p>
            <a:pPr marL="0" indent="0">
              <a:spcAft>
                <a:spcPts val="300"/>
              </a:spcAft>
              <a:buNone/>
            </a:pPr>
            <a:r>
              <a:rPr lang="en-US" sz="1800" dirty="0">
                <a:solidFill>
                  <a:srgbClr val="F2F2F8"/>
                </a:solidFill>
                <a:latin typeface="Calibri" pitchFamily="34" charset="0"/>
                <a:ea typeface="Calibri" pitchFamily="34" charset="-122"/>
                <a:cs typeface="Calibri" pitchFamily="34" charset="-120"/>
              </a:rPr>
              <a:t>w₁ = 0.01,   w₂ = 0.1</a:t>
            </a:r>
          </a:p>
          <a:p>
            <a:pPr marL="0" indent="0">
              <a:spcAft>
                <a:spcPts val="300"/>
              </a:spcAft>
              <a:buNone/>
            </a:pPr>
            <a:r>
              <a:rPr lang="en-US" sz="1800" dirty="0">
                <a:solidFill>
                  <a:srgbClr val="F2F2F8"/>
                </a:solidFill>
                <a:latin typeface="Calibri" pitchFamily="34" charset="0"/>
                <a:ea typeface="Calibri" pitchFamily="34" charset="-122"/>
                <a:cs typeface="Calibri" pitchFamily="34" charset="-120"/>
              </a:rPr>
              <a:t>b = −2</a:t>
            </a:r>
          </a:p>
        </p:txBody>
      </p:sp>
      <p:sp>
        <p:nvSpPr>
          <p:cNvPr id="24" name="Step 3 Card">
            <a:extLst>
              <a:ext uri="{FF2B5EF4-FFF2-40B4-BE49-F238E27FC236}">
                <a16:creationId xmlns:a16="http://schemas.microsoft.com/office/drawing/2014/main" id="{09C62655-5F61-E5F0-28CC-CB6330A5C495}"/>
              </a:ext>
            </a:extLst>
          </p:cNvPr>
          <p:cNvSpPr/>
          <p:nvPr/>
        </p:nvSpPr>
        <p:spPr>
          <a:xfrm>
            <a:off x="812862" y="3214700"/>
            <a:ext cx="5257800" cy="1950000"/>
          </a:xfrm>
          <a:prstGeom prst="roundRect">
            <a:avLst>
              <a:gd name="adj" fmla="val 10909"/>
            </a:avLst>
          </a:prstGeom>
          <a:solidFill>
            <a:srgbClr val="1C2036"/>
          </a:solidFill>
          <a:ln w="9525">
            <a:solidFill>
              <a:srgbClr val="343A5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25" name="Step 3 Number">
            <a:extLst>
              <a:ext uri="{FF2B5EF4-FFF2-40B4-BE49-F238E27FC236}">
                <a16:creationId xmlns:a16="http://schemas.microsoft.com/office/drawing/2014/main" id="{AEBAAC30-D596-3361-CFE5-3246BE177C00}"/>
              </a:ext>
            </a:extLst>
          </p:cNvPr>
          <p:cNvSpPr txBox="1"/>
          <p:nvPr/>
        </p:nvSpPr>
        <p:spPr>
          <a:xfrm>
            <a:off x="1002862" y="3384700"/>
            <a:ext cx="603504" cy="603504"/>
          </a:xfrm>
          <a:prstGeom prst="ellipse">
            <a:avLst/>
          </a:prstGeom>
          <a:solidFill>
            <a:srgbClr val="6B76A6"/>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p>
        </p:txBody>
      </p:sp>
      <p:sp>
        <p:nvSpPr>
          <p:cNvPr id="26" name="Step 3 Text">
            <a:extLst>
              <a:ext uri="{FF2B5EF4-FFF2-40B4-BE49-F238E27FC236}">
                <a16:creationId xmlns:a16="http://schemas.microsoft.com/office/drawing/2014/main" id="{D9CB9F3B-72C6-81EA-C272-5F0E2CC461C3}"/>
              </a:ext>
            </a:extLst>
          </p:cNvPr>
          <p:cNvSpPr txBox="1"/>
          <p:nvPr/>
        </p:nvSpPr>
        <p:spPr>
          <a:xfrm>
            <a:off x="1786366" y="3404700"/>
            <a:ext cx="4134296" cy="16500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None/>
            </a:pPr>
            <a:r>
              <a:rPr lang="en-US" sz="1800" b="1" dirty="0">
                <a:solidFill>
                  <a:srgbClr val="F2F2F8"/>
                </a:solidFill>
                <a:latin typeface="Calibri" pitchFamily="34" charset="0"/>
                <a:ea typeface="Calibri" pitchFamily="34" charset="-122"/>
                <a:cs typeface="Calibri" pitchFamily="34" charset="-120"/>
              </a:rPr>
              <a:t>Calculate the weighted sum</a:t>
            </a:r>
          </a:p>
          <a:p>
            <a:pPr marL="0" indent="0">
              <a:spcAft>
                <a:spcPts val="300"/>
              </a:spcAft>
              <a:buNone/>
            </a:pPr>
            <a:r>
              <a:rPr lang="en-US" sz="1800" dirty="0">
                <a:solidFill>
                  <a:srgbClr val="A9AFC8"/>
                </a:solidFill>
                <a:latin typeface="Calibri" pitchFamily="34" charset="0"/>
                <a:ea typeface="Calibri" pitchFamily="34" charset="-122"/>
                <a:cs typeface="Calibri" pitchFamily="34" charset="-120"/>
              </a:rPr>
              <a:t>z = w₁x₁ + w₂x₂ + b</a:t>
            </a:r>
          </a:p>
          <a:p>
            <a:pPr marL="0" indent="0">
              <a:spcAft>
                <a:spcPts val="300"/>
              </a:spcAft>
              <a:buNone/>
            </a:pPr>
            <a:r>
              <a:rPr lang="en-US" sz="1800" dirty="0">
                <a:solidFill>
                  <a:srgbClr val="F2F2F8"/>
                </a:solidFill>
                <a:latin typeface="Calibri" pitchFamily="34" charset="0"/>
                <a:ea typeface="Calibri" pitchFamily="34" charset="-122"/>
                <a:cs typeface="Calibri" pitchFamily="34" charset="-120"/>
              </a:rPr>
              <a:t>z = (0.01)(120) + (0.1)(8.5) − 2</a:t>
            </a:r>
          </a:p>
          <a:p>
            <a:pPr marL="0" indent="0">
              <a:spcAft>
                <a:spcPts val="300"/>
              </a:spcAft>
              <a:buNone/>
            </a:pPr>
            <a:r>
              <a:rPr lang="en-US" sz="1800" dirty="0">
                <a:solidFill>
                  <a:srgbClr val="F2F2F8"/>
                </a:solidFill>
                <a:latin typeface="Calibri" pitchFamily="34" charset="0"/>
                <a:ea typeface="Calibri" pitchFamily="34" charset="-122"/>
                <a:cs typeface="Calibri" pitchFamily="34" charset="-120"/>
              </a:rPr>
              <a:t>z = 1.2 + 0.85 − 2 = </a:t>
            </a:r>
            <a:r>
              <a:rPr lang="en-US" sz="1800" b="1" dirty="0">
                <a:solidFill>
                  <a:srgbClr val="5FD0A0"/>
                </a:solidFill>
                <a:latin typeface="Calibri" pitchFamily="34" charset="0"/>
                <a:ea typeface="Calibri" pitchFamily="34" charset="-122"/>
                <a:cs typeface="Calibri" pitchFamily="34" charset="-120"/>
              </a:rPr>
              <a:t>0.05</a:t>
            </a:r>
          </a:p>
        </p:txBody>
      </p:sp>
      <p:sp>
        <p:nvSpPr>
          <p:cNvPr id="27" name="Step 4 Card">
            <a:extLst>
              <a:ext uri="{FF2B5EF4-FFF2-40B4-BE49-F238E27FC236}">
                <a16:creationId xmlns:a16="http://schemas.microsoft.com/office/drawing/2014/main" id="{C3F0695D-0F8A-203B-7F6C-B0BC189894A5}"/>
              </a:ext>
            </a:extLst>
          </p:cNvPr>
          <p:cNvSpPr/>
          <p:nvPr/>
        </p:nvSpPr>
        <p:spPr>
          <a:xfrm>
            <a:off x="6280974" y="3214700"/>
            <a:ext cx="5257800" cy="1950000"/>
          </a:xfrm>
          <a:prstGeom prst="roundRect">
            <a:avLst>
              <a:gd name="adj" fmla="val 10909"/>
            </a:avLst>
          </a:prstGeom>
          <a:solidFill>
            <a:srgbClr val="1C2036"/>
          </a:solidFill>
          <a:ln w="9525">
            <a:solidFill>
              <a:srgbClr val="343A5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28" name="Step 4 Number">
            <a:extLst>
              <a:ext uri="{FF2B5EF4-FFF2-40B4-BE49-F238E27FC236}">
                <a16:creationId xmlns:a16="http://schemas.microsoft.com/office/drawing/2014/main" id="{BC8F9D8F-B26D-E32A-189B-A409E5864251}"/>
              </a:ext>
            </a:extLst>
          </p:cNvPr>
          <p:cNvSpPr txBox="1"/>
          <p:nvPr/>
        </p:nvSpPr>
        <p:spPr>
          <a:xfrm>
            <a:off x="6470974" y="3384700"/>
            <a:ext cx="603504" cy="603504"/>
          </a:xfrm>
          <a:prstGeom prst="ellipse">
            <a:avLst/>
          </a:prstGeom>
          <a:solidFill>
            <a:srgbClr val="6B76A6"/>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p>
        </p:txBody>
      </p:sp>
      <p:sp>
        <p:nvSpPr>
          <p:cNvPr id="29" name="Step 4 Text">
            <a:extLst>
              <a:ext uri="{FF2B5EF4-FFF2-40B4-BE49-F238E27FC236}">
                <a16:creationId xmlns:a16="http://schemas.microsoft.com/office/drawing/2014/main" id="{9C17D0CD-C4ED-A18A-8880-4B913DF3F48F}"/>
              </a:ext>
            </a:extLst>
          </p:cNvPr>
          <p:cNvSpPr txBox="1"/>
          <p:nvPr/>
        </p:nvSpPr>
        <p:spPr>
          <a:xfrm>
            <a:off x="7254478" y="3404700"/>
            <a:ext cx="4134296" cy="165000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None/>
            </a:pPr>
            <a:r>
              <a:rPr lang="en-US" sz="1800" b="1" dirty="0">
                <a:solidFill>
                  <a:srgbClr val="F2F2F8"/>
                </a:solidFill>
                <a:latin typeface="Calibri" pitchFamily="34" charset="0"/>
                <a:ea typeface="Calibri" pitchFamily="34" charset="-122"/>
                <a:cs typeface="Calibri" pitchFamily="34" charset="-120"/>
              </a:rPr>
              <a:t>Apply the step activation function</a:t>
            </a:r>
          </a:p>
          <a:p>
            <a:pPr marL="0" indent="0">
              <a:spcAft>
                <a:spcPts val="300"/>
              </a:spcAft>
              <a:buNone/>
            </a:pPr>
            <a:r>
              <a:rPr lang="en-US" sz="1800" dirty="0">
                <a:solidFill>
                  <a:srgbClr val="F2F2F8"/>
                </a:solidFill>
                <a:latin typeface="Calibri" pitchFamily="34" charset="0"/>
                <a:ea typeface="Calibri" pitchFamily="34" charset="-122"/>
                <a:cs typeface="Calibri" pitchFamily="34" charset="-120"/>
              </a:rPr>
              <a:t>Since z = 0.05 ≥ 0,</a:t>
            </a:r>
          </a:p>
          <a:p>
            <a:pPr marL="0" indent="0">
              <a:spcAft>
                <a:spcPts val="300"/>
              </a:spcAft>
              <a:buNone/>
            </a:pPr>
            <a:r>
              <a:rPr lang="en-US" sz="2000" b="1" dirty="0">
                <a:solidFill>
                  <a:srgbClr val="5FD0A0"/>
                </a:solidFill>
                <a:latin typeface="Calibri" pitchFamily="34" charset="0"/>
                <a:ea typeface="Calibri" pitchFamily="34" charset="-122"/>
                <a:cs typeface="Calibri" pitchFamily="34" charset="-120"/>
              </a:rPr>
              <a:t>y = 1</a:t>
            </a:r>
          </a:p>
        </p:txBody>
      </p:sp>
      <p:sp>
        <p:nvSpPr>
          <p:cNvPr id="30" name="Prediction Card">
            <a:extLst>
              <a:ext uri="{FF2B5EF4-FFF2-40B4-BE49-F238E27FC236}">
                <a16:creationId xmlns:a16="http://schemas.microsoft.com/office/drawing/2014/main" id="{F7431C9A-B8DC-E44D-3B42-B721C7002EB6}"/>
              </a:ext>
            </a:extLst>
          </p:cNvPr>
          <p:cNvSpPr/>
          <p:nvPr/>
        </p:nvSpPr>
        <p:spPr>
          <a:xfrm>
            <a:off x="812862" y="5364700"/>
            <a:ext cx="10725912" cy="1000000"/>
          </a:xfrm>
          <a:prstGeom prst="roundRect">
            <a:avLst>
              <a:gd name="adj" fmla="val 10000"/>
            </a:avLst>
          </a:prstGeom>
          <a:solidFill>
            <a:srgbClr val="3B4366"/>
          </a:solidFill>
          <a:ln w="9525">
            <a:solidFill>
              <a:srgbClr val="3B436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31" name="Prediction Text">
            <a:extLst>
              <a:ext uri="{FF2B5EF4-FFF2-40B4-BE49-F238E27FC236}">
                <a16:creationId xmlns:a16="http://schemas.microsoft.com/office/drawing/2014/main" id="{BBF4B6AB-ED1C-83F1-38E8-E6E56CEA11C8}"/>
              </a:ext>
            </a:extLst>
          </p:cNvPr>
          <p:cNvSpPr txBox="1"/>
          <p:nvPr/>
        </p:nvSpPr>
        <p:spPr>
          <a:xfrm>
            <a:off x="1096862" y="5364700"/>
            <a:ext cx="10157912" cy="100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900" b="1" dirty="0">
                <a:solidFill>
                  <a:srgbClr val="D9D6EE"/>
                </a:solidFill>
                <a:latin typeface="Calibri" pitchFamily="34" charset="0"/>
                <a:ea typeface="Calibri" pitchFamily="34" charset="-122"/>
                <a:cs typeface="Calibri" pitchFamily="34" charset="-120"/>
              </a:rPr>
              <a:t>Prediction</a:t>
            </a:r>
          </a:p>
          <a:p>
            <a:pPr marL="0" indent="0">
              <a:buNone/>
            </a:pPr>
            <a:r>
              <a:rPr lang="en-US" sz="2050" dirty="0">
                <a:solidFill>
                  <a:srgbClr val="FFFFFF"/>
                </a:solidFill>
                <a:latin typeface="Calibri" pitchFamily="34" charset="0"/>
                <a:ea typeface="Calibri" pitchFamily="34" charset="-122"/>
                <a:cs typeface="Calibri" pitchFamily="34" charset="-120"/>
              </a:rPr>
              <a:t>Placement = </a:t>
            </a:r>
            <a:r>
              <a:rPr lang="en-US" sz="2050" b="1" dirty="0">
                <a:solidFill>
                  <a:srgbClr val="5FD0A0"/>
                </a:solidFill>
                <a:latin typeface="Calibri" pitchFamily="34" charset="0"/>
                <a:ea typeface="Calibri" pitchFamily="34" charset="-122"/>
                <a:cs typeface="Calibri" pitchFamily="34" charset="-120"/>
              </a:rPr>
              <a:t>Yes (Class 1)</a:t>
            </a:r>
          </a:p>
        </p:txBody>
      </p:sp>
    </p:spTree>
    <p:extLst>
      <p:ext uri="{BB962C8B-B14F-4D97-AF65-F5344CB8AC3E}">
        <p14:creationId xmlns:p14="http://schemas.microsoft.com/office/powerpoint/2010/main" val="383964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167951" y="210312"/>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Training Algorithm</a:t>
            </a:r>
            <a:endParaRPr lang="en-US" sz="4000" dirty="0"/>
          </a:p>
        </p:txBody>
      </p:sp>
      <p:sp>
        <p:nvSpPr>
          <p:cNvPr id="18" name="Text 16"/>
          <p:cNvSpPr txBox="1"/>
          <p:nvPr/>
        </p:nvSpPr>
        <p:spPr>
          <a:xfrm>
            <a:off x="569167" y="1188720"/>
            <a:ext cx="548640" cy="54864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9" name="Text 17"/>
          <p:cNvSpPr txBox="1"/>
          <p:nvPr/>
        </p:nvSpPr>
        <p:spPr>
          <a:xfrm>
            <a:off x="1310018" y="1040923"/>
            <a:ext cx="4206240" cy="777240"/>
          </a:xfrm>
          <a:prstGeom prst="rect">
            <a:avLst/>
          </a:prstGeom>
          <a:noFill/>
          <a:ln/>
        </p:spPr>
        <p:txBody>
          <a:bodyPr wrap="square" lIns="0" tIns="0" rIns="0" bIns="0" rtlCol="0" anchor="ctr"/>
          <a:lstStyle/>
          <a:p>
            <a:pPr marL="0" indent="0">
              <a:buNone/>
            </a:pPr>
            <a:r>
              <a:rPr lang="en-US" sz="2100" dirty="0">
                <a:solidFill>
                  <a:srgbClr val="F2F2F8"/>
                </a:solidFill>
                <a:latin typeface="Calibri" pitchFamily="34" charset="0"/>
                <a:ea typeface="Calibri" pitchFamily="34" charset="-122"/>
                <a:cs typeface="Calibri" pitchFamily="34" charset="-120"/>
              </a:rPr>
              <a:t>Initialize weights and bias</a:t>
            </a:r>
            <a:endParaRPr lang="en-US" sz="2100" dirty="0"/>
          </a:p>
        </p:txBody>
      </p:sp>
      <p:sp>
        <p:nvSpPr>
          <p:cNvPr id="33" name="Shape 15">
            <a:extLst>
              <a:ext uri="{FF2B5EF4-FFF2-40B4-BE49-F238E27FC236}">
                <a16:creationId xmlns:a16="http://schemas.microsoft.com/office/drawing/2014/main" id="{668049AA-C36F-2422-9778-B1336B7765B4}"/>
              </a:ext>
            </a:extLst>
          </p:cNvPr>
          <p:cNvSpPr/>
          <p:nvPr/>
        </p:nvSpPr>
        <p:spPr>
          <a:xfrm>
            <a:off x="1188720" y="1737359"/>
            <a:ext cx="10753344" cy="1117808"/>
          </a:xfrm>
          <a:prstGeom prst="roundRect">
            <a:avLst>
              <a:gd name="adj" fmla="val 14118"/>
            </a:avLst>
          </a:prstGeom>
          <a:solidFill>
            <a:srgbClr val="1C2036"/>
          </a:solidFill>
          <a:ln w="9525">
            <a:solidFill>
              <a:srgbClr val="343A58"/>
            </a:solidFill>
            <a:prstDash val="solid"/>
          </a:ln>
        </p:spPr>
        <p:txBody>
          <a:bodyPr/>
          <a:lstStyle/>
          <a:p>
            <a:r>
              <a:rPr lang="en-IN" sz="2000" dirty="0">
                <a:solidFill>
                  <a:schemeClr val="bg2"/>
                </a:solidFill>
              </a:rPr>
              <a:t>Initialize to </a:t>
            </a:r>
            <a:r>
              <a:rPr lang="en-IN" sz="2000" b="1" dirty="0">
                <a:solidFill>
                  <a:schemeClr val="bg2"/>
                </a:solidFill>
              </a:rPr>
              <a:t>zeros</a:t>
            </a:r>
            <a:r>
              <a:rPr lang="en-IN" sz="2000" dirty="0">
                <a:solidFill>
                  <a:schemeClr val="bg2"/>
                </a:solidFill>
              </a:rPr>
              <a:t> or </a:t>
            </a:r>
            <a:r>
              <a:rPr lang="en-IN" sz="2000" b="1" dirty="0">
                <a:solidFill>
                  <a:schemeClr val="bg2"/>
                </a:solidFill>
              </a:rPr>
              <a:t>small random values</a:t>
            </a:r>
            <a:r>
              <a:rPr lang="en-IN" sz="2000" dirty="0">
                <a:solidFill>
                  <a:schemeClr val="bg2"/>
                </a:solidFill>
              </a:rPr>
              <a:t> because no complex algorithm is required, the </a:t>
            </a:r>
            <a:r>
              <a:rPr lang="en-IN" sz="2000" b="1" dirty="0">
                <a:solidFill>
                  <a:schemeClr val="bg2"/>
                </a:solidFill>
              </a:rPr>
              <a:t>Perceptron Convergence Theorem</a:t>
            </a:r>
            <a:r>
              <a:rPr lang="en-IN" sz="2000" dirty="0">
                <a:solidFill>
                  <a:schemeClr val="bg2"/>
                </a:solidFill>
              </a:rPr>
              <a:t> guarantees the model will converge to the correct weights anyway if the data is linearly separable</a:t>
            </a:r>
          </a:p>
        </p:txBody>
      </p:sp>
      <p:sp>
        <p:nvSpPr>
          <p:cNvPr id="45" name="Text 19">
            <a:extLst>
              <a:ext uri="{FF2B5EF4-FFF2-40B4-BE49-F238E27FC236}">
                <a16:creationId xmlns:a16="http://schemas.microsoft.com/office/drawing/2014/main" id="{C1FDE5A0-5DE4-D40F-8162-E126E2981803}"/>
              </a:ext>
            </a:extLst>
          </p:cNvPr>
          <p:cNvSpPr txBox="1"/>
          <p:nvPr/>
        </p:nvSpPr>
        <p:spPr>
          <a:xfrm>
            <a:off x="578498" y="3012481"/>
            <a:ext cx="548640" cy="54864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7" name="Text 20">
            <a:extLst>
              <a:ext uri="{FF2B5EF4-FFF2-40B4-BE49-F238E27FC236}">
                <a16:creationId xmlns:a16="http://schemas.microsoft.com/office/drawing/2014/main" id="{8E41258B-5B9D-82FA-B5CD-19927A5C54E5}"/>
              </a:ext>
            </a:extLst>
          </p:cNvPr>
          <p:cNvSpPr txBox="1"/>
          <p:nvPr/>
        </p:nvSpPr>
        <p:spPr>
          <a:xfrm>
            <a:off x="1310018" y="2902753"/>
            <a:ext cx="4206240" cy="777240"/>
          </a:xfrm>
          <a:prstGeom prst="rect">
            <a:avLst/>
          </a:prstGeom>
          <a:noFill/>
          <a:ln/>
        </p:spPr>
        <p:txBody>
          <a:bodyPr wrap="square" lIns="0" tIns="0" rIns="0" bIns="0" rtlCol="0" anchor="ctr"/>
          <a:lstStyle/>
          <a:p>
            <a:pPr marL="0" indent="0">
              <a:buNone/>
            </a:pPr>
            <a:r>
              <a:rPr lang="en-US" sz="2050" dirty="0">
                <a:solidFill>
                  <a:srgbClr val="F2F2F8"/>
                </a:solidFill>
                <a:latin typeface="Calibri" pitchFamily="34" charset="0"/>
                <a:ea typeface="Calibri" pitchFamily="34" charset="-122"/>
                <a:cs typeface="Calibri" pitchFamily="34" charset="-120"/>
              </a:rPr>
              <a:t>Pick a labelled pattern</a:t>
            </a:r>
            <a:endParaRPr lang="en-US" sz="2050" dirty="0"/>
          </a:p>
        </p:txBody>
      </p:sp>
      <p:sp>
        <p:nvSpPr>
          <p:cNvPr id="49" name="Shape 18">
            <a:extLst>
              <a:ext uri="{FF2B5EF4-FFF2-40B4-BE49-F238E27FC236}">
                <a16:creationId xmlns:a16="http://schemas.microsoft.com/office/drawing/2014/main" id="{117D22CD-8785-9C88-B8E1-ECE75982D869}"/>
              </a:ext>
            </a:extLst>
          </p:cNvPr>
          <p:cNvSpPr/>
          <p:nvPr/>
        </p:nvSpPr>
        <p:spPr>
          <a:xfrm>
            <a:off x="1188720" y="3679993"/>
            <a:ext cx="10753344" cy="536511"/>
          </a:xfrm>
          <a:prstGeom prst="roundRect">
            <a:avLst>
              <a:gd name="adj" fmla="val 14118"/>
            </a:avLst>
          </a:prstGeom>
          <a:solidFill>
            <a:srgbClr val="1C2036"/>
          </a:solidFill>
          <a:ln w="9525">
            <a:solidFill>
              <a:srgbClr val="343A58"/>
            </a:solidFill>
            <a:prstDash val="solid"/>
          </a:ln>
        </p:spPr>
        <p:txBody>
          <a:bodyPr/>
          <a:lstStyle/>
          <a:p>
            <a:r>
              <a:rPr lang="en-IN" sz="2000" dirty="0">
                <a:solidFill>
                  <a:schemeClr val="bg2"/>
                </a:solidFill>
              </a:rPr>
              <a:t>pick a single input vector (the </a:t>
            </a:r>
            <a:r>
              <a:rPr lang="en-IN" sz="2000" b="1" dirty="0">
                <a:solidFill>
                  <a:schemeClr val="bg2"/>
                </a:solidFill>
              </a:rPr>
              <a:t>pattern</a:t>
            </a:r>
            <a:r>
              <a:rPr lang="en-IN" sz="2000" dirty="0">
                <a:solidFill>
                  <a:schemeClr val="bg2"/>
                </a:solidFill>
              </a:rPr>
              <a:t>) and its correct output (the </a:t>
            </a:r>
            <a:r>
              <a:rPr lang="en-IN" sz="2000" b="1" dirty="0">
                <a:solidFill>
                  <a:schemeClr val="bg2"/>
                </a:solidFill>
              </a:rPr>
              <a:t>label</a:t>
            </a:r>
            <a:r>
              <a:rPr lang="en-IN" sz="2000" dirty="0">
                <a:solidFill>
                  <a:schemeClr val="bg2"/>
                </a:solidFill>
              </a:rPr>
              <a:t>) from your training dataset</a:t>
            </a:r>
          </a:p>
        </p:txBody>
      </p:sp>
      <p:sp>
        <p:nvSpPr>
          <p:cNvPr id="61" name="Text 22">
            <a:extLst>
              <a:ext uri="{FF2B5EF4-FFF2-40B4-BE49-F238E27FC236}">
                <a16:creationId xmlns:a16="http://schemas.microsoft.com/office/drawing/2014/main" id="{39144722-BF08-6E90-4923-AA07DD5A937E}"/>
              </a:ext>
            </a:extLst>
          </p:cNvPr>
          <p:cNvSpPr txBox="1"/>
          <p:nvPr/>
        </p:nvSpPr>
        <p:spPr>
          <a:xfrm>
            <a:off x="578498" y="4433161"/>
            <a:ext cx="548640" cy="54864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63" name="Text 23">
            <a:extLst>
              <a:ext uri="{FF2B5EF4-FFF2-40B4-BE49-F238E27FC236}">
                <a16:creationId xmlns:a16="http://schemas.microsoft.com/office/drawing/2014/main" id="{9E5A3692-2DD6-8E9E-BB5E-AE7681BB116B}"/>
              </a:ext>
            </a:extLst>
          </p:cNvPr>
          <p:cNvSpPr txBox="1"/>
          <p:nvPr/>
        </p:nvSpPr>
        <p:spPr>
          <a:xfrm>
            <a:off x="1310018" y="4318861"/>
            <a:ext cx="4206240" cy="777240"/>
          </a:xfrm>
          <a:prstGeom prst="rect">
            <a:avLst/>
          </a:prstGeom>
          <a:noFill/>
          <a:ln/>
        </p:spPr>
        <p:txBody>
          <a:bodyPr wrap="square" lIns="0" tIns="0" rIns="0" bIns="0" rtlCol="0" anchor="ctr"/>
          <a:lstStyle/>
          <a:p>
            <a:pPr marL="0" indent="0">
              <a:buNone/>
            </a:pPr>
            <a:r>
              <a:rPr lang="en-US" sz="2050" dirty="0">
                <a:solidFill>
                  <a:srgbClr val="F2F2F8"/>
                </a:solidFill>
                <a:latin typeface="Calibri" pitchFamily="34" charset="0"/>
                <a:ea typeface="Calibri" pitchFamily="34" charset="-122"/>
                <a:cs typeface="Calibri" pitchFamily="34" charset="-120"/>
              </a:rPr>
              <a:t>Compute z = Σ wᵢxᵢ + b</a:t>
            </a:r>
            <a:endParaRPr lang="en-US" sz="2050" dirty="0"/>
          </a:p>
        </p:txBody>
      </p:sp>
      <p:sp>
        <p:nvSpPr>
          <p:cNvPr id="65" name="Shape 21">
            <a:extLst>
              <a:ext uri="{FF2B5EF4-FFF2-40B4-BE49-F238E27FC236}">
                <a16:creationId xmlns:a16="http://schemas.microsoft.com/office/drawing/2014/main" id="{775B601E-1A2D-9D84-D87A-6777C20EE920}"/>
              </a:ext>
            </a:extLst>
          </p:cNvPr>
          <p:cNvSpPr/>
          <p:nvPr/>
        </p:nvSpPr>
        <p:spPr>
          <a:xfrm>
            <a:off x="1188720" y="4993744"/>
            <a:ext cx="10753344" cy="777240"/>
          </a:xfrm>
          <a:prstGeom prst="roundRect">
            <a:avLst>
              <a:gd name="adj" fmla="val 14118"/>
            </a:avLst>
          </a:prstGeom>
          <a:solidFill>
            <a:srgbClr val="1C2036"/>
          </a:solidFill>
          <a:ln w="9525">
            <a:solidFill>
              <a:srgbClr val="343A58"/>
            </a:solidFill>
            <a:prstDash val="solid"/>
          </a:ln>
        </p:spPr>
        <p:txBody>
          <a:bodyPr/>
          <a:lstStyle/>
          <a:p>
            <a:r>
              <a:rPr lang="en-IN" sz="2000" dirty="0">
                <a:solidFill>
                  <a:schemeClr val="bg2"/>
                </a:solidFill>
              </a:rPr>
              <a:t>Calculates the total net value by summing up the combined influences of all inputs before passing the result to the activation function. ( note – perceptron convergence theorem )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F534A01-BE7A-2C02-38FB-FAE7BB61547E}"/>
            </a:ext>
          </a:extLst>
        </p:cNvPr>
        <p:cNvGrpSpPr/>
        <p:nvPr/>
      </p:nvGrpSpPr>
      <p:grpSpPr>
        <a:xfrm>
          <a:off x="0" y="0"/>
          <a:ext cx="0" cy="0"/>
          <a:chOff x="0" y="0"/>
          <a:chExt cx="0" cy="0"/>
        </a:xfrm>
      </p:grpSpPr>
      <p:sp>
        <p:nvSpPr>
          <p:cNvPr id="33" name="Shape 15">
            <a:extLst>
              <a:ext uri="{FF2B5EF4-FFF2-40B4-BE49-F238E27FC236}">
                <a16:creationId xmlns:a16="http://schemas.microsoft.com/office/drawing/2014/main" id="{DA7295CE-E584-8752-A62C-1CCF7C140507}"/>
              </a:ext>
            </a:extLst>
          </p:cNvPr>
          <p:cNvSpPr/>
          <p:nvPr/>
        </p:nvSpPr>
        <p:spPr>
          <a:xfrm>
            <a:off x="1188720" y="1163621"/>
            <a:ext cx="10753344" cy="536511"/>
          </a:xfrm>
          <a:prstGeom prst="roundRect">
            <a:avLst>
              <a:gd name="adj" fmla="val 14118"/>
            </a:avLst>
          </a:prstGeom>
          <a:solidFill>
            <a:srgbClr val="1C2036"/>
          </a:solidFill>
          <a:ln w="9525">
            <a:solidFill>
              <a:srgbClr val="343A58"/>
            </a:solidFill>
            <a:prstDash val="solid"/>
          </a:ln>
        </p:spPr>
        <p:txBody>
          <a:bodyPr/>
          <a:lstStyle/>
          <a:p>
            <a:r>
              <a:rPr lang="en-IN" sz="2000" dirty="0">
                <a:solidFill>
                  <a:schemeClr val="bg2"/>
                </a:solidFill>
              </a:rPr>
              <a:t>The raw weighted sum is sent into activation function , which outputs the final binary classification.</a:t>
            </a:r>
          </a:p>
        </p:txBody>
      </p:sp>
      <p:sp>
        <p:nvSpPr>
          <p:cNvPr id="47" name="Text 20">
            <a:extLst>
              <a:ext uri="{FF2B5EF4-FFF2-40B4-BE49-F238E27FC236}">
                <a16:creationId xmlns:a16="http://schemas.microsoft.com/office/drawing/2014/main" id="{8003D1DB-CE5A-A06A-1028-23F7952F7AAC}"/>
              </a:ext>
            </a:extLst>
          </p:cNvPr>
          <p:cNvSpPr txBox="1"/>
          <p:nvPr/>
        </p:nvSpPr>
        <p:spPr>
          <a:xfrm>
            <a:off x="1310018" y="2902753"/>
            <a:ext cx="4206240" cy="777240"/>
          </a:xfrm>
          <a:prstGeom prst="rect">
            <a:avLst/>
          </a:prstGeom>
          <a:noFill/>
          <a:ln/>
        </p:spPr>
        <p:txBody>
          <a:bodyPr wrap="square" lIns="0" tIns="0" rIns="0" bIns="0" rtlCol="0" anchor="ctr"/>
          <a:lstStyle/>
          <a:p>
            <a:pPr marL="0" indent="0">
              <a:buNone/>
            </a:pPr>
            <a:endParaRPr lang="en-US" sz="2050" dirty="0"/>
          </a:p>
        </p:txBody>
      </p:sp>
      <p:sp>
        <p:nvSpPr>
          <p:cNvPr id="49" name="Shape 18">
            <a:extLst>
              <a:ext uri="{FF2B5EF4-FFF2-40B4-BE49-F238E27FC236}">
                <a16:creationId xmlns:a16="http://schemas.microsoft.com/office/drawing/2014/main" id="{5E8A4EB7-B301-8684-3BB5-DA3B89E03C88}"/>
              </a:ext>
            </a:extLst>
          </p:cNvPr>
          <p:cNvSpPr/>
          <p:nvPr/>
        </p:nvSpPr>
        <p:spPr>
          <a:xfrm>
            <a:off x="1188720" y="4050605"/>
            <a:ext cx="10753344" cy="536511"/>
          </a:xfrm>
          <a:prstGeom prst="roundRect">
            <a:avLst>
              <a:gd name="adj" fmla="val 14118"/>
            </a:avLst>
          </a:prstGeom>
          <a:solidFill>
            <a:srgbClr val="1C2036"/>
          </a:solidFill>
          <a:ln w="9525">
            <a:solidFill>
              <a:srgbClr val="343A58"/>
            </a:solidFill>
            <a:prstDash val="solid"/>
          </a:ln>
        </p:spPr>
        <p:txBody>
          <a:bodyPr/>
          <a:lstStyle/>
          <a:p>
            <a:r>
              <a:rPr lang="en-US" sz="2000" dirty="0">
                <a:solidFill>
                  <a:srgbClr val="F2F2F8"/>
                </a:solidFill>
                <a:latin typeface="Calibri" pitchFamily="34" charset="0"/>
                <a:ea typeface="Calibri" pitchFamily="34" charset="-122"/>
                <a:cs typeface="Calibri" pitchFamily="34" charset="-120"/>
              </a:rPr>
              <a:t>Update weights using either perceptron trick or loss function with gradient descent</a:t>
            </a:r>
            <a:endParaRPr lang="en-US" sz="2000" dirty="0"/>
          </a:p>
          <a:p>
            <a:endParaRPr lang="en-IN" sz="2000" dirty="0">
              <a:solidFill>
                <a:schemeClr val="bg2"/>
              </a:solidFill>
            </a:endParaRPr>
          </a:p>
        </p:txBody>
      </p:sp>
      <p:sp>
        <p:nvSpPr>
          <p:cNvPr id="63" name="Text 23">
            <a:extLst>
              <a:ext uri="{FF2B5EF4-FFF2-40B4-BE49-F238E27FC236}">
                <a16:creationId xmlns:a16="http://schemas.microsoft.com/office/drawing/2014/main" id="{86C457F4-0B70-BB5C-F97F-4939A62C8F4D}"/>
              </a:ext>
            </a:extLst>
          </p:cNvPr>
          <p:cNvSpPr txBox="1"/>
          <p:nvPr/>
        </p:nvSpPr>
        <p:spPr>
          <a:xfrm>
            <a:off x="1310018" y="4318861"/>
            <a:ext cx="4206240" cy="777240"/>
          </a:xfrm>
          <a:prstGeom prst="rect">
            <a:avLst/>
          </a:prstGeom>
          <a:noFill/>
          <a:ln/>
        </p:spPr>
        <p:txBody>
          <a:bodyPr wrap="square" lIns="0" tIns="0" rIns="0" bIns="0" rtlCol="0" anchor="ctr"/>
          <a:lstStyle/>
          <a:p>
            <a:pPr marL="0" indent="0">
              <a:buNone/>
            </a:pPr>
            <a:endParaRPr lang="en-US" sz="2050" dirty="0"/>
          </a:p>
        </p:txBody>
      </p:sp>
      <p:sp>
        <p:nvSpPr>
          <p:cNvPr id="65" name="Shape 21">
            <a:extLst>
              <a:ext uri="{FF2B5EF4-FFF2-40B4-BE49-F238E27FC236}">
                <a16:creationId xmlns:a16="http://schemas.microsoft.com/office/drawing/2014/main" id="{2A8E0AA7-4413-604A-94B6-34D95528509F}"/>
              </a:ext>
            </a:extLst>
          </p:cNvPr>
          <p:cNvSpPr/>
          <p:nvPr/>
        </p:nvSpPr>
        <p:spPr>
          <a:xfrm>
            <a:off x="1188720" y="2564410"/>
            <a:ext cx="10753344" cy="536511"/>
          </a:xfrm>
          <a:prstGeom prst="roundRect">
            <a:avLst>
              <a:gd name="adj" fmla="val 14118"/>
            </a:avLst>
          </a:prstGeom>
          <a:solidFill>
            <a:srgbClr val="1C2036"/>
          </a:solidFill>
          <a:ln w="9525">
            <a:solidFill>
              <a:srgbClr val="343A58"/>
            </a:solidFill>
            <a:prstDash val="solid"/>
          </a:ln>
        </p:spPr>
        <p:txBody>
          <a:bodyPr/>
          <a:lstStyle/>
          <a:p>
            <a:r>
              <a:rPr lang="en-IN" sz="2000" dirty="0">
                <a:solidFill>
                  <a:schemeClr val="bg2"/>
                </a:solidFill>
              </a:rPr>
              <a:t>Evaluate the entire dataset at the end of the epoch to check total classification errors.</a:t>
            </a:r>
          </a:p>
        </p:txBody>
      </p:sp>
      <p:sp>
        <p:nvSpPr>
          <p:cNvPr id="20" name="Text 26">
            <a:extLst>
              <a:ext uri="{FF2B5EF4-FFF2-40B4-BE49-F238E27FC236}">
                <a16:creationId xmlns:a16="http://schemas.microsoft.com/office/drawing/2014/main" id="{AA22FA6E-5752-A1E4-48F2-86A94466F731}"/>
              </a:ext>
            </a:extLst>
          </p:cNvPr>
          <p:cNvSpPr txBox="1"/>
          <p:nvPr/>
        </p:nvSpPr>
        <p:spPr>
          <a:xfrm>
            <a:off x="1310018" y="398324"/>
            <a:ext cx="4206240" cy="777240"/>
          </a:xfrm>
          <a:prstGeom prst="rect">
            <a:avLst/>
          </a:prstGeom>
          <a:noFill/>
          <a:ln/>
        </p:spPr>
        <p:txBody>
          <a:bodyPr wrap="square" lIns="0" tIns="0" rIns="0" bIns="0" rtlCol="0" anchor="ctr"/>
          <a:lstStyle/>
          <a:p>
            <a:pPr marL="0" indent="0">
              <a:buNone/>
            </a:pPr>
            <a:r>
              <a:rPr lang="en-US" sz="2050" dirty="0">
                <a:solidFill>
                  <a:srgbClr val="F2F2F8"/>
                </a:solidFill>
                <a:latin typeface="Calibri" pitchFamily="34" charset="0"/>
                <a:ea typeface="Calibri" pitchFamily="34" charset="-122"/>
                <a:cs typeface="Calibri" pitchFamily="34" charset="-120"/>
              </a:rPr>
              <a:t>Compute y with the step function</a:t>
            </a:r>
            <a:endParaRPr lang="en-US" sz="2050" dirty="0"/>
          </a:p>
        </p:txBody>
      </p:sp>
      <p:sp>
        <p:nvSpPr>
          <p:cNvPr id="22" name="Text 25">
            <a:extLst>
              <a:ext uri="{FF2B5EF4-FFF2-40B4-BE49-F238E27FC236}">
                <a16:creationId xmlns:a16="http://schemas.microsoft.com/office/drawing/2014/main" id="{26C8B1A0-FD71-F036-FB06-3C1AA6DC2C0E}"/>
              </a:ext>
            </a:extLst>
          </p:cNvPr>
          <p:cNvSpPr txBox="1"/>
          <p:nvPr/>
        </p:nvSpPr>
        <p:spPr>
          <a:xfrm>
            <a:off x="601980" y="512624"/>
            <a:ext cx="548640" cy="54864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8">
            <a:extLst>
              <a:ext uri="{FF2B5EF4-FFF2-40B4-BE49-F238E27FC236}">
                <a16:creationId xmlns:a16="http://schemas.microsoft.com/office/drawing/2014/main" id="{8FED1E2D-03F8-30BB-095C-14D1AE51A806}"/>
              </a:ext>
            </a:extLst>
          </p:cNvPr>
          <p:cNvSpPr txBox="1"/>
          <p:nvPr/>
        </p:nvSpPr>
        <p:spPr>
          <a:xfrm>
            <a:off x="601980" y="3385202"/>
            <a:ext cx="548640" cy="54864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Box 25">
            <a:extLst>
              <a:ext uri="{FF2B5EF4-FFF2-40B4-BE49-F238E27FC236}">
                <a16:creationId xmlns:a16="http://schemas.microsoft.com/office/drawing/2014/main" id="{9EA455F9-059A-8C7C-A08F-EF1127CC905E}"/>
              </a:ext>
            </a:extLst>
          </p:cNvPr>
          <p:cNvSpPr txBox="1"/>
          <p:nvPr/>
        </p:nvSpPr>
        <p:spPr>
          <a:xfrm>
            <a:off x="1249680" y="3476091"/>
            <a:ext cx="6157892" cy="407804"/>
          </a:xfrm>
          <a:prstGeom prst="rect">
            <a:avLst/>
          </a:prstGeom>
          <a:noFill/>
        </p:spPr>
        <p:txBody>
          <a:bodyPr wrap="square">
            <a:spAutoFit/>
          </a:bodyPr>
          <a:lstStyle/>
          <a:p>
            <a:r>
              <a:rPr lang="en-US" sz="2050" dirty="0">
                <a:solidFill>
                  <a:srgbClr val="F2F2F8"/>
                </a:solidFill>
                <a:latin typeface="Calibri" pitchFamily="34" charset="0"/>
                <a:ea typeface="Calibri" pitchFamily="34" charset="-122"/>
                <a:cs typeface="Calibri" pitchFamily="34" charset="-120"/>
              </a:rPr>
              <a:t>Update weights </a:t>
            </a:r>
            <a:endParaRPr lang="en-IN" dirty="0"/>
          </a:p>
        </p:txBody>
      </p:sp>
      <p:sp>
        <p:nvSpPr>
          <p:cNvPr id="28" name="Text 34">
            <a:extLst>
              <a:ext uri="{FF2B5EF4-FFF2-40B4-BE49-F238E27FC236}">
                <a16:creationId xmlns:a16="http://schemas.microsoft.com/office/drawing/2014/main" id="{5AD4ACD1-133C-EBC6-5145-9E40A80F9FFC}"/>
              </a:ext>
            </a:extLst>
          </p:cNvPr>
          <p:cNvSpPr txBox="1"/>
          <p:nvPr/>
        </p:nvSpPr>
        <p:spPr>
          <a:xfrm>
            <a:off x="579742" y="1906316"/>
            <a:ext cx="548640" cy="54864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35">
            <a:extLst>
              <a:ext uri="{FF2B5EF4-FFF2-40B4-BE49-F238E27FC236}">
                <a16:creationId xmlns:a16="http://schemas.microsoft.com/office/drawing/2014/main" id="{AFA40239-8FB5-9060-ECDE-ED027422B9E1}"/>
              </a:ext>
            </a:extLst>
          </p:cNvPr>
          <p:cNvSpPr txBox="1"/>
          <p:nvPr/>
        </p:nvSpPr>
        <p:spPr>
          <a:xfrm>
            <a:off x="1249680" y="1818329"/>
            <a:ext cx="4244340" cy="777240"/>
          </a:xfrm>
          <a:prstGeom prst="rect">
            <a:avLst/>
          </a:prstGeom>
          <a:noFill/>
          <a:ln/>
        </p:spPr>
        <p:txBody>
          <a:bodyPr wrap="square" lIns="0" tIns="0" rIns="0" bIns="0" rtlCol="0" anchor="ctr"/>
          <a:lstStyle/>
          <a:p>
            <a:pPr marL="0" indent="0">
              <a:buNone/>
            </a:pPr>
            <a:r>
              <a:rPr lang="en-US" sz="2050" dirty="0">
                <a:solidFill>
                  <a:srgbClr val="F2F2F8"/>
                </a:solidFill>
                <a:latin typeface="Calibri" pitchFamily="34" charset="0"/>
                <a:ea typeface="Calibri" pitchFamily="34" charset="-122"/>
                <a:cs typeface="Calibri" pitchFamily="34" charset="-120"/>
              </a:rPr>
              <a:t>Process all patterns (one epoch)</a:t>
            </a:r>
            <a:endParaRPr lang="en-US" sz="2050" dirty="0"/>
          </a:p>
        </p:txBody>
      </p:sp>
      <p:sp>
        <p:nvSpPr>
          <p:cNvPr id="32" name="Text 38">
            <a:extLst>
              <a:ext uri="{FF2B5EF4-FFF2-40B4-BE49-F238E27FC236}">
                <a16:creationId xmlns:a16="http://schemas.microsoft.com/office/drawing/2014/main" id="{058AB07B-821E-B8FC-C8F6-BC6DC6D0E44A}"/>
              </a:ext>
            </a:extLst>
          </p:cNvPr>
          <p:cNvSpPr txBox="1"/>
          <p:nvPr/>
        </p:nvSpPr>
        <p:spPr>
          <a:xfrm>
            <a:off x="1310017" y="4760913"/>
            <a:ext cx="5342709" cy="777240"/>
          </a:xfrm>
          <a:prstGeom prst="rect">
            <a:avLst/>
          </a:prstGeom>
          <a:noFill/>
          <a:ln/>
        </p:spPr>
        <p:txBody>
          <a:bodyPr wrap="square" lIns="0" tIns="0" rIns="0" bIns="0" rtlCol="0" anchor="ctr"/>
          <a:lstStyle/>
          <a:p>
            <a:pPr marL="0" indent="0">
              <a:buNone/>
            </a:pPr>
            <a:r>
              <a:rPr lang="en-US" sz="2050" dirty="0">
                <a:solidFill>
                  <a:srgbClr val="F2F2F8"/>
                </a:solidFill>
                <a:latin typeface="Calibri" pitchFamily="34" charset="0"/>
                <a:ea typeface="Calibri" pitchFamily="34" charset="-122"/>
                <a:cs typeface="Calibri" pitchFamily="34" charset="-120"/>
              </a:rPr>
              <a:t>Stop Training</a:t>
            </a:r>
            <a:endParaRPr lang="en-US" sz="2050" dirty="0"/>
          </a:p>
        </p:txBody>
      </p:sp>
      <p:sp>
        <p:nvSpPr>
          <p:cNvPr id="35" name="Text 28">
            <a:extLst>
              <a:ext uri="{FF2B5EF4-FFF2-40B4-BE49-F238E27FC236}">
                <a16:creationId xmlns:a16="http://schemas.microsoft.com/office/drawing/2014/main" id="{83B7B95F-A292-9934-74E6-23C191559FBB}"/>
              </a:ext>
            </a:extLst>
          </p:cNvPr>
          <p:cNvSpPr txBox="1"/>
          <p:nvPr/>
        </p:nvSpPr>
        <p:spPr>
          <a:xfrm>
            <a:off x="579742" y="4864088"/>
            <a:ext cx="548640" cy="548640"/>
          </a:xfrm>
          <a:prstGeom prst="ellipse">
            <a:avLst/>
          </a:prstGeom>
          <a:solidFill>
            <a:srgbClr val="6B76A6"/>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7" name="Shape 18">
            <a:extLst>
              <a:ext uri="{FF2B5EF4-FFF2-40B4-BE49-F238E27FC236}">
                <a16:creationId xmlns:a16="http://schemas.microsoft.com/office/drawing/2014/main" id="{774E5804-0637-4C89-1617-540A6DB9094C}"/>
              </a:ext>
            </a:extLst>
          </p:cNvPr>
          <p:cNvSpPr/>
          <p:nvPr/>
        </p:nvSpPr>
        <p:spPr>
          <a:xfrm>
            <a:off x="1150620" y="5536800"/>
            <a:ext cx="10753344" cy="720980"/>
          </a:xfrm>
          <a:prstGeom prst="roundRect">
            <a:avLst>
              <a:gd name="adj" fmla="val 14118"/>
            </a:avLst>
          </a:prstGeom>
          <a:solidFill>
            <a:srgbClr val="1C2036"/>
          </a:solidFill>
          <a:ln w="9525">
            <a:solidFill>
              <a:srgbClr val="343A58"/>
            </a:solidFill>
            <a:prstDash val="solid"/>
          </a:ln>
        </p:spPr>
        <p:txBody>
          <a:bodyPr/>
          <a:lstStyle/>
          <a:p>
            <a:r>
              <a:rPr lang="en-IN" sz="2000" dirty="0">
                <a:solidFill>
                  <a:schemeClr val="bg2"/>
                </a:solidFill>
              </a:rPr>
              <a:t>Stop training when the model achieves zero classification errors or reaches the maximum allowed number of epochs.</a:t>
            </a:r>
          </a:p>
        </p:txBody>
      </p:sp>
    </p:spTree>
    <p:extLst>
      <p:ext uri="{BB962C8B-B14F-4D97-AF65-F5344CB8AC3E}">
        <p14:creationId xmlns:p14="http://schemas.microsoft.com/office/powerpoint/2010/main" val="1992754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213BD9A-3CA3-699D-9654-FB6D213975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6612F3-DAFD-1C2E-D260-2D14945B09CB}"/>
              </a:ext>
            </a:extLst>
          </p:cNvPr>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a:extLst>
              <a:ext uri="{FF2B5EF4-FFF2-40B4-BE49-F238E27FC236}">
                <a16:creationId xmlns:a16="http://schemas.microsoft.com/office/drawing/2014/main" id="{95ABD1BC-2263-D06F-062F-A5A857026BFB}"/>
              </a:ext>
            </a:extLst>
          </p:cNvPr>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a:extLst>
              <a:ext uri="{FF2B5EF4-FFF2-40B4-BE49-F238E27FC236}">
                <a16:creationId xmlns:a16="http://schemas.microsoft.com/office/drawing/2014/main" id="{F7213508-C35F-05C5-53DC-DFA7EDBC0F1B}"/>
              </a:ext>
            </a:extLst>
          </p:cNvPr>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a:extLst>
              <a:ext uri="{FF2B5EF4-FFF2-40B4-BE49-F238E27FC236}">
                <a16:creationId xmlns:a16="http://schemas.microsoft.com/office/drawing/2014/main" id="{F6B2BFA4-7DE0-4C85-F205-014C4B8DCE65}"/>
              </a:ext>
            </a:extLst>
          </p:cNvPr>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a:extLst>
              <a:ext uri="{FF2B5EF4-FFF2-40B4-BE49-F238E27FC236}">
                <a16:creationId xmlns:a16="http://schemas.microsoft.com/office/drawing/2014/main" id="{583501EE-6ED4-4297-3FA8-D184261BD9DD}"/>
              </a:ext>
            </a:extLst>
          </p:cNvPr>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a:extLst>
              <a:ext uri="{FF2B5EF4-FFF2-40B4-BE49-F238E27FC236}">
                <a16:creationId xmlns:a16="http://schemas.microsoft.com/office/drawing/2014/main" id="{6BCD4044-C241-5808-8B7B-2E47722021DE}"/>
              </a:ext>
            </a:extLst>
          </p:cNvPr>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a:extLst>
              <a:ext uri="{FF2B5EF4-FFF2-40B4-BE49-F238E27FC236}">
                <a16:creationId xmlns:a16="http://schemas.microsoft.com/office/drawing/2014/main" id="{748AE5C4-58D3-41F9-C16F-5128585E8D6C}"/>
              </a:ext>
            </a:extLst>
          </p:cNvPr>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a:extLst>
              <a:ext uri="{FF2B5EF4-FFF2-40B4-BE49-F238E27FC236}">
                <a16:creationId xmlns:a16="http://schemas.microsoft.com/office/drawing/2014/main" id="{33F3DDCA-75A1-0DC3-23CC-9BBEA2AA8058}"/>
              </a:ext>
            </a:extLst>
          </p:cNvPr>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a:extLst>
              <a:ext uri="{FF2B5EF4-FFF2-40B4-BE49-F238E27FC236}">
                <a16:creationId xmlns:a16="http://schemas.microsoft.com/office/drawing/2014/main" id="{486DF7E0-96BB-16D4-2789-C019565EBA20}"/>
              </a:ext>
            </a:extLst>
          </p:cNvPr>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a:extLst>
              <a:ext uri="{FF2B5EF4-FFF2-40B4-BE49-F238E27FC236}">
                <a16:creationId xmlns:a16="http://schemas.microsoft.com/office/drawing/2014/main" id="{84D302EB-5E48-FBFF-AE6F-8416FB1DBF0A}"/>
              </a:ext>
            </a:extLst>
          </p:cNvPr>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a:extLst>
              <a:ext uri="{FF2B5EF4-FFF2-40B4-BE49-F238E27FC236}">
                <a16:creationId xmlns:a16="http://schemas.microsoft.com/office/drawing/2014/main" id="{7F352CA9-8D06-1194-9E2F-502872D9FD1C}"/>
              </a:ext>
            </a:extLst>
          </p:cNvPr>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a:extLst>
              <a:ext uri="{FF2B5EF4-FFF2-40B4-BE49-F238E27FC236}">
                <a16:creationId xmlns:a16="http://schemas.microsoft.com/office/drawing/2014/main" id="{B1ABCD61-12FF-7856-2F19-9CD10EF77E89}"/>
              </a:ext>
            </a:extLst>
          </p:cNvPr>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a:extLst>
              <a:ext uri="{FF2B5EF4-FFF2-40B4-BE49-F238E27FC236}">
                <a16:creationId xmlns:a16="http://schemas.microsoft.com/office/drawing/2014/main" id="{CABE8E4E-7D6C-C6E3-ADD8-5F71878CDB83}"/>
              </a:ext>
            </a:extLst>
          </p:cNvPr>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a:extLst>
              <a:ext uri="{FF2B5EF4-FFF2-40B4-BE49-F238E27FC236}">
                <a16:creationId xmlns:a16="http://schemas.microsoft.com/office/drawing/2014/main" id="{5061EA4B-BC4F-6A36-7A95-696D0D763B21}"/>
              </a:ext>
            </a:extLst>
          </p:cNvPr>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a:extLst>
              <a:ext uri="{FF2B5EF4-FFF2-40B4-BE49-F238E27FC236}">
                <a16:creationId xmlns:a16="http://schemas.microsoft.com/office/drawing/2014/main" id="{F4FEC3D5-0800-C686-01BB-F4F50A9232F1}"/>
              </a:ext>
            </a:extLst>
          </p:cNvPr>
          <p:cNvSpPr txBox="1"/>
          <p:nvPr/>
        </p:nvSpPr>
        <p:spPr>
          <a:xfrm>
            <a:off x="365760" y="411480"/>
            <a:ext cx="9144000" cy="868680"/>
          </a:xfrm>
          <a:prstGeom prst="rect">
            <a:avLst/>
          </a:prstGeom>
          <a:noFill/>
          <a:ln/>
        </p:spPr>
        <p:txBody>
          <a:bodyPr wrap="square" lIns="0" tIns="0" rIns="0" bIns="0" rtlCol="0" anchor="ctr"/>
          <a:lstStyle/>
          <a:p>
            <a:pPr marL="0" indent="0" algn="ctr">
              <a:buNone/>
            </a:pPr>
            <a:r>
              <a:rPr lang="en-US" sz="3200" dirty="0">
                <a:solidFill>
                  <a:srgbClr val="F2F2F8"/>
                </a:solidFill>
                <a:latin typeface="Impact" pitchFamily="34" charset="0"/>
                <a:ea typeface="Impact" pitchFamily="34" charset="-122"/>
                <a:cs typeface="Impact" pitchFamily="34" charset="-120"/>
              </a:rPr>
              <a:t>Update weights and Bias using perceptron trick</a:t>
            </a:r>
            <a:endParaRPr lang="en-US" sz="3200" dirty="0"/>
          </a:p>
        </p:txBody>
      </p:sp>
      <p:sp>
        <p:nvSpPr>
          <p:cNvPr id="18" name="Text 16">
            <a:extLst>
              <a:ext uri="{FF2B5EF4-FFF2-40B4-BE49-F238E27FC236}">
                <a16:creationId xmlns:a16="http://schemas.microsoft.com/office/drawing/2014/main" id="{FE8CF923-3EDB-0615-5F59-02678C2041BE}"/>
              </a:ext>
            </a:extLst>
          </p:cNvPr>
          <p:cNvSpPr txBox="1"/>
          <p:nvPr/>
        </p:nvSpPr>
        <p:spPr>
          <a:xfrm>
            <a:off x="1051560" y="1508760"/>
            <a:ext cx="4658775" cy="1822269"/>
          </a:xfrm>
          <a:prstGeom prst="rect">
            <a:avLst/>
          </a:prstGeom>
          <a:noFill/>
          <a:ln/>
        </p:spPr>
        <p:txBody>
          <a:bodyPr wrap="square" lIns="0" tIns="0" rIns="0" bIns="0" rtlCol="0" anchor="ctr"/>
          <a:lstStyle/>
          <a:p>
            <a:pPr marL="0" indent="0">
              <a:spcAft>
                <a:spcPts val="800"/>
              </a:spcAft>
              <a:buNone/>
            </a:pPr>
            <a:endParaRPr lang="en-US" sz="2900" dirty="0"/>
          </a:p>
        </p:txBody>
      </p:sp>
      <p:sp>
        <p:nvSpPr>
          <p:cNvPr id="19" name="Shape 17">
            <a:extLst>
              <a:ext uri="{FF2B5EF4-FFF2-40B4-BE49-F238E27FC236}">
                <a16:creationId xmlns:a16="http://schemas.microsoft.com/office/drawing/2014/main" id="{0C8B4126-BB3C-9CCB-F5B5-03EC688950AB}"/>
              </a:ext>
            </a:extLst>
          </p:cNvPr>
          <p:cNvSpPr/>
          <p:nvPr/>
        </p:nvSpPr>
        <p:spPr>
          <a:xfrm>
            <a:off x="5924379" y="1600201"/>
            <a:ext cx="5486400" cy="1554480"/>
          </a:xfrm>
          <a:prstGeom prst="roundRect">
            <a:avLst>
              <a:gd name="adj" fmla="val 4211"/>
            </a:avLst>
          </a:prstGeom>
          <a:solidFill>
            <a:srgbClr val="1C2036"/>
          </a:solidFill>
          <a:ln w="9525">
            <a:solidFill>
              <a:srgbClr val="343A58"/>
            </a:solidFill>
            <a:prstDash val="solid"/>
          </a:ln>
        </p:spPr>
        <p:txBody>
          <a:bodyPr/>
          <a:lstStyle/>
          <a:p>
            <a:endParaRPr lang="en-IN"/>
          </a:p>
        </p:txBody>
      </p:sp>
      <p:sp>
        <p:nvSpPr>
          <p:cNvPr id="20" name="Text 18">
            <a:extLst>
              <a:ext uri="{FF2B5EF4-FFF2-40B4-BE49-F238E27FC236}">
                <a16:creationId xmlns:a16="http://schemas.microsoft.com/office/drawing/2014/main" id="{D0F155DA-42A3-232A-8C20-57526847E3F9}"/>
              </a:ext>
            </a:extLst>
          </p:cNvPr>
          <p:cNvSpPr txBox="1"/>
          <p:nvPr/>
        </p:nvSpPr>
        <p:spPr>
          <a:xfrm>
            <a:off x="6154099" y="1737360"/>
            <a:ext cx="4937760" cy="1593669"/>
          </a:xfrm>
          <a:prstGeom prst="rect">
            <a:avLst/>
          </a:prstGeom>
          <a:noFill/>
          <a:ln/>
        </p:spPr>
        <p:txBody>
          <a:bodyPr wrap="square" lIns="0" tIns="0" rIns="0" bIns="0" rtlCol="0" anchor="t"/>
          <a:lstStyle/>
          <a:p>
            <a:pPr marL="0" indent="0">
              <a:spcAft>
                <a:spcPts val="600"/>
              </a:spcAft>
              <a:buNone/>
            </a:pPr>
            <a:r>
              <a:rPr lang="en-US" b="1" dirty="0">
                <a:solidFill>
                  <a:srgbClr val="9DB4FF"/>
                </a:solidFill>
                <a:latin typeface="Calibri" pitchFamily="34" charset="0"/>
                <a:ea typeface="Calibri" pitchFamily="34" charset="-122"/>
                <a:cs typeface="Calibri" pitchFamily="34" charset="-120"/>
              </a:rPr>
              <a:t>η</a:t>
            </a:r>
            <a:r>
              <a:rPr lang="en-US" dirty="0">
                <a:solidFill>
                  <a:srgbClr val="F2F2F8"/>
                </a:solidFill>
                <a:latin typeface="Calibri" pitchFamily="34" charset="0"/>
                <a:ea typeface="Calibri" pitchFamily="34" charset="-122"/>
                <a:cs typeface="Calibri" pitchFamily="34" charset="-120"/>
              </a:rPr>
              <a:t> : learning rate            </a:t>
            </a:r>
            <a:r>
              <a:rPr lang="en-US" b="1" dirty="0">
                <a:solidFill>
                  <a:srgbClr val="9DB4FF"/>
                </a:solidFill>
                <a:latin typeface="Calibri" pitchFamily="34" charset="0"/>
                <a:ea typeface="Calibri" pitchFamily="34" charset="-122"/>
                <a:cs typeface="Calibri" pitchFamily="34" charset="-120"/>
              </a:rPr>
              <a:t>y</a:t>
            </a:r>
            <a:r>
              <a:rPr lang="en-US" b="1" baseline="-25000" dirty="0">
                <a:solidFill>
                  <a:srgbClr val="9DB4FF"/>
                </a:solidFill>
                <a:latin typeface="Calibri" pitchFamily="34" charset="0"/>
                <a:ea typeface="Calibri" pitchFamily="34" charset="-122"/>
                <a:cs typeface="Calibri" pitchFamily="34" charset="-120"/>
              </a:rPr>
              <a:t>i</a:t>
            </a:r>
            <a:r>
              <a:rPr lang="en-US" dirty="0">
                <a:solidFill>
                  <a:srgbClr val="F2F2F8"/>
                </a:solidFill>
                <a:latin typeface="Calibri" pitchFamily="34" charset="0"/>
                <a:ea typeface="Calibri" pitchFamily="34" charset="-122"/>
                <a:cs typeface="Calibri" pitchFamily="34" charset="-120"/>
              </a:rPr>
              <a:t> : desired output</a:t>
            </a:r>
            <a:endParaRPr lang="en-US" dirty="0"/>
          </a:p>
          <a:p>
            <a:pPr>
              <a:spcAft>
                <a:spcPts val="600"/>
              </a:spcAft>
            </a:pPr>
            <a:r>
              <a:rPr lang="cy-GB" b="1" dirty="0">
                <a:solidFill>
                  <a:schemeClr val="accent1">
                    <a:lumMod val="60000"/>
                    <a:lumOff val="40000"/>
                  </a:schemeClr>
                </a:solidFill>
                <a:latin typeface="Calibri" pitchFamily="34" charset="0"/>
                <a:ea typeface="Calibri" pitchFamily="34" charset="-122"/>
                <a:cs typeface="Calibri" pitchFamily="34" charset="-120"/>
              </a:rPr>
              <a:t>ŷᵢ</a:t>
            </a:r>
            <a:r>
              <a:rPr lang="en-US" b="1" dirty="0">
                <a:solidFill>
                  <a:srgbClr val="F2F2F8"/>
                </a:solidFill>
                <a:latin typeface="Calibri" pitchFamily="34" charset="0"/>
                <a:ea typeface="Calibri" pitchFamily="34" charset="-122"/>
                <a:cs typeface="Calibri" pitchFamily="34" charset="-120"/>
              </a:rPr>
              <a:t> : </a:t>
            </a:r>
            <a:r>
              <a:rPr lang="en-US" dirty="0">
                <a:solidFill>
                  <a:srgbClr val="F2F2F8"/>
                </a:solidFill>
                <a:latin typeface="Calibri" pitchFamily="34" charset="0"/>
                <a:ea typeface="Calibri" pitchFamily="34" charset="-122"/>
                <a:cs typeface="Calibri" pitchFamily="34" charset="-120"/>
              </a:rPr>
              <a:t>predicted output    </a:t>
            </a:r>
            <a:r>
              <a:rPr lang="en-US" b="1" dirty="0">
                <a:solidFill>
                  <a:srgbClr val="9DB4FF"/>
                </a:solidFill>
                <a:latin typeface="Calibri" pitchFamily="34" charset="0"/>
                <a:ea typeface="Calibri" pitchFamily="34" charset="-122"/>
                <a:cs typeface="Calibri" pitchFamily="34" charset="-120"/>
              </a:rPr>
              <a:t>xᵢ</a:t>
            </a:r>
            <a:r>
              <a:rPr lang="en-US" dirty="0">
                <a:solidFill>
                  <a:srgbClr val="F2F2F8"/>
                </a:solidFill>
                <a:latin typeface="Calibri" pitchFamily="34" charset="0"/>
                <a:ea typeface="Calibri" pitchFamily="34" charset="-122"/>
                <a:cs typeface="Calibri" pitchFamily="34" charset="-120"/>
              </a:rPr>
              <a:t> : input value</a:t>
            </a:r>
            <a:endParaRPr lang="en-US" dirty="0"/>
          </a:p>
          <a:p>
            <a:pPr marL="0" indent="0">
              <a:spcAft>
                <a:spcPts val="600"/>
              </a:spcAft>
              <a:buNone/>
            </a:pPr>
            <a:r>
              <a:rPr lang="en-US" i="1" dirty="0">
                <a:solidFill>
                  <a:srgbClr val="A9AFC8"/>
                </a:solidFill>
                <a:latin typeface="Calibri" pitchFamily="34" charset="0"/>
                <a:ea typeface="Calibri" pitchFamily="34" charset="-122"/>
                <a:cs typeface="Calibri" pitchFamily="34" charset="-120"/>
              </a:rPr>
              <a:t>The bias has no xᵢ term: it acts as a weight on a constant input of 1.</a:t>
            </a:r>
            <a:endParaRPr lang="en-US" dirty="0"/>
          </a:p>
        </p:txBody>
      </p:sp>
      <p:sp>
        <p:nvSpPr>
          <p:cNvPr id="30" name="Text 28">
            <a:extLst>
              <a:ext uri="{FF2B5EF4-FFF2-40B4-BE49-F238E27FC236}">
                <a16:creationId xmlns:a16="http://schemas.microsoft.com/office/drawing/2014/main" id="{23BD5B61-2C4C-6F39-B35D-ABB704E89160}"/>
              </a:ext>
            </a:extLst>
          </p:cNvPr>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
        <p:nvSpPr>
          <p:cNvPr id="22" name="Shape 16">
            <a:extLst>
              <a:ext uri="{FF2B5EF4-FFF2-40B4-BE49-F238E27FC236}">
                <a16:creationId xmlns:a16="http://schemas.microsoft.com/office/drawing/2014/main" id="{9BF58C97-EE65-C559-7F62-B92698041A89}"/>
              </a:ext>
            </a:extLst>
          </p:cNvPr>
          <p:cNvSpPr/>
          <p:nvPr/>
        </p:nvSpPr>
        <p:spPr>
          <a:xfrm>
            <a:off x="733044" y="1600200"/>
            <a:ext cx="4911976" cy="1554480"/>
          </a:xfrm>
          <a:prstGeom prst="roundRect">
            <a:avLst>
              <a:gd name="adj" fmla="val 7059"/>
            </a:avLst>
          </a:prstGeom>
          <a:solidFill>
            <a:srgbClr val="1C2036"/>
          </a:solidFill>
          <a:ln w="9525">
            <a:solidFill>
              <a:srgbClr val="343A58"/>
            </a:solidFill>
            <a:prstDash val="solid"/>
          </a:ln>
        </p:spPr>
        <p:txBody>
          <a:bodyPr/>
          <a:lstStyle/>
          <a:p>
            <a:endParaRPr lang="en-IN"/>
          </a:p>
        </p:txBody>
      </p:sp>
      <p:sp>
        <p:nvSpPr>
          <p:cNvPr id="24" name="Text 18">
            <a:extLst>
              <a:ext uri="{FF2B5EF4-FFF2-40B4-BE49-F238E27FC236}">
                <a16:creationId xmlns:a16="http://schemas.microsoft.com/office/drawing/2014/main" id="{BBCA6396-B821-B9D1-5460-F3924A352544}"/>
              </a:ext>
            </a:extLst>
          </p:cNvPr>
          <p:cNvSpPr txBox="1"/>
          <p:nvPr/>
        </p:nvSpPr>
        <p:spPr>
          <a:xfrm>
            <a:off x="1005840" y="2057400"/>
            <a:ext cx="4639180" cy="822960"/>
          </a:xfrm>
          <a:prstGeom prst="rect">
            <a:avLst/>
          </a:prstGeom>
          <a:noFill/>
          <a:ln/>
        </p:spPr>
        <p:txBody>
          <a:bodyPr wrap="square" lIns="0" tIns="0" rIns="0" bIns="0" rtlCol="0" anchor="t"/>
          <a:lstStyle/>
          <a:p>
            <a:pPr>
              <a:spcAft>
                <a:spcPts val="400"/>
              </a:spcAft>
            </a:pPr>
            <a:r>
              <a:rPr lang="en-US" sz="1900" b="1" dirty="0">
                <a:solidFill>
                  <a:srgbClr val="9DB4FF"/>
                </a:solidFill>
                <a:latin typeface="Calibri" pitchFamily="34" charset="0"/>
                <a:ea typeface="Calibri" pitchFamily="34" charset="-122"/>
                <a:cs typeface="Calibri" pitchFamily="34" charset="-120"/>
              </a:rPr>
              <a:t>Weight update : </a:t>
            </a:r>
            <a:r>
              <a:rPr lang="cy-GB" sz="1900" b="1" dirty="0">
                <a:solidFill>
                  <a:srgbClr val="F2F2F8"/>
                </a:solidFill>
                <a:latin typeface="Calibri" pitchFamily="34" charset="0"/>
                <a:ea typeface="Calibri" pitchFamily="34" charset="-122"/>
                <a:cs typeface="Calibri" pitchFamily="34" charset="-120"/>
              </a:rPr>
              <a:t>w</a:t>
            </a:r>
            <a:r>
              <a:rPr lang="cy-GB" sz="1900" baseline="-25000" dirty="0">
                <a:solidFill>
                  <a:srgbClr val="F2F2F8"/>
                </a:solidFill>
                <a:latin typeface="Calibri" pitchFamily="34" charset="0"/>
                <a:ea typeface="Calibri" pitchFamily="34" charset="-122"/>
                <a:cs typeface="Calibri" pitchFamily="34" charset="-120"/>
              </a:rPr>
              <a:t>new</a:t>
            </a:r>
            <a:r>
              <a:rPr lang="cy-GB" sz="1900" dirty="0">
                <a:solidFill>
                  <a:srgbClr val="F2F2F8"/>
                </a:solidFill>
                <a:latin typeface="Calibri" pitchFamily="34" charset="0"/>
                <a:ea typeface="Calibri" pitchFamily="34" charset="-122"/>
                <a:cs typeface="Calibri" pitchFamily="34" charset="-120"/>
              </a:rPr>
              <a:t> = w</a:t>
            </a:r>
            <a:r>
              <a:rPr lang="cy-GB" sz="1900" baseline="-25000" dirty="0">
                <a:solidFill>
                  <a:srgbClr val="F2F2F8"/>
                </a:solidFill>
                <a:latin typeface="Calibri" pitchFamily="34" charset="0"/>
                <a:ea typeface="Calibri" pitchFamily="34" charset="-122"/>
                <a:cs typeface="Calibri" pitchFamily="34" charset="-120"/>
              </a:rPr>
              <a:t>old </a:t>
            </a:r>
            <a:r>
              <a:rPr lang="cy-GB" sz="1900" dirty="0">
                <a:solidFill>
                  <a:srgbClr val="F2F2F8"/>
                </a:solidFill>
                <a:latin typeface="Calibri" pitchFamily="34" charset="0"/>
                <a:ea typeface="Calibri" pitchFamily="34" charset="-122"/>
                <a:cs typeface="Calibri" pitchFamily="34" charset="-120"/>
              </a:rPr>
              <a:t>+ </a:t>
            </a:r>
            <a:r>
              <a:rPr lang="el-GR" sz="1900" dirty="0">
                <a:solidFill>
                  <a:srgbClr val="F2F2F8"/>
                </a:solidFill>
                <a:latin typeface="Calibri" pitchFamily="34" charset="0"/>
                <a:ea typeface="Calibri" pitchFamily="34" charset="-122"/>
                <a:cs typeface="Calibri" pitchFamily="34" charset="-120"/>
              </a:rPr>
              <a:t>η × (</a:t>
            </a:r>
            <a:r>
              <a:rPr lang="cy-GB" sz="1900" dirty="0">
                <a:solidFill>
                  <a:srgbClr val="F2F2F8"/>
                </a:solidFill>
                <a:latin typeface="Calibri" pitchFamily="34" charset="0"/>
                <a:ea typeface="Calibri" pitchFamily="34" charset="-122"/>
                <a:cs typeface="Calibri" pitchFamily="34" charset="-120"/>
              </a:rPr>
              <a:t>yᵢ − ŷᵢ) . xᵢ</a:t>
            </a:r>
          </a:p>
          <a:p>
            <a:pPr>
              <a:spcAft>
                <a:spcPts val="400"/>
              </a:spcAft>
            </a:pPr>
            <a:r>
              <a:rPr lang="en-US" sz="1900" b="1" dirty="0">
                <a:solidFill>
                  <a:srgbClr val="9DB4FF"/>
                </a:solidFill>
                <a:latin typeface="Calibri" pitchFamily="34" charset="0"/>
                <a:ea typeface="Calibri" pitchFamily="34" charset="-122"/>
                <a:cs typeface="Calibri" pitchFamily="34" charset="-120"/>
              </a:rPr>
              <a:t>Bias update : </a:t>
            </a:r>
            <a:r>
              <a:rPr lang="cy-GB" sz="1900" b="1" dirty="0">
                <a:solidFill>
                  <a:srgbClr val="F2F2F8"/>
                </a:solidFill>
                <a:latin typeface="Calibri" pitchFamily="34" charset="0"/>
                <a:ea typeface="Calibri" pitchFamily="34" charset="-122"/>
                <a:cs typeface="Calibri" pitchFamily="34" charset="-120"/>
              </a:rPr>
              <a:t>b</a:t>
            </a:r>
            <a:r>
              <a:rPr lang="cy-GB" sz="1900" baseline="-25000" dirty="0">
                <a:solidFill>
                  <a:srgbClr val="F2F2F8"/>
                </a:solidFill>
                <a:latin typeface="Calibri" pitchFamily="34" charset="0"/>
                <a:ea typeface="Calibri" pitchFamily="34" charset="-122"/>
                <a:cs typeface="Calibri" pitchFamily="34" charset="-120"/>
              </a:rPr>
              <a:t>new</a:t>
            </a:r>
            <a:r>
              <a:rPr lang="cy-GB" sz="1900" dirty="0">
                <a:solidFill>
                  <a:srgbClr val="F2F2F8"/>
                </a:solidFill>
                <a:latin typeface="Calibri" pitchFamily="34" charset="0"/>
                <a:ea typeface="Calibri" pitchFamily="34" charset="-122"/>
                <a:cs typeface="Calibri" pitchFamily="34" charset="-120"/>
              </a:rPr>
              <a:t> = b</a:t>
            </a:r>
            <a:r>
              <a:rPr lang="cy-GB" sz="1900" baseline="-25000" dirty="0">
                <a:solidFill>
                  <a:srgbClr val="F2F2F8"/>
                </a:solidFill>
                <a:latin typeface="Calibri" pitchFamily="34" charset="0"/>
                <a:ea typeface="Calibri" pitchFamily="34" charset="-122"/>
                <a:cs typeface="Calibri" pitchFamily="34" charset="-120"/>
              </a:rPr>
              <a:t>old </a:t>
            </a:r>
            <a:r>
              <a:rPr lang="cy-GB" sz="1900" dirty="0">
                <a:solidFill>
                  <a:srgbClr val="F2F2F8"/>
                </a:solidFill>
                <a:latin typeface="Calibri" pitchFamily="34" charset="0"/>
                <a:ea typeface="Calibri" pitchFamily="34" charset="-122"/>
                <a:cs typeface="Calibri" pitchFamily="34" charset="-120"/>
              </a:rPr>
              <a:t>+ </a:t>
            </a:r>
            <a:r>
              <a:rPr lang="el-GR" sz="1900" dirty="0">
                <a:solidFill>
                  <a:srgbClr val="F2F2F8"/>
                </a:solidFill>
                <a:latin typeface="Calibri" pitchFamily="34" charset="0"/>
                <a:ea typeface="Calibri" pitchFamily="34" charset="-122"/>
                <a:cs typeface="Calibri" pitchFamily="34" charset="-120"/>
              </a:rPr>
              <a:t>η × (</a:t>
            </a:r>
            <a:r>
              <a:rPr lang="cy-GB" sz="1900" dirty="0">
                <a:solidFill>
                  <a:srgbClr val="F2F2F8"/>
                </a:solidFill>
                <a:latin typeface="Calibri" pitchFamily="34" charset="0"/>
                <a:ea typeface="Calibri" pitchFamily="34" charset="-122"/>
                <a:cs typeface="Calibri" pitchFamily="34" charset="-120"/>
              </a:rPr>
              <a:t>yᵢ − ŷᵢ) </a:t>
            </a:r>
          </a:p>
        </p:txBody>
      </p:sp>
      <p:pic>
        <p:nvPicPr>
          <p:cNvPr id="21" name="table">
            <a:extLst>
              <a:ext uri="{FF2B5EF4-FFF2-40B4-BE49-F238E27FC236}">
                <a16:creationId xmlns:a16="http://schemas.microsoft.com/office/drawing/2014/main" id="{6FDBC260-675E-462C-2854-6FD0ADDCB5B2}"/>
              </a:ext>
            </a:extLst>
          </p:cNvPr>
          <p:cNvPicPr>
            <a:picLocks noChangeAspect="1"/>
          </p:cNvPicPr>
          <p:nvPr/>
        </p:nvPicPr>
        <p:blipFill>
          <a:blip r:embed="rId4"/>
          <a:stretch>
            <a:fillRect/>
          </a:stretch>
        </p:blipFill>
        <p:spPr>
          <a:xfrm>
            <a:off x="731520" y="3474720"/>
            <a:ext cx="10725912" cy="2932610"/>
          </a:xfrm>
          <a:prstGeom prst="rect">
            <a:avLst/>
          </a:prstGeom>
        </p:spPr>
      </p:pic>
    </p:spTree>
    <p:extLst>
      <p:ext uri="{BB962C8B-B14F-4D97-AF65-F5344CB8AC3E}">
        <p14:creationId xmlns:p14="http://schemas.microsoft.com/office/powerpoint/2010/main" val="564620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Shape 16">
            <a:extLst>
              <a:ext uri="{FF2B5EF4-FFF2-40B4-BE49-F238E27FC236}">
                <a16:creationId xmlns:a16="http://schemas.microsoft.com/office/drawing/2014/main" id="{CE0C2885-4EF9-FDF1-83A9-68CE9201F19E}"/>
              </a:ext>
            </a:extLst>
          </p:cNvPr>
          <p:cNvSpPr/>
          <p:nvPr/>
        </p:nvSpPr>
        <p:spPr>
          <a:xfrm>
            <a:off x="1004596" y="1874520"/>
            <a:ext cx="9940212" cy="2860040"/>
          </a:xfrm>
          <a:prstGeom prst="roundRect">
            <a:avLst>
              <a:gd name="adj" fmla="val 7059"/>
            </a:avLst>
          </a:prstGeom>
          <a:solidFill>
            <a:srgbClr val="1C2036"/>
          </a:solidFill>
          <a:ln w="9525">
            <a:solidFill>
              <a:srgbClr val="343A58"/>
            </a:solidFill>
            <a:prstDash val="solid"/>
          </a:ln>
        </p:spPr>
        <p:txBody>
          <a:bodyPr/>
          <a:lstStyle/>
          <a:p>
            <a:endParaRPr lang="en-IN"/>
          </a:p>
        </p:txBody>
      </p:sp>
      <p:sp>
        <p:nvSpPr>
          <p:cNvPr id="7" name="TextBox 6">
            <a:extLst>
              <a:ext uri="{FF2B5EF4-FFF2-40B4-BE49-F238E27FC236}">
                <a16:creationId xmlns:a16="http://schemas.microsoft.com/office/drawing/2014/main" id="{89D59B3C-5F88-1EB8-BAFC-E10D8236E2E4}"/>
              </a:ext>
            </a:extLst>
          </p:cNvPr>
          <p:cNvSpPr txBox="1"/>
          <p:nvPr/>
        </p:nvSpPr>
        <p:spPr>
          <a:xfrm>
            <a:off x="1011644" y="1306497"/>
            <a:ext cx="10182808" cy="1323439"/>
          </a:xfrm>
          <a:prstGeom prst="rect">
            <a:avLst/>
          </a:prstGeom>
          <a:noFill/>
        </p:spPr>
        <p:txBody>
          <a:bodyPr wrap="square">
            <a:spAutoFit/>
          </a:bodyPr>
          <a:lstStyle/>
          <a:p>
            <a:pPr marL="342900" indent="-342900">
              <a:buFont typeface="Wingdings" panose="05000000000000000000" pitchFamily="2" charset="2"/>
              <a:buChar char="q"/>
            </a:pPr>
            <a:r>
              <a:rPr lang="en-IN" sz="2400" b="1" dirty="0">
                <a:solidFill>
                  <a:schemeClr val="bg1"/>
                </a:solidFill>
              </a:rPr>
              <a:t>What Is Loss and Why Do We Use It ?</a:t>
            </a:r>
          </a:p>
          <a:p>
            <a:endParaRPr lang="en-IN" sz="2000" b="1" dirty="0">
              <a:solidFill>
                <a:schemeClr val="bg1"/>
              </a:solidFill>
            </a:endParaRPr>
          </a:p>
          <a:p>
            <a:endParaRPr lang="en-IN" dirty="0">
              <a:solidFill>
                <a:schemeClr val="bg1"/>
              </a:solidFill>
            </a:endParaRPr>
          </a:p>
          <a:p>
            <a:endParaRPr lang="en-IN" dirty="0">
              <a:solidFill>
                <a:schemeClr val="bg1"/>
              </a:solidFill>
            </a:endParaRPr>
          </a:p>
        </p:txBody>
      </p:sp>
      <p:sp>
        <p:nvSpPr>
          <p:cNvPr id="9" name="Text 14">
            <a:extLst>
              <a:ext uri="{FF2B5EF4-FFF2-40B4-BE49-F238E27FC236}">
                <a16:creationId xmlns:a16="http://schemas.microsoft.com/office/drawing/2014/main" id="{8A769CB7-A6B2-B0A2-A1B6-11BAC77364A2}"/>
              </a:ext>
            </a:extLst>
          </p:cNvPr>
          <p:cNvSpPr txBox="1"/>
          <p:nvPr/>
        </p:nvSpPr>
        <p:spPr>
          <a:xfrm>
            <a:off x="1410789" y="271520"/>
            <a:ext cx="9144000" cy="868680"/>
          </a:xfrm>
          <a:prstGeom prst="rect">
            <a:avLst/>
          </a:prstGeom>
          <a:noFill/>
          <a:ln/>
        </p:spPr>
        <p:txBody>
          <a:bodyPr wrap="square" lIns="0" tIns="0" rIns="0" bIns="0" rtlCol="0" anchor="ctr"/>
          <a:lstStyle/>
          <a:p>
            <a:pPr marL="0" indent="0" algn="ctr">
              <a:buNone/>
            </a:pPr>
            <a:r>
              <a:rPr lang="en-US" sz="3200" dirty="0">
                <a:solidFill>
                  <a:srgbClr val="F2F2F8"/>
                </a:solidFill>
                <a:latin typeface="Impact" pitchFamily="34" charset="0"/>
                <a:ea typeface="Impact" pitchFamily="34" charset="-122"/>
                <a:cs typeface="Impact" pitchFamily="34" charset="-120"/>
              </a:rPr>
              <a:t>Update weights and Bias using loss function</a:t>
            </a:r>
            <a:endParaRPr lang="en-US" sz="32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E57B607-22C4-0D0A-0AF0-8E49E4B71D10}"/>
                  </a:ext>
                </a:extLst>
              </p:cNvPr>
              <p:cNvSpPr txBox="1"/>
              <p:nvPr/>
            </p:nvSpPr>
            <p:spPr>
              <a:xfrm>
                <a:off x="1215779" y="1968216"/>
                <a:ext cx="9534019" cy="3232295"/>
              </a:xfrm>
              <a:prstGeom prst="rect">
                <a:avLst/>
              </a:prstGeom>
              <a:noFill/>
            </p:spPr>
            <p:txBody>
              <a:bodyPr wrap="square" rtlCol="0">
                <a:spAutoFit/>
              </a:bodyPr>
              <a:lstStyle/>
              <a:p>
                <a:r>
                  <a:rPr lang="en-IN" sz="2000" dirty="0">
                    <a:solidFill>
                      <a:schemeClr val="bg1"/>
                    </a:solidFill>
                  </a:rPr>
                  <a:t>Loss is a numerical measure of how incorrectly a perceptron classifies the training data.</a:t>
                </a:r>
              </a:p>
              <a:p>
                <a:r>
                  <a:rPr lang="en-IN" sz="2000" dirty="0">
                    <a:solidFill>
                      <a:schemeClr val="bg1"/>
                    </a:solidFill>
                  </a:rPr>
                  <a:t>It helps measure the errors made by the model, and the objective of training is to minimize the total loss.</a:t>
                </a:r>
              </a:p>
              <a:p>
                <a:r>
                  <a:rPr lang="en-IN" dirty="0">
                    <a:solidFill>
                      <a:schemeClr val="bg1"/>
                    </a:solidFill>
                  </a:rPr>
                  <a:t>Perceptron Loss Function</a:t>
                </a:r>
              </a:p>
              <a:p>
                <a:r>
                  <a:rPr lang="en-IN" dirty="0">
                    <a:solidFill>
                      <a:schemeClr val="bg1"/>
                    </a:solidFill>
                  </a:rPr>
                  <a:t>Formula:</a:t>
                </a:r>
              </a:p>
              <a:p>
                <a:pPr/>
                <a14:m>
                  <m:oMathPara xmlns:m="http://schemas.openxmlformats.org/officeDocument/2006/math">
                    <m:oMath>
                      <m:borderBox>
                        <m:borderBoxPr>
                          <m:ctrlPr>
                            <a:rPr lang="en-US" sz="2200" b="1" i="0" smtClean="0">
                              <a:solidFill>
                                <a:schemeClr val="bg2"/>
                              </a:solidFill>
                              <a:latin typeface="Cambria Math" panose="02040503050406030204" pitchFamily="18" charset="0"/>
                            </a:rPr>
                          </m:ctrlPr>
                        </m:borderBoxPr>
                        <m:e>
                          <m:r>
                            <a:rPr lang="en-US" sz="2200" b="1" i="0" smtClean="0">
                              <a:solidFill>
                                <a:schemeClr val="bg2"/>
                              </a:solidFill>
                              <a:latin typeface="Cambria Math" panose="02040503050406030204" pitchFamily="18" charset="0"/>
                            </a:rPr>
                            <m:t> </m:t>
                          </m:r>
                          <m:r>
                            <a:rPr lang="en-US" sz="2200" b="1" i="0" smtClean="0">
                              <a:solidFill>
                                <a:schemeClr val="bg2"/>
                              </a:solidFill>
                              <a:latin typeface="Cambria Math" panose="02040503050406030204" pitchFamily="18" charset="0"/>
                            </a:rPr>
                            <m:t>𝐋</m:t>
                          </m:r>
                          <m:r>
                            <a:rPr lang="en-US" sz="2200" b="1" i="0" smtClean="0">
                              <a:solidFill>
                                <a:schemeClr val="bg2"/>
                              </a:solidFill>
                              <a:latin typeface="Cambria Math" panose="02040503050406030204" pitchFamily="18" charset="0"/>
                            </a:rPr>
                            <m:t> =</m:t>
                          </m:r>
                          <m:f>
                            <m:fPr>
                              <m:ctrlPr>
                                <a:rPr lang="en-IN" sz="2200" b="1" i="1">
                                  <a:solidFill>
                                    <a:schemeClr val="bg2"/>
                                  </a:solidFill>
                                  <a:latin typeface="Cambria Math" panose="02040503050406030204" pitchFamily="18" charset="0"/>
                                </a:rPr>
                              </m:ctrlPr>
                            </m:fPr>
                            <m:num>
                              <m:r>
                                <a:rPr lang="en-IN" sz="2200" b="1" i="1">
                                  <a:solidFill>
                                    <a:schemeClr val="bg2"/>
                                  </a:solidFill>
                                  <a:latin typeface="Cambria Math" panose="02040503050406030204" pitchFamily="18" charset="0"/>
                                </a:rPr>
                                <m:t>𝟏</m:t>
                              </m:r>
                            </m:num>
                            <m:den>
                              <m:r>
                                <a:rPr lang="en-IN" sz="2200" b="1" i="1">
                                  <a:solidFill>
                                    <a:schemeClr val="bg2"/>
                                  </a:solidFill>
                                  <a:latin typeface="Cambria Math" panose="02040503050406030204" pitchFamily="18" charset="0"/>
                                </a:rPr>
                                <m:t>𝑵</m:t>
                              </m:r>
                            </m:den>
                          </m:f>
                          <m:func>
                            <m:funcPr>
                              <m:ctrlPr>
                                <a:rPr lang="en-IN" sz="2200" b="1" i="1">
                                  <a:solidFill>
                                    <a:schemeClr val="bg2"/>
                                  </a:solidFill>
                                  <a:latin typeface="Cambria Math" panose="02040503050406030204" pitchFamily="18" charset="0"/>
                                </a:rPr>
                              </m:ctrlPr>
                            </m:funcPr>
                            <m:fName>
                              <m:nary>
                                <m:naryPr>
                                  <m:chr m:val="∑"/>
                                  <m:grow m:val="on"/>
                                  <m:ctrlPr>
                                    <a:rPr lang="en-IN" sz="2200" b="1" i="1">
                                      <a:solidFill>
                                        <a:schemeClr val="bg2"/>
                                      </a:solidFill>
                                      <a:latin typeface="Cambria Math" panose="02040503050406030204" pitchFamily="18" charset="0"/>
                                    </a:rPr>
                                  </m:ctrlPr>
                                </m:naryPr>
                                <m:sub>
                                  <m:r>
                                    <a:rPr lang="en-IN" sz="2200" b="1" i="1">
                                      <a:solidFill>
                                        <a:schemeClr val="bg2"/>
                                      </a:solidFill>
                                      <a:latin typeface="Cambria Math" panose="02040503050406030204" pitchFamily="18" charset="0"/>
                                    </a:rPr>
                                    <m:t>𝒊</m:t>
                                  </m:r>
                                  <m:r>
                                    <a:rPr lang="en-IN" sz="2200" b="1">
                                      <a:solidFill>
                                        <a:schemeClr val="bg2"/>
                                      </a:solidFill>
                                      <a:latin typeface="Cambria Math" panose="02040503050406030204" pitchFamily="18" charset="0"/>
                                    </a:rPr>
                                    <m:t>=</m:t>
                                  </m:r>
                                  <m:r>
                                    <a:rPr lang="en-IN" sz="2200" b="1" i="1">
                                      <a:solidFill>
                                        <a:schemeClr val="bg2"/>
                                      </a:solidFill>
                                      <a:latin typeface="Cambria Math" panose="02040503050406030204" pitchFamily="18" charset="0"/>
                                    </a:rPr>
                                    <m:t>𝟏</m:t>
                                  </m:r>
                                </m:sub>
                                <m:sup>
                                  <m:r>
                                    <a:rPr lang="en-IN" sz="2200" b="1" i="1">
                                      <a:solidFill>
                                        <a:schemeClr val="bg2"/>
                                      </a:solidFill>
                                      <a:latin typeface="Cambria Math" panose="02040503050406030204" pitchFamily="18" charset="0"/>
                                    </a:rPr>
                                    <m:t>𝑵</m:t>
                                  </m:r>
                                </m:sup>
                                <m:e>
                                  <m:r>
                                    <a:rPr lang="en-IN" sz="2200" b="1" i="1">
                                      <a:solidFill>
                                        <a:schemeClr val="bg2"/>
                                      </a:solidFill>
                                      <a:latin typeface="Cambria Math" panose="02040503050406030204" pitchFamily="18" charset="0"/>
                                    </a:rPr>
                                    <m:t>𝒎𝒂𝒙</m:t>
                                  </m:r>
                                </m:e>
                              </m:nary>
                            </m:fName>
                            <m:e>
                              <m:d>
                                <m:dPr>
                                  <m:sepChr m:val=","/>
                                  <m:ctrlPr>
                                    <a:rPr lang="en-IN" sz="2200" b="1" i="1">
                                      <a:solidFill>
                                        <a:schemeClr val="bg2"/>
                                      </a:solidFill>
                                      <a:latin typeface="Cambria Math" panose="02040503050406030204" pitchFamily="18" charset="0"/>
                                    </a:rPr>
                                  </m:ctrlPr>
                                </m:dPr>
                                <m:e>
                                  <m:r>
                                    <a:rPr lang="en-IN" sz="2200" b="1" i="1">
                                      <a:solidFill>
                                        <a:schemeClr val="bg2"/>
                                      </a:solidFill>
                                      <a:latin typeface="Cambria Math" panose="02040503050406030204" pitchFamily="18" charset="0"/>
                                    </a:rPr>
                                    <m:t>𝟎</m:t>
                                  </m:r>
                                </m:e>
                                <m:e>
                                  <m:r>
                                    <a:rPr lang="en-IN" sz="2200" b="1">
                                      <a:solidFill>
                                        <a:schemeClr val="bg2"/>
                                      </a:solidFill>
                                      <a:latin typeface="Cambria Math" panose="02040503050406030204" pitchFamily="18" charset="0"/>
                                    </a:rPr>
                                    <m:t>−</m:t>
                                  </m:r>
                                  <m:sSub>
                                    <m:sSubPr>
                                      <m:ctrlPr>
                                        <a:rPr lang="en-IN" sz="2200" b="1" i="1">
                                          <a:solidFill>
                                            <a:schemeClr val="bg2"/>
                                          </a:solidFill>
                                          <a:latin typeface="Cambria Math" panose="02040503050406030204" pitchFamily="18" charset="0"/>
                                        </a:rPr>
                                      </m:ctrlPr>
                                    </m:sSubPr>
                                    <m:e>
                                      <m:r>
                                        <a:rPr lang="en-IN" sz="2200" b="1" i="1">
                                          <a:solidFill>
                                            <a:schemeClr val="bg2"/>
                                          </a:solidFill>
                                          <a:latin typeface="Cambria Math" panose="02040503050406030204" pitchFamily="18" charset="0"/>
                                        </a:rPr>
                                        <m:t>𝒚</m:t>
                                      </m:r>
                                    </m:e>
                                    <m:sub>
                                      <m:r>
                                        <a:rPr lang="en-IN" sz="2200" b="1" i="1">
                                          <a:solidFill>
                                            <a:schemeClr val="bg2"/>
                                          </a:solidFill>
                                          <a:latin typeface="Cambria Math" panose="02040503050406030204" pitchFamily="18" charset="0"/>
                                        </a:rPr>
                                        <m:t>𝒊</m:t>
                                      </m:r>
                                    </m:sub>
                                  </m:sSub>
                                  <m:r>
                                    <a:rPr lang="en-IN" sz="2200" b="1" i="1">
                                      <a:solidFill>
                                        <a:schemeClr val="bg2"/>
                                      </a:solidFill>
                                      <a:latin typeface="Cambria Math" panose="02040503050406030204" pitchFamily="18" charset="0"/>
                                    </a:rPr>
                                    <m:t>𝒇</m:t>
                                  </m:r>
                                  <m:d>
                                    <m:dPr>
                                      <m:ctrlPr>
                                        <a:rPr lang="en-IN" sz="2200" b="1" i="1">
                                          <a:solidFill>
                                            <a:schemeClr val="bg2"/>
                                          </a:solidFill>
                                          <a:latin typeface="Cambria Math" panose="02040503050406030204" pitchFamily="18" charset="0"/>
                                        </a:rPr>
                                      </m:ctrlPr>
                                    </m:dPr>
                                    <m:e>
                                      <m:sSub>
                                        <m:sSubPr>
                                          <m:ctrlPr>
                                            <a:rPr lang="en-IN" sz="2200" b="1" i="1">
                                              <a:solidFill>
                                                <a:schemeClr val="bg2"/>
                                              </a:solidFill>
                                              <a:latin typeface="Cambria Math" panose="02040503050406030204" pitchFamily="18" charset="0"/>
                                            </a:rPr>
                                          </m:ctrlPr>
                                        </m:sSubPr>
                                        <m:e>
                                          <m:r>
                                            <a:rPr lang="en-IN" sz="2200" b="1" i="1">
                                              <a:solidFill>
                                                <a:schemeClr val="bg2"/>
                                              </a:solidFill>
                                              <a:latin typeface="Cambria Math" panose="02040503050406030204" pitchFamily="18" charset="0"/>
                                            </a:rPr>
                                            <m:t>𝒙</m:t>
                                          </m:r>
                                        </m:e>
                                        <m:sub>
                                          <m:r>
                                            <a:rPr lang="en-IN" sz="2200" b="1" i="1">
                                              <a:solidFill>
                                                <a:schemeClr val="bg2"/>
                                              </a:solidFill>
                                              <a:latin typeface="Cambria Math" panose="02040503050406030204" pitchFamily="18" charset="0"/>
                                            </a:rPr>
                                            <m:t>𝒊</m:t>
                                          </m:r>
                                        </m:sub>
                                      </m:sSub>
                                    </m:e>
                                  </m:d>
                                </m:e>
                              </m:d>
                            </m:e>
                          </m:func>
                        </m:e>
                      </m:borderBox>
                    </m:oMath>
                  </m:oMathPara>
                </a14:m>
                <a:endParaRPr lang="en-IN" sz="2200" b="1" dirty="0"/>
              </a:p>
              <a:p>
                <a:endParaRPr lang="en-IN" dirty="0">
                  <a:solidFill>
                    <a:schemeClr val="bg1"/>
                  </a:solidFill>
                </a:endParaRPr>
              </a:p>
              <a:p>
                <a:endParaRPr lang="en-IN" dirty="0"/>
              </a:p>
            </p:txBody>
          </p:sp>
        </mc:Choice>
        <mc:Fallback xmlns="">
          <p:sp>
            <p:nvSpPr>
              <p:cNvPr id="12" name="TextBox 11">
                <a:extLst>
                  <a:ext uri="{FF2B5EF4-FFF2-40B4-BE49-F238E27FC236}">
                    <a16:creationId xmlns:a16="http://schemas.microsoft.com/office/drawing/2014/main" id="{0E57B607-22C4-0D0A-0AF0-8E49E4B71D10}"/>
                  </a:ext>
                </a:extLst>
              </p:cNvPr>
              <p:cNvSpPr txBox="1">
                <a:spLocks noRot="1" noChangeAspect="1" noMove="1" noResize="1" noEditPoints="1" noAdjustHandles="1" noChangeArrowheads="1" noChangeShapeType="1" noTextEdit="1"/>
              </p:cNvSpPr>
              <p:nvPr/>
            </p:nvSpPr>
            <p:spPr>
              <a:xfrm>
                <a:off x="1215779" y="1968216"/>
                <a:ext cx="9534019" cy="3232295"/>
              </a:xfrm>
              <a:prstGeom prst="rect">
                <a:avLst/>
              </a:prstGeom>
              <a:blipFill>
                <a:blip r:embed="rId4"/>
                <a:stretch>
                  <a:fillRect l="-639" t="-1132"/>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4F3C4A5E-B89E-4F25-E5E9-C54AE8E7947E}"/>
              </a:ext>
            </a:extLst>
          </p:cNvPr>
          <p:cNvSpPr txBox="1"/>
          <p:nvPr/>
        </p:nvSpPr>
        <p:spPr>
          <a:xfrm>
            <a:off x="1187163" y="4809205"/>
            <a:ext cx="9666514" cy="2031325"/>
          </a:xfrm>
          <a:prstGeom prst="rect">
            <a:avLst/>
          </a:prstGeom>
          <a:noFill/>
        </p:spPr>
        <p:txBody>
          <a:bodyPr wrap="square" rtlCol="0">
            <a:spAutoFit/>
          </a:bodyPr>
          <a:lstStyle/>
          <a:p>
            <a:r>
              <a:rPr lang="en-IN" dirty="0">
                <a:solidFill>
                  <a:schemeClr val="bg1"/>
                </a:solidFill>
              </a:rPr>
              <a:t>Where:</a:t>
            </a:r>
          </a:p>
          <a:p>
            <a:pPr marL="285750" indent="-285750">
              <a:buFont typeface="Wingdings" panose="05000000000000000000" pitchFamily="2" charset="2"/>
              <a:buChar char="Ø"/>
            </a:pPr>
            <a:r>
              <a:rPr lang="en-IN" dirty="0">
                <a:solidFill>
                  <a:schemeClr val="bg1"/>
                </a:solidFill>
              </a:rPr>
              <a:t>L = Average loss over the training dataset</a:t>
            </a:r>
          </a:p>
          <a:p>
            <a:pPr marL="285750" indent="-285750">
              <a:buFont typeface="Wingdings" panose="05000000000000000000" pitchFamily="2" charset="2"/>
              <a:buChar char="Ø"/>
            </a:pPr>
            <a:r>
              <a:rPr lang="en-IN" dirty="0">
                <a:solidFill>
                  <a:schemeClr val="bg1"/>
                </a:solidFill>
              </a:rPr>
              <a:t>N = Total number of training samples</a:t>
            </a:r>
          </a:p>
          <a:p>
            <a:pPr marL="285750" indent="-285750">
              <a:buFont typeface="Wingdings" panose="05000000000000000000" pitchFamily="2" charset="2"/>
              <a:buChar char="Ø"/>
            </a:pPr>
            <a:r>
              <a:rPr lang="en-IN" dirty="0">
                <a:solidFill>
                  <a:schemeClr val="bg1"/>
                </a:solidFill>
              </a:rPr>
              <a:t>yᵢ = True label (+1 or −1)</a:t>
            </a:r>
          </a:p>
          <a:p>
            <a:pPr marL="285750" indent="-285750">
              <a:buFont typeface="Wingdings" panose="05000000000000000000" pitchFamily="2" charset="2"/>
              <a:buChar char="Ø"/>
            </a:pPr>
            <a:r>
              <a:rPr lang="en-IN" dirty="0">
                <a:solidFill>
                  <a:schemeClr val="bg1"/>
                </a:solidFill>
              </a:rPr>
              <a:t>f(xᵢ) = Model's prediction value</a:t>
            </a:r>
          </a:p>
          <a:p>
            <a:pPr marL="285750" indent="-285750">
              <a:buFont typeface="Wingdings" panose="05000000000000000000" pitchFamily="2" charset="2"/>
              <a:buChar char="Ø"/>
            </a:pPr>
            <a:r>
              <a:rPr lang="en-IN" dirty="0">
                <a:solidFill>
                  <a:schemeClr val="bg1"/>
                </a:solidFill>
              </a:rPr>
              <a:t>max(0, …) = Ensures that correctly classified samples have zero loss under this formula.</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5E7CE9B-D1D3-0A1D-FD29-97D8D9BAAF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096248-44BC-97C5-8D5B-7AF6DBF4808B}"/>
              </a:ext>
            </a:extLst>
          </p:cNvPr>
          <p:cNvSpPr/>
          <p:nvPr/>
        </p:nvSpPr>
        <p:spPr>
          <a:xfrm>
            <a:off x="731520" y="375920"/>
            <a:ext cx="10725912" cy="6126480"/>
          </a:xfrm>
          <a:prstGeom prst="roundRect">
            <a:avLst>
              <a:gd name="adj" fmla="val 1846"/>
            </a:avLst>
          </a:prstGeom>
          <a:solidFill>
            <a:srgbClr val="1C2036"/>
          </a:solidFill>
          <a:ln w="9525">
            <a:solidFill>
              <a:srgbClr val="343A58"/>
            </a:solidFill>
            <a:prstDash val="solid"/>
          </a:ln>
        </p:spPr>
        <p:txBody>
          <a:bodyPr/>
          <a:lstStyle/>
          <a:p>
            <a:endParaRPr lang="en-IN"/>
          </a:p>
        </p:txBody>
      </p:sp>
      <p:pic>
        <p:nvPicPr>
          <p:cNvPr id="5" name="Picture 4">
            <a:extLst>
              <a:ext uri="{FF2B5EF4-FFF2-40B4-BE49-F238E27FC236}">
                <a16:creationId xmlns:a16="http://schemas.microsoft.com/office/drawing/2014/main" id="{0C080618-6771-7BBB-3F81-F892E8213CE6}"/>
              </a:ext>
            </a:extLst>
          </p:cNvPr>
          <p:cNvPicPr>
            <a:picLocks noChangeAspect="1"/>
          </p:cNvPicPr>
          <p:nvPr/>
        </p:nvPicPr>
        <p:blipFill>
          <a:blip r:embed="rId4"/>
          <a:stretch>
            <a:fillRect/>
          </a:stretch>
        </p:blipFill>
        <p:spPr>
          <a:xfrm>
            <a:off x="1137920" y="2045509"/>
            <a:ext cx="3863675" cy="3520745"/>
          </a:xfrm>
          <a:prstGeom prst="rect">
            <a:avLst/>
          </a:prstGeom>
          <a:effectLst>
            <a:softEdge rad="25400"/>
          </a:effectLst>
        </p:spPr>
      </p:pic>
      <p:sp>
        <p:nvSpPr>
          <p:cNvPr id="7" name="TextBox 6">
            <a:extLst>
              <a:ext uri="{FF2B5EF4-FFF2-40B4-BE49-F238E27FC236}">
                <a16:creationId xmlns:a16="http://schemas.microsoft.com/office/drawing/2014/main" id="{3F9C3D07-57BE-F703-8688-4D8164896B00}"/>
              </a:ext>
            </a:extLst>
          </p:cNvPr>
          <p:cNvSpPr txBox="1"/>
          <p:nvPr/>
        </p:nvSpPr>
        <p:spPr>
          <a:xfrm>
            <a:off x="1766601" y="541990"/>
            <a:ext cx="8493189" cy="584775"/>
          </a:xfrm>
          <a:prstGeom prst="rect">
            <a:avLst/>
          </a:prstGeom>
          <a:noFill/>
        </p:spPr>
        <p:txBody>
          <a:bodyPr wrap="square">
            <a:spAutoFit/>
          </a:bodyPr>
          <a:lstStyle/>
          <a:p>
            <a:pPr marL="0" indent="0" algn="ctr">
              <a:buNone/>
            </a:pPr>
            <a:r>
              <a:rPr lang="en-US" sz="3200" dirty="0">
                <a:solidFill>
                  <a:srgbClr val="F2F2F8"/>
                </a:solidFill>
                <a:latin typeface="Impact" pitchFamily="34" charset="0"/>
                <a:ea typeface="Impact" pitchFamily="34" charset="-122"/>
                <a:cs typeface="Impact" pitchFamily="34" charset="-120"/>
              </a:rPr>
              <a:t>The </a:t>
            </a:r>
            <a:r>
              <a:rPr lang="en-US" sz="3200" dirty="0" err="1">
                <a:solidFill>
                  <a:srgbClr val="F2F2F8"/>
                </a:solidFill>
                <a:latin typeface="Impact" pitchFamily="34" charset="0"/>
                <a:ea typeface="Impact" pitchFamily="34" charset="-122"/>
                <a:cs typeface="Impact" pitchFamily="34" charset="-120"/>
              </a:rPr>
              <a:t>Optimizaton</a:t>
            </a:r>
            <a:r>
              <a:rPr lang="en-US" sz="3200" dirty="0">
                <a:solidFill>
                  <a:srgbClr val="F2F2F8"/>
                </a:solidFill>
                <a:latin typeface="Impact" pitchFamily="34" charset="0"/>
                <a:ea typeface="Impact" pitchFamily="34" charset="-122"/>
                <a:cs typeface="Impact" pitchFamily="34" charset="-120"/>
              </a:rPr>
              <a:t> engine : Gradient Descent</a:t>
            </a:r>
            <a:endParaRPr lang="en-US" sz="32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25E225-884D-EDFD-1BEA-3C0C18CD26E1}"/>
                  </a:ext>
                </a:extLst>
              </p:cNvPr>
              <p:cNvSpPr txBox="1"/>
              <p:nvPr/>
            </p:nvSpPr>
            <p:spPr>
              <a:xfrm>
                <a:off x="5486400" y="1579194"/>
                <a:ext cx="5831840" cy="5373330"/>
              </a:xfrm>
              <a:prstGeom prst="rect">
                <a:avLst/>
              </a:prstGeom>
              <a:noFill/>
            </p:spPr>
            <p:txBody>
              <a:bodyPr wrap="square" rtlCol="0">
                <a:spAutoFit/>
              </a:bodyPr>
              <a:lstStyle/>
              <a:p>
                <a:r>
                  <a:rPr lang="en-IN" b="1" dirty="0">
                    <a:solidFill>
                      <a:schemeClr val="bg2"/>
                    </a:solidFill>
                  </a:rPr>
                  <a:t>Gradient Descent : </a:t>
                </a:r>
                <a:r>
                  <a:rPr lang="en-IN" b="1" dirty="0">
                    <a:solidFill>
                      <a:schemeClr val="accent1">
                        <a:lumMod val="60000"/>
                        <a:lumOff val="40000"/>
                      </a:schemeClr>
                    </a:solidFill>
                  </a:rPr>
                  <a:t>Why Do We Calculate Derivatives?</a:t>
                </a:r>
              </a:p>
              <a:p>
                <a:endParaRPr lang="en-IN" b="1" dirty="0">
                  <a:solidFill>
                    <a:schemeClr val="bg2"/>
                  </a:solidFill>
                </a:endParaRPr>
              </a:p>
              <a:p>
                <a:pPr marL="285750" indent="-285750">
                  <a:buFont typeface="Arial" panose="020B0604020202020204" pitchFamily="34" charset="0"/>
                  <a:buChar char="•"/>
                </a:pPr>
                <a:r>
                  <a:rPr lang="en-IN" dirty="0">
                    <a:solidFill>
                      <a:schemeClr val="bg2"/>
                    </a:solidFill>
                  </a:rPr>
                  <a:t>Loss function measures how incorrectly the perceptron classifies the training data. Derivatives tell us how the loss changes when we change the weights and bias.</a:t>
                </a:r>
              </a:p>
              <a:p>
                <a:pPr marL="285750" indent="-285750">
                  <a:buFont typeface="Arial" panose="020B0604020202020204" pitchFamily="34" charset="0"/>
                  <a:buChar char="•"/>
                </a:pPr>
                <a:endParaRPr lang="en-IN" dirty="0">
                  <a:solidFill>
                    <a:schemeClr val="bg2"/>
                  </a:solidFill>
                </a:endParaRPr>
              </a:p>
              <a:p>
                <a:pPr marL="285750" indent="-285750">
                  <a:buFont typeface="Arial" panose="020B0604020202020204" pitchFamily="34" charset="0"/>
                  <a:buChar char="•"/>
                </a:pPr>
                <a:r>
                  <a:rPr lang="en-IN" dirty="0">
                    <a:solidFill>
                      <a:schemeClr val="bg2"/>
                    </a:solidFill>
                  </a:rPr>
                  <a:t>By calculating these derivatives, we determine how to adjust the parameters to reduce the loss .</a:t>
                </a:r>
              </a:p>
              <a:p>
                <a:endParaRPr lang="en-IN" dirty="0">
                  <a:solidFill>
                    <a:schemeClr val="bg2"/>
                  </a:solidFill>
                </a:endParaRPr>
              </a:p>
              <a:p>
                <a:r>
                  <a:rPr lang="en-IN" dirty="0">
                    <a:solidFill>
                      <a:schemeClr val="bg2"/>
                    </a:solidFill>
                  </a:rPr>
                  <a:t>Derivatives with respect to the parameters:</a:t>
                </a:r>
              </a:p>
              <a:p>
                <a:endParaRPr lang="en-IN" dirty="0">
                  <a:solidFill>
                    <a:schemeClr val="bg2"/>
                  </a:solidFill>
                </a:endParaRPr>
              </a:p>
              <a:p>
                <a:pPr/>
                <a14:m>
                  <m:oMathPara xmlns:m="http://schemas.openxmlformats.org/officeDocument/2006/math">
                    <m:oMath>
                      <m:f>
                        <m:fPr>
                          <m:ctrlPr>
                            <a:rPr lang="en-IN" b="1" i="1">
                              <a:solidFill>
                                <a:schemeClr val="bg2"/>
                              </a:solidFill>
                              <a:latin typeface="Cambria Math" panose="02040503050406030204" pitchFamily="18" charset="0"/>
                            </a:rPr>
                          </m:ctrlPr>
                        </m:fPr>
                        <m:num>
                          <m:r>
                            <a:rPr lang="en-IN" b="1" i="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𝑳</m:t>
                          </m:r>
                        </m:num>
                        <m:den>
                          <m:r>
                            <a:rPr lang="en-IN" b="1" i="1">
                              <a:solidFill>
                                <a:schemeClr val="bg2"/>
                              </a:solidFill>
                              <a:latin typeface="Cambria Math" panose="02040503050406030204" pitchFamily="18" charset="0"/>
                            </a:rPr>
                            <m:t>𝛛</m:t>
                          </m:r>
                          <m:sSub>
                            <m:sSubPr>
                              <m:ctrlPr>
                                <a:rPr lang="en-IN" b="1" i="1">
                                  <a:solidFill>
                                    <a:schemeClr val="bg2"/>
                                  </a:solidFill>
                                  <a:latin typeface="Cambria Math" panose="02040503050406030204" pitchFamily="18" charset="0"/>
                                </a:rPr>
                              </m:ctrlPr>
                            </m:sSubPr>
                            <m:e>
                              <m:r>
                                <a:rPr lang="en-IN" b="1" i="1">
                                  <a:solidFill>
                                    <a:schemeClr val="bg2"/>
                                  </a:solidFill>
                                  <a:latin typeface="Cambria Math" panose="02040503050406030204" pitchFamily="18" charset="0"/>
                                </a:rPr>
                                <m:t>𝒘</m:t>
                              </m:r>
                            </m:e>
                            <m:sub>
                              <m:r>
                                <a:rPr lang="en-IN" b="1" i="1">
                                  <a:solidFill>
                                    <a:schemeClr val="bg2"/>
                                  </a:solidFill>
                                  <a:latin typeface="Cambria Math" panose="02040503050406030204" pitchFamily="18" charset="0"/>
                                </a:rPr>
                                <m:t>𝟏</m:t>
                              </m:r>
                            </m:sub>
                          </m:sSub>
                        </m:den>
                      </m:f>
                      <m:r>
                        <a:rPr lang="en-IN" b="1">
                          <a:solidFill>
                            <a:schemeClr val="bg2"/>
                          </a:solidFill>
                          <a:latin typeface="Cambria Math" panose="02040503050406030204" pitchFamily="18" charset="0"/>
                        </a:rPr>
                        <m:t>, </m:t>
                      </m:r>
                      <m:f>
                        <m:fPr>
                          <m:ctrlPr>
                            <a:rPr lang="en-IN" b="1" i="1">
                              <a:solidFill>
                                <a:schemeClr val="bg2"/>
                              </a:solidFill>
                              <a:latin typeface="Cambria Math" panose="02040503050406030204" pitchFamily="18" charset="0"/>
                            </a:rPr>
                          </m:ctrlPr>
                        </m:fPr>
                        <m:num>
                          <m:r>
                            <a:rPr lang="en-IN" b="1" i="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𝑳</m:t>
                          </m:r>
                        </m:num>
                        <m:den>
                          <m:r>
                            <a:rPr lang="en-IN" b="1" i="1">
                              <a:solidFill>
                                <a:schemeClr val="bg2"/>
                              </a:solidFill>
                              <a:latin typeface="Cambria Math" panose="02040503050406030204" pitchFamily="18" charset="0"/>
                            </a:rPr>
                            <m:t>𝛛</m:t>
                          </m:r>
                          <m:sSub>
                            <m:sSubPr>
                              <m:ctrlPr>
                                <a:rPr lang="en-IN" b="1" i="1">
                                  <a:solidFill>
                                    <a:schemeClr val="bg2"/>
                                  </a:solidFill>
                                  <a:latin typeface="Cambria Math" panose="02040503050406030204" pitchFamily="18" charset="0"/>
                                </a:rPr>
                              </m:ctrlPr>
                            </m:sSubPr>
                            <m:e>
                              <m:r>
                                <a:rPr lang="en-IN" b="1" i="1">
                                  <a:solidFill>
                                    <a:schemeClr val="bg2"/>
                                  </a:solidFill>
                                  <a:latin typeface="Cambria Math" panose="02040503050406030204" pitchFamily="18" charset="0"/>
                                </a:rPr>
                                <m:t>𝒘</m:t>
                              </m:r>
                            </m:e>
                            <m:sub>
                              <m:r>
                                <a:rPr lang="en-IN" b="1" i="1">
                                  <a:solidFill>
                                    <a:schemeClr val="bg2"/>
                                  </a:solidFill>
                                  <a:latin typeface="Cambria Math" panose="02040503050406030204" pitchFamily="18" charset="0"/>
                                </a:rPr>
                                <m:t>𝟐</m:t>
                              </m:r>
                            </m:sub>
                          </m:sSub>
                        </m:den>
                      </m:f>
                      <m:r>
                        <a:rPr lang="en-IN" b="1">
                          <a:solidFill>
                            <a:schemeClr val="bg2"/>
                          </a:solidFill>
                          <a:latin typeface="Cambria Math" panose="02040503050406030204" pitchFamily="18" charset="0"/>
                        </a:rPr>
                        <m:t>, </m:t>
                      </m:r>
                      <m:f>
                        <m:fPr>
                          <m:ctrlPr>
                            <a:rPr lang="en-IN" b="1" i="1">
                              <a:solidFill>
                                <a:schemeClr val="bg2"/>
                              </a:solidFill>
                              <a:latin typeface="Cambria Math" panose="02040503050406030204" pitchFamily="18" charset="0"/>
                            </a:rPr>
                          </m:ctrlPr>
                        </m:fPr>
                        <m:num>
                          <m:r>
                            <a:rPr lang="en-IN" b="1" i="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𝑳</m:t>
                          </m:r>
                        </m:num>
                        <m:den>
                          <m:r>
                            <a:rPr lang="en-IN" b="1" i="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𝒃</m:t>
                          </m:r>
                        </m:den>
                      </m:f>
                    </m:oMath>
                  </m:oMathPara>
                </a14:m>
                <a:endParaRPr lang="en-IN" b="1" dirty="0"/>
              </a:p>
              <a:p>
                <a:endParaRPr lang="en-IN" dirty="0">
                  <a:solidFill>
                    <a:schemeClr val="bg2"/>
                  </a:solidFill>
                </a:endParaRPr>
              </a:p>
              <a:p>
                <a:r>
                  <a:rPr lang="en-IN" dirty="0">
                    <a:solidFill>
                      <a:schemeClr val="bg2"/>
                    </a:solidFill>
                  </a:rPr>
                  <a:t>Here, </a:t>
                </a:r>
                <a14:m>
                  <m:oMath xmlns:m="http://schemas.openxmlformats.org/officeDocument/2006/math">
                    <m:r>
                      <a:rPr lang="en-IN" i="1">
                        <a:solidFill>
                          <a:schemeClr val="bg2"/>
                        </a:solidFill>
                        <a:latin typeface="Cambria Math" panose="02040503050406030204" pitchFamily="18" charset="0"/>
                      </a:rPr>
                      <m:t>𝑓</m:t>
                    </m:r>
                    <m:d>
                      <m:dPr>
                        <m:ctrlPr>
                          <a:rPr lang="en-IN" i="1">
                            <a:solidFill>
                              <a:schemeClr val="bg2"/>
                            </a:solidFill>
                            <a:latin typeface="Cambria Math" panose="02040503050406030204" pitchFamily="18" charset="0"/>
                          </a:rPr>
                        </m:ctrlPr>
                      </m:dPr>
                      <m:e>
                        <m:sSub>
                          <m:sSubPr>
                            <m:ctrlPr>
                              <a:rPr lang="en-IN" i="1">
                                <a:solidFill>
                                  <a:schemeClr val="bg2"/>
                                </a:solidFill>
                                <a:latin typeface="Cambria Math" panose="02040503050406030204" pitchFamily="18" charset="0"/>
                              </a:rPr>
                            </m:ctrlPr>
                          </m:sSubPr>
                          <m:e>
                            <m:r>
                              <a:rPr lang="en-IN" i="1">
                                <a:solidFill>
                                  <a:schemeClr val="bg2"/>
                                </a:solidFill>
                                <a:latin typeface="Cambria Math" panose="02040503050406030204" pitchFamily="18" charset="0"/>
                              </a:rPr>
                              <m:t>𝑥</m:t>
                            </m:r>
                          </m:e>
                          <m:sub>
                            <m:r>
                              <a:rPr lang="en-IN" i="1">
                                <a:solidFill>
                                  <a:schemeClr val="bg2"/>
                                </a:solidFill>
                                <a:latin typeface="Cambria Math" panose="02040503050406030204" pitchFamily="18" charset="0"/>
                              </a:rPr>
                              <m:t>𝑖</m:t>
                            </m:r>
                          </m:sub>
                        </m:sSub>
                      </m:e>
                    </m:d>
                    <m:r>
                      <a:rPr lang="en-IN">
                        <a:solidFill>
                          <a:schemeClr val="bg2"/>
                        </a:solidFill>
                        <a:latin typeface="Cambria Math" panose="02040503050406030204" pitchFamily="18" charset="0"/>
                      </a:rPr>
                      <m:t>=</m:t>
                    </m:r>
                    <m:sSup>
                      <m:sSupPr>
                        <m:ctrlPr>
                          <a:rPr lang="en-IN" i="1">
                            <a:solidFill>
                              <a:schemeClr val="bg2"/>
                            </a:solidFill>
                            <a:latin typeface="Cambria Math" panose="02040503050406030204" pitchFamily="18" charset="0"/>
                          </a:rPr>
                        </m:ctrlPr>
                      </m:sSupPr>
                      <m:e>
                        <m:r>
                          <a:rPr lang="en-IN" i="1">
                            <a:solidFill>
                              <a:schemeClr val="bg2"/>
                            </a:solidFill>
                            <a:latin typeface="Cambria Math" panose="02040503050406030204" pitchFamily="18" charset="0"/>
                          </a:rPr>
                          <m:t>𝑊</m:t>
                        </m:r>
                      </m:e>
                      <m:sup>
                        <m:r>
                          <a:rPr lang="en-IN" i="1">
                            <a:solidFill>
                              <a:schemeClr val="bg2"/>
                            </a:solidFill>
                            <a:latin typeface="Cambria Math" panose="02040503050406030204" pitchFamily="18" charset="0"/>
                          </a:rPr>
                          <m:t>𝑇</m:t>
                        </m:r>
                      </m:sup>
                    </m:sSup>
                    <m:sSub>
                      <m:sSubPr>
                        <m:ctrlPr>
                          <a:rPr lang="en-IN" i="1">
                            <a:solidFill>
                              <a:schemeClr val="bg2"/>
                            </a:solidFill>
                            <a:latin typeface="Cambria Math" panose="02040503050406030204" pitchFamily="18" charset="0"/>
                          </a:rPr>
                        </m:ctrlPr>
                      </m:sSubPr>
                      <m:e>
                        <m:r>
                          <a:rPr lang="en-IN" i="1">
                            <a:solidFill>
                              <a:schemeClr val="bg2"/>
                            </a:solidFill>
                            <a:latin typeface="Cambria Math" panose="02040503050406030204" pitchFamily="18" charset="0"/>
                          </a:rPr>
                          <m:t>𝑋</m:t>
                        </m:r>
                      </m:e>
                      <m:sub>
                        <m:r>
                          <a:rPr lang="en-IN" i="1">
                            <a:solidFill>
                              <a:schemeClr val="bg2"/>
                            </a:solidFill>
                            <a:latin typeface="Cambria Math" panose="02040503050406030204" pitchFamily="18" charset="0"/>
                          </a:rPr>
                          <m:t>𝑖</m:t>
                        </m:r>
                      </m:sub>
                    </m:sSub>
                    <m:r>
                      <a:rPr lang="en-IN">
                        <a:solidFill>
                          <a:schemeClr val="bg2"/>
                        </a:solidFill>
                        <a:latin typeface="Cambria Math" panose="02040503050406030204" pitchFamily="18" charset="0"/>
                      </a:rPr>
                      <m:t>+</m:t>
                    </m:r>
                    <m:r>
                      <a:rPr lang="en-IN" i="1">
                        <a:solidFill>
                          <a:schemeClr val="bg2"/>
                        </a:solidFill>
                        <a:latin typeface="Cambria Math" panose="02040503050406030204" pitchFamily="18" charset="0"/>
                      </a:rPr>
                      <m:t>𝑏</m:t>
                    </m:r>
                  </m:oMath>
                </a14:m>
                <a:r>
                  <a:rPr lang="en-IN" dirty="0">
                    <a:solidFill>
                      <a:schemeClr val="bg2"/>
                    </a:solidFill>
                  </a:rPr>
                  <a:t>is the model's raw prediction score, and </a:t>
                </a:r>
                <a14:m>
                  <m:oMath xmlns:m="http://schemas.openxmlformats.org/officeDocument/2006/math">
                    <m:sSub>
                      <m:sSubPr>
                        <m:ctrlPr>
                          <a:rPr lang="en-IN" i="1">
                            <a:solidFill>
                              <a:schemeClr val="bg2"/>
                            </a:solidFill>
                            <a:latin typeface="Cambria Math" panose="02040503050406030204" pitchFamily="18" charset="0"/>
                          </a:rPr>
                        </m:ctrlPr>
                      </m:sSubPr>
                      <m:e>
                        <m:r>
                          <a:rPr lang="en-IN" i="1">
                            <a:solidFill>
                              <a:schemeClr val="bg2"/>
                            </a:solidFill>
                            <a:latin typeface="Cambria Math" panose="02040503050406030204" pitchFamily="18" charset="0"/>
                          </a:rPr>
                          <m:t>𝑦</m:t>
                        </m:r>
                      </m:e>
                      <m:sub>
                        <m:r>
                          <a:rPr lang="en-IN" i="1">
                            <a:solidFill>
                              <a:schemeClr val="bg2"/>
                            </a:solidFill>
                            <a:latin typeface="Cambria Math" panose="02040503050406030204" pitchFamily="18" charset="0"/>
                          </a:rPr>
                          <m:t>𝑖</m:t>
                        </m:r>
                      </m:sub>
                    </m:sSub>
                    <m:r>
                      <a:rPr lang="en-IN">
                        <a:solidFill>
                          <a:schemeClr val="bg2"/>
                        </a:solidFill>
                        <a:latin typeface="Cambria Math" panose="02040503050406030204" pitchFamily="18" charset="0"/>
                      </a:rPr>
                      <m:t>∈</m:t>
                    </m:r>
                    <m:r>
                      <m:rPr>
                        <m:nor/>
                      </m:rPr>
                      <a:rPr lang="en-IN" i="0" smtClean="0">
                        <a:solidFill>
                          <a:schemeClr val="bg1"/>
                        </a:solidFill>
                      </a:rPr>
                      <m:t>{−1,+1}</m:t>
                    </m:r>
                    <m:r>
                      <m:rPr>
                        <m:nor/>
                      </m:rPr>
                      <a:rPr lang="en-US" b="0" i="0" smtClean="0">
                        <a:solidFill>
                          <a:schemeClr val="bg1"/>
                        </a:solidFill>
                      </a:rPr>
                      <m:t> </m:t>
                    </m:r>
                  </m:oMath>
                </a14:m>
                <a:r>
                  <a:rPr lang="en-IN" dirty="0">
                    <a:solidFill>
                      <a:schemeClr val="bg2"/>
                    </a:solidFill>
                  </a:rPr>
                  <a:t>is the true label.</a:t>
                </a:r>
              </a:p>
              <a:p>
                <a:endParaRPr lang="en-IN" dirty="0">
                  <a:solidFill>
                    <a:schemeClr val="bg2"/>
                  </a:solidFill>
                </a:endParaRPr>
              </a:p>
              <a:p>
                <a:endParaRPr lang="en-IN" dirty="0">
                  <a:solidFill>
                    <a:schemeClr val="bg2"/>
                  </a:solidFill>
                </a:endParaRPr>
              </a:p>
              <a:p>
                <a:endParaRPr lang="en-IN" dirty="0"/>
              </a:p>
            </p:txBody>
          </p:sp>
        </mc:Choice>
        <mc:Fallback xmlns="">
          <p:sp>
            <p:nvSpPr>
              <p:cNvPr id="3" name="TextBox 2">
                <a:extLst>
                  <a:ext uri="{FF2B5EF4-FFF2-40B4-BE49-F238E27FC236}">
                    <a16:creationId xmlns:a16="http://schemas.microsoft.com/office/drawing/2014/main" id="{9B25E225-884D-EDFD-1BEA-3C0C18CD26E1}"/>
                  </a:ext>
                </a:extLst>
              </p:cNvPr>
              <p:cNvSpPr txBox="1">
                <a:spLocks noRot="1" noChangeAspect="1" noMove="1" noResize="1" noEditPoints="1" noAdjustHandles="1" noChangeArrowheads="1" noChangeShapeType="1" noTextEdit="1"/>
              </p:cNvSpPr>
              <p:nvPr/>
            </p:nvSpPr>
            <p:spPr>
              <a:xfrm>
                <a:off x="5486400" y="1579194"/>
                <a:ext cx="5831840" cy="5373330"/>
              </a:xfrm>
              <a:prstGeom prst="rect">
                <a:avLst/>
              </a:prstGeom>
              <a:blipFill>
                <a:blip r:embed="rId5"/>
                <a:stretch>
                  <a:fillRect l="-836" t="-567" r="-1358"/>
                </a:stretch>
              </a:blipFill>
            </p:spPr>
            <p:txBody>
              <a:bodyPr/>
              <a:lstStyle/>
              <a:p>
                <a:r>
                  <a:rPr lang="en-IN">
                    <a:noFill/>
                  </a:rPr>
                  <a:t> </a:t>
                </a:r>
              </a:p>
            </p:txBody>
          </p:sp>
        </mc:Fallback>
      </mc:AlternateContent>
    </p:spTree>
    <p:extLst>
      <p:ext uri="{BB962C8B-B14F-4D97-AF65-F5344CB8AC3E}">
        <p14:creationId xmlns:p14="http://schemas.microsoft.com/office/powerpoint/2010/main" val="1604479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624C1A4-6758-B675-3EF0-EA12ECE9AC5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7F27524-B16D-23EC-AD38-F8965630A118}"/>
              </a:ext>
            </a:extLst>
          </p:cNvPr>
          <p:cNvSpPr/>
          <p:nvPr/>
        </p:nvSpPr>
        <p:spPr>
          <a:xfrm>
            <a:off x="731520" y="457200"/>
            <a:ext cx="10725912" cy="5943600"/>
          </a:xfrm>
          <a:prstGeom prst="roundRect">
            <a:avLst>
              <a:gd name="adj" fmla="val 1846"/>
            </a:avLst>
          </a:prstGeom>
          <a:solidFill>
            <a:srgbClr val="1C2036"/>
          </a:solidFill>
          <a:ln w="9525">
            <a:solidFill>
              <a:srgbClr val="343A58"/>
            </a:solidFill>
            <a:prstDash val="solid"/>
          </a:ln>
        </p:spPr>
        <p:txBody>
          <a:bodyPr/>
          <a:lstStyle/>
          <a:p>
            <a:endParaRPr lang="en-I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1DC8250-D5BF-799B-F1BE-5F69E05B6CF9}"/>
                  </a:ext>
                </a:extLst>
              </p:cNvPr>
              <p:cNvSpPr txBox="1"/>
              <p:nvPr/>
            </p:nvSpPr>
            <p:spPr>
              <a:xfrm>
                <a:off x="975360" y="306702"/>
                <a:ext cx="10403840" cy="6244595"/>
              </a:xfrm>
              <a:prstGeom prst="rect">
                <a:avLst/>
              </a:prstGeom>
              <a:noFill/>
            </p:spPr>
            <p:txBody>
              <a:bodyPr wrap="square" rtlCol="0">
                <a:spAutoFit/>
              </a:bodyPr>
              <a:lstStyle/>
              <a:p>
                <a:pPr lvl="0"/>
                <a:endParaRPr lang="en-IN" dirty="0">
                  <a:solidFill>
                    <a:schemeClr val="bg2"/>
                  </a:solidFill>
                </a:endParaRPr>
              </a:p>
              <a:p>
                <a:r>
                  <a:rPr lang="en-IN" sz="2000" b="1" dirty="0">
                    <a:solidFill>
                      <a:schemeClr val="accent1">
                        <a:lumMod val="60000"/>
                        <a:lumOff val="40000"/>
                      </a:schemeClr>
                    </a:solidFill>
                  </a:rPr>
                  <a:t>How Do We Update the Weights and Bias?</a:t>
                </a:r>
              </a:p>
              <a:p>
                <a:endParaRPr lang="en-IN" b="1" dirty="0">
                  <a:solidFill>
                    <a:schemeClr val="bg2"/>
                  </a:solidFill>
                </a:endParaRPr>
              </a:p>
              <a:p>
                <a:r>
                  <a:rPr lang="en-IN" dirty="0">
                    <a:solidFill>
                      <a:schemeClr val="bg2"/>
                    </a:solidFill>
                  </a:rPr>
                  <a:t>Gradient descent updates each parameter by moving in the opposite direction of its gradient, using a learning rate </a:t>
                </a:r>
                <a14:m>
                  <m:oMath xmlns:m="http://schemas.openxmlformats.org/officeDocument/2006/math">
                    <m:r>
                      <a:rPr lang="en-IN" i="1">
                        <a:solidFill>
                          <a:schemeClr val="bg2"/>
                        </a:solidFill>
                        <a:latin typeface="Cambria Math" panose="02040503050406030204" pitchFamily="18" charset="0"/>
                      </a:rPr>
                      <m:t>𝜂</m:t>
                    </m:r>
                  </m:oMath>
                </a14:m>
                <a:r>
                  <a:rPr lang="en-IN" dirty="0">
                    <a:solidFill>
                      <a:schemeClr val="bg2"/>
                    </a:solidFill>
                  </a:rPr>
                  <a:t>.</a:t>
                </a:r>
              </a:p>
              <a:p>
                <a:endParaRPr lang="en-IN" dirty="0">
                  <a:solidFill>
                    <a:schemeClr val="bg2"/>
                  </a:solidFill>
                </a:endParaRPr>
              </a:p>
              <a:p>
                <a:r>
                  <a:rPr lang="en-IN" dirty="0">
                    <a:solidFill>
                      <a:schemeClr val="bg2"/>
                    </a:solidFill>
                  </a:rPr>
                  <a:t>Weight Update:</a:t>
                </a:r>
              </a:p>
              <a:p>
                <a:pPr/>
                <a14:m>
                  <m:oMathPara xmlns:m="http://schemas.openxmlformats.org/officeDocument/2006/math">
                    <m:oMath>
                      <m:sSubSup>
                        <m:sSubSupPr>
                          <m:ctrlPr>
                            <a:rPr lang="en-IN" b="1" i="1">
                              <a:solidFill>
                                <a:schemeClr val="bg2"/>
                              </a:solidFill>
                              <a:latin typeface="Cambria Math" panose="02040503050406030204" pitchFamily="18" charset="0"/>
                            </a:rPr>
                          </m:ctrlPr>
                        </m:sSubSupPr>
                        <m:e>
                          <m:r>
                            <a:rPr lang="en-IN" b="1" i="1">
                              <a:solidFill>
                                <a:schemeClr val="bg2"/>
                              </a:solidFill>
                              <a:latin typeface="Cambria Math" panose="02040503050406030204" pitchFamily="18" charset="0"/>
                            </a:rPr>
                            <m:t>𝒘</m:t>
                          </m:r>
                        </m:e>
                        <m:sub>
                          <m:r>
                            <a:rPr lang="en-IN" b="1" i="1">
                              <a:solidFill>
                                <a:schemeClr val="bg2"/>
                              </a:solidFill>
                              <a:latin typeface="Cambria Math" panose="02040503050406030204" pitchFamily="18" charset="0"/>
                            </a:rPr>
                            <m:t>𝒋</m:t>
                          </m:r>
                        </m:sub>
                        <m:sup>
                          <m:r>
                            <m:rPr>
                              <m:nor/>
                            </m:rPr>
                            <a:rPr lang="en-IN" b="1" i="0">
                              <a:solidFill>
                                <a:schemeClr val="bg2"/>
                              </a:solidFill>
                            </a:rPr>
                            <m:t>new</m:t>
                          </m:r>
                        </m:sup>
                      </m:sSubSup>
                      <m:r>
                        <a:rPr lang="en-IN" b="1">
                          <a:solidFill>
                            <a:schemeClr val="bg2"/>
                          </a:solidFill>
                          <a:latin typeface="Cambria Math" panose="02040503050406030204" pitchFamily="18" charset="0"/>
                        </a:rPr>
                        <m:t>=</m:t>
                      </m:r>
                      <m:sSubSup>
                        <m:sSubSupPr>
                          <m:ctrlPr>
                            <a:rPr lang="en-IN" b="1" i="1">
                              <a:solidFill>
                                <a:schemeClr val="bg2"/>
                              </a:solidFill>
                              <a:latin typeface="Cambria Math" panose="02040503050406030204" pitchFamily="18" charset="0"/>
                            </a:rPr>
                          </m:ctrlPr>
                        </m:sSubSupPr>
                        <m:e>
                          <m:r>
                            <a:rPr lang="en-IN" b="1" i="1">
                              <a:solidFill>
                                <a:schemeClr val="bg2"/>
                              </a:solidFill>
                              <a:latin typeface="Cambria Math" panose="02040503050406030204" pitchFamily="18" charset="0"/>
                            </a:rPr>
                            <m:t>𝒘</m:t>
                          </m:r>
                        </m:e>
                        <m:sub>
                          <m:r>
                            <a:rPr lang="en-IN" b="1" i="1">
                              <a:solidFill>
                                <a:schemeClr val="bg2"/>
                              </a:solidFill>
                              <a:latin typeface="Cambria Math" panose="02040503050406030204" pitchFamily="18" charset="0"/>
                            </a:rPr>
                            <m:t>𝒋</m:t>
                          </m:r>
                        </m:sub>
                        <m:sup>
                          <m:r>
                            <m:rPr>
                              <m:nor/>
                            </m:rPr>
                            <a:rPr lang="en-IN" b="1" i="0">
                              <a:solidFill>
                                <a:schemeClr val="bg2"/>
                              </a:solidFill>
                            </a:rPr>
                            <m:t>old</m:t>
                          </m:r>
                        </m:sup>
                      </m:sSubSup>
                      <m:r>
                        <a:rPr lang="en-IN" b="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𝜼</m:t>
                      </m:r>
                      <m:f>
                        <m:fPr>
                          <m:ctrlPr>
                            <a:rPr lang="en-IN" b="1" i="1">
                              <a:solidFill>
                                <a:schemeClr val="bg2"/>
                              </a:solidFill>
                              <a:latin typeface="Cambria Math" panose="02040503050406030204" pitchFamily="18" charset="0"/>
                            </a:rPr>
                          </m:ctrlPr>
                        </m:fPr>
                        <m:num>
                          <m:r>
                            <a:rPr lang="en-IN" b="1" i="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𝑳</m:t>
                          </m:r>
                        </m:num>
                        <m:den>
                          <m:r>
                            <a:rPr lang="en-IN" b="1" i="1">
                              <a:solidFill>
                                <a:schemeClr val="bg2"/>
                              </a:solidFill>
                              <a:latin typeface="Cambria Math" panose="02040503050406030204" pitchFamily="18" charset="0"/>
                            </a:rPr>
                            <m:t>𝛛</m:t>
                          </m:r>
                          <m:sSub>
                            <m:sSubPr>
                              <m:ctrlPr>
                                <a:rPr lang="en-IN" b="1" i="1">
                                  <a:solidFill>
                                    <a:schemeClr val="bg2"/>
                                  </a:solidFill>
                                  <a:latin typeface="Cambria Math" panose="02040503050406030204" pitchFamily="18" charset="0"/>
                                </a:rPr>
                              </m:ctrlPr>
                            </m:sSubPr>
                            <m:e>
                              <m:r>
                                <a:rPr lang="en-IN" b="1" i="1">
                                  <a:solidFill>
                                    <a:schemeClr val="bg2"/>
                                  </a:solidFill>
                                  <a:latin typeface="Cambria Math" panose="02040503050406030204" pitchFamily="18" charset="0"/>
                                </a:rPr>
                                <m:t>𝒘</m:t>
                              </m:r>
                            </m:e>
                            <m:sub>
                              <m:r>
                                <a:rPr lang="en-IN" b="1" i="1">
                                  <a:solidFill>
                                    <a:schemeClr val="bg2"/>
                                  </a:solidFill>
                                  <a:latin typeface="Cambria Math" panose="02040503050406030204" pitchFamily="18" charset="0"/>
                                </a:rPr>
                                <m:t>𝒋</m:t>
                              </m:r>
                            </m:sub>
                          </m:sSub>
                        </m:den>
                      </m:f>
                    </m:oMath>
                  </m:oMathPara>
                </a14:m>
                <a:endParaRPr lang="en-IN" b="1" dirty="0">
                  <a:solidFill>
                    <a:schemeClr val="bg2"/>
                  </a:solidFill>
                </a:endParaRPr>
              </a:p>
              <a:p>
                <a:r>
                  <a:rPr lang="en-IN" dirty="0">
                    <a:solidFill>
                      <a:schemeClr val="bg2"/>
                    </a:solidFill>
                  </a:rPr>
                  <a:t>Bias Update:</a:t>
                </a:r>
              </a:p>
              <a:p>
                <a:pPr/>
                <a14:m>
                  <m:oMathPara xmlns:m="http://schemas.openxmlformats.org/officeDocument/2006/math">
                    <m:oMath>
                      <m:sSup>
                        <m:sSupPr>
                          <m:ctrlPr>
                            <a:rPr lang="en-IN" b="1" i="1">
                              <a:solidFill>
                                <a:schemeClr val="bg2"/>
                              </a:solidFill>
                              <a:latin typeface="Cambria Math" panose="02040503050406030204" pitchFamily="18" charset="0"/>
                            </a:rPr>
                          </m:ctrlPr>
                        </m:sSupPr>
                        <m:e>
                          <m:r>
                            <a:rPr lang="en-IN" b="1" i="1">
                              <a:solidFill>
                                <a:schemeClr val="bg2"/>
                              </a:solidFill>
                              <a:latin typeface="Cambria Math" panose="02040503050406030204" pitchFamily="18" charset="0"/>
                            </a:rPr>
                            <m:t>𝒃</m:t>
                          </m:r>
                        </m:e>
                        <m:sup>
                          <m:r>
                            <m:rPr>
                              <m:nor/>
                            </m:rPr>
                            <a:rPr lang="en-IN" b="1" i="0">
                              <a:solidFill>
                                <a:schemeClr val="bg2"/>
                              </a:solidFill>
                            </a:rPr>
                            <m:t>new</m:t>
                          </m:r>
                        </m:sup>
                      </m:sSup>
                      <m:r>
                        <a:rPr lang="en-IN" b="1">
                          <a:solidFill>
                            <a:schemeClr val="bg2"/>
                          </a:solidFill>
                          <a:latin typeface="Cambria Math" panose="02040503050406030204" pitchFamily="18" charset="0"/>
                        </a:rPr>
                        <m:t>=</m:t>
                      </m:r>
                      <m:sSup>
                        <m:sSupPr>
                          <m:ctrlPr>
                            <a:rPr lang="en-IN" b="1" i="1">
                              <a:solidFill>
                                <a:schemeClr val="bg2"/>
                              </a:solidFill>
                              <a:latin typeface="Cambria Math" panose="02040503050406030204" pitchFamily="18" charset="0"/>
                            </a:rPr>
                          </m:ctrlPr>
                        </m:sSupPr>
                        <m:e>
                          <m:r>
                            <a:rPr lang="en-IN" b="1" i="1">
                              <a:solidFill>
                                <a:schemeClr val="bg2"/>
                              </a:solidFill>
                              <a:latin typeface="Cambria Math" panose="02040503050406030204" pitchFamily="18" charset="0"/>
                            </a:rPr>
                            <m:t>𝒃</m:t>
                          </m:r>
                        </m:e>
                        <m:sup>
                          <m:r>
                            <m:rPr>
                              <m:nor/>
                            </m:rPr>
                            <a:rPr lang="en-IN" b="1" i="0">
                              <a:solidFill>
                                <a:schemeClr val="bg2"/>
                              </a:solidFill>
                            </a:rPr>
                            <m:t>old</m:t>
                          </m:r>
                        </m:sup>
                      </m:sSup>
                      <m:r>
                        <a:rPr lang="en-IN" b="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𝜼</m:t>
                      </m:r>
                      <m:f>
                        <m:fPr>
                          <m:ctrlPr>
                            <a:rPr lang="en-IN" b="1" i="1">
                              <a:solidFill>
                                <a:schemeClr val="bg2"/>
                              </a:solidFill>
                              <a:latin typeface="Cambria Math" panose="02040503050406030204" pitchFamily="18" charset="0"/>
                            </a:rPr>
                          </m:ctrlPr>
                        </m:fPr>
                        <m:num>
                          <m:r>
                            <a:rPr lang="en-IN" b="1" i="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𝑳</m:t>
                          </m:r>
                        </m:num>
                        <m:den>
                          <m:r>
                            <a:rPr lang="en-IN" b="1" i="1">
                              <a:solidFill>
                                <a:schemeClr val="bg2"/>
                              </a:solidFill>
                              <a:latin typeface="Cambria Math" panose="02040503050406030204" pitchFamily="18" charset="0"/>
                            </a:rPr>
                            <m:t>𝝏</m:t>
                          </m:r>
                          <m:r>
                            <a:rPr lang="en-IN" b="1" i="1">
                              <a:solidFill>
                                <a:schemeClr val="bg2"/>
                              </a:solidFill>
                              <a:latin typeface="Cambria Math" panose="02040503050406030204" pitchFamily="18" charset="0"/>
                            </a:rPr>
                            <m:t>𝒃</m:t>
                          </m:r>
                        </m:den>
                      </m:f>
                    </m:oMath>
                  </m:oMathPara>
                </a14:m>
                <a:endParaRPr lang="en-IN" b="1" dirty="0">
                  <a:solidFill>
                    <a:schemeClr val="bg2"/>
                  </a:solidFill>
                </a:endParaRPr>
              </a:p>
              <a:p>
                <a:r>
                  <a:rPr lang="en-IN" dirty="0">
                    <a:solidFill>
                      <a:schemeClr val="bg2"/>
                    </a:solidFill>
                  </a:rPr>
                  <a:t>Where:</a:t>
                </a:r>
              </a:p>
              <a:p>
                <a:pPr lvl="0"/>
                <a14:m>
                  <m:oMath xmlns:m="http://schemas.openxmlformats.org/officeDocument/2006/math">
                    <m:r>
                      <a:rPr lang="en-IN" i="1">
                        <a:solidFill>
                          <a:schemeClr val="bg2"/>
                        </a:solidFill>
                        <a:latin typeface="Cambria Math" panose="02040503050406030204" pitchFamily="18" charset="0"/>
                      </a:rPr>
                      <m:t>𝜂</m:t>
                    </m:r>
                  </m:oMath>
                </a14:m>
                <a:r>
                  <a:rPr lang="en-IN" dirty="0">
                    <a:solidFill>
                      <a:schemeClr val="bg2"/>
                    </a:solidFill>
                  </a:rPr>
                  <a:t>= Learning rate, which controls the size of each update. The negative sign indicates movement toward lower loss.</a:t>
                </a:r>
              </a:p>
              <a:p>
                <a:pPr lvl="0"/>
                <a:endParaRPr lang="en-IN" dirty="0">
                  <a:solidFill>
                    <a:schemeClr val="bg2"/>
                  </a:solidFill>
                </a:endParaRPr>
              </a:p>
              <a:p>
                <a:r>
                  <a:rPr lang="en-IN" sz="2000" b="1" dirty="0">
                    <a:solidFill>
                      <a:schemeClr val="accent1">
                        <a:lumMod val="60000"/>
                        <a:lumOff val="40000"/>
                      </a:schemeClr>
                    </a:solidFill>
                  </a:rPr>
                  <a:t>4. What Happens During Training?</a:t>
                </a:r>
              </a:p>
              <a:p>
                <a:pPr marL="742950" lvl="1" indent="-285750">
                  <a:buFont typeface="Wingdings" panose="05000000000000000000" pitchFamily="2" charset="2"/>
                  <a:buChar char="§"/>
                </a:pPr>
                <a:r>
                  <a:rPr lang="en-IN" dirty="0">
                    <a:solidFill>
                      <a:schemeClr val="bg2"/>
                    </a:solidFill>
                  </a:rPr>
                  <a:t>Calculate the loss using the model's current parameters.</a:t>
                </a:r>
              </a:p>
              <a:p>
                <a:pPr marL="742950" lvl="1" indent="-285750">
                  <a:buFont typeface="Wingdings" panose="05000000000000000000" pitchFamily="2" charset="2"/>
                  <a:buChar char="§"/>
                </a:pPr>
                <a:r>
                  <a:rPr lang="en-IN" dirty="0">
                    <a:solidFill>
                      <a:schemeClr val="bg2"/>
                    </a:solidFill>
                  </a:rPr>
                  <a:t>Calculate the gradients of the loss with respect to the weights and bias.</a:t>
                </a:r>
              </a:p>
              <a:p>
                <a:pPr marL="742950" lvl="1" indent="-285750">
                  <a:buFont typeface="Wingdings" panose="05000000000000000000" pitchFamily="2" charset="2"/>
                  <a:buChar char="§"/>
                </a:pPr>
                <a:r>
                  <a:rPr lang="en-IN" dirty="0">
                    <a:solidFill>
                      <a:schemeClr val="bg2"/>
                    </a:solidFill>
                  </a:rPr>
                  <a:t>Update the parameters using gradient descent.</a:t>
                </a:r>
              </a:p>
              <a:p>
                <a:pPr marL="742950" lvl="1" indent="-285750">
                  <a:buFont typeface="Wingdings" panose="05000000000000000000" pitchFamily="2" charset="2"/>
                  <a:buChar char="§"/>
                </a:pPr>
                <a:r>
                  <a:rPr lang="en-IN" dirty="0">
                    <a:solidFill>
                      <a:schemeClr val="bg2"/>
                    </a:solidFill>
                  </a:rPr>
                  <a:t>Repeat the process to reduce the loss.</a:t>
                </a:r>
              </a:p>
              <a:p>
                <a:pPr lvl="0"/>
                <a:endParaRPr lang="en-IN" dirty="0">
                  <a:solidFill>
                    <a:schemeClr val="bg2"/>
                  </a:solidFill>
                </a:endParaRPr>
              </a:p>
            </p:txBody>
          </p:sp>
        </mc:Choice>
        <mc:Fallback xmlns="">
          <p:sp>
            <p:nvSpPr>
              <p:cNvPr id="4" name="TextBox 3">
                <a:extLst>
                  <a:ext uri="{FF2B5EF4-FFF2-40B4-BE49-F238E27FC236}">
                    <a16:creationId xmlns:a16="http://schemas.microsoft.com/office/drawing/2014/main" id="{41DC8250-D5BF-799B-F1BE-5F69E05B6CF9}"/>
                  </a:ext>
                </a:extLst>
              </p:cNvPr>
              <p:cNvSpPr txBox="1">
                <a:spLocks noRot="1" noChangeAspect="1" noMove="1" noResize="1" noEditPoints="1" noAdjustHandles="1" noChangeArrowheads="1" noChangeShapeType="1" noTextEdit="1"/>
              </p:cNvSpPr>
              <p:nvPr/>
            </p:nvSpPr>
            <p:spPr>
              <a:xfrm>
                <a:off x="975360" y="306702"/>
                <a:ext cx="10403840" cy="6244595"/>
              </a:xfrm>
              <a:prstGeom prst="rect">
                <a:avLst/>
              </a:prstGeom>
              <a:blipFill>
                <a:blip r:embed="rId4"/>
                <a:stretch>
                  <a:fillRect l="-586" r="-527"/>
                </a:stretch>
              </a:blipFill>
            </p:spPr>
            <p:txBody>
              <a:bodyPr/>
              <a:lstStyle/>
              <a:p>
                <a:r>
                  <a:rPr lang="en-IN">
                    <a:noFill/>
                  </a:rPr>
                  <a:t> </a:t>
                </a:r>
              </a:p>
            </p:txBody>
          </p:sp>
        </mc:Fallback>
      </mc:AlternateContent>
    </p:spTree>
    <p:extLst>
      <p:ext uri="{BB962C8B-B14F-4D97-AF65-F5344CB8AC3E}">
        <p14:creationId xmlns:p14="http://schemas.microsoft.com/office/powerpoint/2010/main" val="4222132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365760" y="411480"/>
            <a:ext cx="9144000" cy="868680"/>
          </a:xfrm>
          <a:prstGeom prst="rect">
            <a:avLst/>
          </a:prstGeom>
          <a:noFill/>
          <a:ln/>
        </p:spPr>
        <p:txBody>
          <a:bodyPr wrap="square" lIns="0" tIns="0" rIns="0" bIns="0" rtlCol="0" anchor="ctr"/>
          <a:lstStyle/>
          <a:p>
            <a:pPr marL="0" indent="0" algn="ctr">
              <a:buNone/>
            </a:pPr>
            <a:r>
              <a:rPr lang="en-US" sz="3200" dirty="0">
                <a:solidFill>
                  <a:srgbClr val="F2F2F8"/>
                </a:solidFill>
                <a:latin typeface="Impact" pitchFamily="34" charset="0"/>
                <a:ea typeface="Impact" pitchFamily="34" charset="-122"/>
                <a:cs typeface="Impact" pitchFamily="34" charset="-120"/>
              </a:rPr>
              <a:t>What Are Decision Boundaries?</a:t>
            </a:r>
            <a:endParaRPr lang="en-US" sz="3200" dirty="0"/>
          </a:p>
        </p:txBody>
      </p:sp>
      <p:sp>
        <p:nvSpPr>
          <p:cNvPr id="17" name="Shape 15"/>
          <p:cNvSpPr/>
          <p:nvPr/>
        </p:nvSpPr>
        <p:spPr>
          <a:xfrm>
            <a:off x="716280" y="1463040"/>
            <a:ext cx="5501640" cy="1005840"/>
          </a:xfrm>
          <a:prstGeom prst="roundRect">
            <a:avLst>
              <a:gd name="adj" fmla="val 10909"/>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960120" y="1463040"/>
            <a:ext cx="5029200" cy="1005840"/>
          </a:xfrm>
          <a:prstGeom prst="rect">
            <a:avLst/>
          </a:prstGeom>
          <a:noFill/>
          <a:ln/>
        </p:spPr>
        <p:txBody>
          <a:bodyPr wrap="square" lIns="0" tIns="0" rIns="0" bIns="0" rtlCol="0" anchor="ctr"/>
          <a:lstStyle/>
          <a:p>
            <a:pPr marL="0" indent="0">
              <a:buNone/>
            </a:pPr>
            <a:r>
              <a:rPr lang="en-US" sz="2050" dirty="0">
                <a:solidFill>
                  <a:srgbClr val="F2F2F8"/>
                </a:solidFill>
                <a:latin typeface="Calibri" pitchFamily="34" charset="0"/>
                <a:ea typeface="Calibri" pitchFamily="34" charset="-122"/>
                <a:cs typeface="Calibri" pitchFamily="34" charset="-120"/>
              </a:rPr>
              <a:t>A decision boundary separates the regions of input space assigned to different classes.</a:t>
            </a:r>
            <a:endParaRPr lang="en-US" sz="2050" dirty="0"/>
          </a:p>
        </p:txBody>
      </p:sp>
      <p:sp>
        <p:nvSpPr>
          <p:cNvPr id="19" name="Shape 17"/>
          <p:cNvSpPr/>
          <p:nvPr/>
        </p:nvSpPr>
        <p:spPr>
          <a:xfrm>
            <a:off x="731520" y="2651760"/>
            <a:ext cx="5486400" cy="1005840"/>
          </a:xfrm>
          <a:prstGeom prst="roundRect">
            <a:avLst>
              <a:gd name="adj" fmla="val 10909"/>
            </a:avLst>
          </a:prstGeom>
          <a:solidFill>
            <a:srgbClr val="3B4366"/>
          </a:solidFill>
          <a:ln w="9525">
            <a:solidFill>
              <a:srgbClr val="3B4366"/>
            </a:solidFill>
            <a:prstDash val="solid"/>
          </a:ln>
        </p:spPr>
        <p:txBody>
          <a:bodyPr/>
          <a:lstStyle/>
          <a:p>
            <a:endParaRPr lang="en-IN"/>
          </a:p>
        </p:txBody>
      </p:sp>
      <p:sp>
        <p:nvSpPr>
          <p:cNvPr id="20" name="Text 18"/>
          <p:cNvSpPr txBox="1"/>
          <p:nvPr/>
        </p:nvSpPr>
        <p:spPr>
          <a:xfrm>
            <a:off x="731520" y="2651760"/>
            <a:ext cx="5486400" cy="1005840"/>
          </a:xfrm>
          <a:prstGeom prst="rect">
            <a:avLst/>
          </a:prstGeom>
          <a:noFill/>
          <a:ln/>
        </p:spPr>
        <p:txBody>
          <a:bodyPr wrap="square" lIns="0" tIns="0" rIns="0" bIns="0" rtlCol="0" anchor="ctr"/>
          <a:lstStyle/>
          <a:p>
            <a:pPr marL="0" indent="0" algn="ctr">
              <a:buNone/>
            </a:pPr>
            <a:r>
              <a:rPr lang="en-US" sz="3350" b="1" dirty="0">
                <a:solidFill>
                  <a:srgbClr val="FFFFFF"/>
                </a:solidFill>
                <a:latin typeface="Calibri" pitchFamily="34" charset="0"/>
                <a:ea typeface="Calibri" pitchFamily="34" charset="-122"/>
                <a:cs typeface="Calibri" pitchFamily="34" charset="-120"/>
              </a:rPr>
              <a:t>w₁x₁ + w₂x₂ + b = 0</a:t>
            </a:r>
            <a:endParaRPr lang="en-US" sz="3350" dirty="0"/>
          </a:p>
        </p:txBody>
      </p:sp>
      <p:sp>
        <p:nvSpPr>
          <p:cNvPr id="21" name="Text 19"/>
          <p:cNvSpPr txBox="1"/>
          <p:nvPr/>
        </p:nvSpPr>
        <p:spPr>
          <a:xfrm>
            <a:off x="777240" y="3773272"/>
            <a:ext cx="5486400" cy="365760"/>
          </a:xfrm>
          <a:prstGeom prst="rect">
            <a:avLst/>
          </a:prstGeom>
          <a:noFill/>
          <a:ln/>
        </p:spPr>
        <p:txBody>
          <a:bodyPr wrap="square" lIns="0" tIns="0" rIns="0" bIns="0" rtlCol="0" anchor="t"/>
          <a:lstStyle/>
          <a:p>
            <a:pPr marL="0" indent="0">
              <a:buNone/>
            </a:pPr>
            <a:r>
              <a:rPr lang="en-US" sz="1900" dirty="0">
                <a:solidFill>
                  <a:srgbClr val="A9AFC8"/>
                </a:solidFill>
                <a:latin typeface="Calibri" pitchFamily="34" charset="0"/>
                <a:ea typeface="Calibri" pitchFamily="34" charset="-122"/>
                <a:cs typeface="Calibri" pitchFamily="34" charset="-120"/>
              </a:rPr>
              <a:t>For a perceptron, the boundary is where net = 0.</a:t>
            </a:r>
            <a:endParaRPr lang="en-US" sz="1900" dirty="0"/>
          </a:p>
        </p:txBody>
      </p:sp>
      <p:sp>
        <p:nvSpPr>
          <p:cNvPr id="22" name="Shape 20"/>
          <p:cNvSpPr/>
          <p:nvPr/>
        </p:nvSpPr>
        <p:spPr>
          <a:xfrm>
            <a:off x="716280" y="4297680"/>
            <a:ext cx="5501640" cy="2011680"/>
          </a:xfrm>
          <a:prstGeom prst="roundRect">
            <a:avLst>
              <a:gd name="adj" fmla="val 5455"/>
            </a:avLst>
          </a:prstGeom>
          <a:solidFill>
            <a:srgbClr val="1C2036"/>
          </a:solidFill>
          <a:ln w="9525">
            <a:solidFill>
              <a:srgbClr val="343A58"/>
            </a:solidFill>
            <a:prstDash val="solid"/>
          </a:ln>
        </p:spPr>
        <p:txBody>
          <a:bodyPr/>
          <a:lstStyle/>
          <a:p>
            <a:endParaRPr lang="en-IN"/>
          </a:p>
        </p:txBody>
      </p:sp>
      <p:sp>
        <p:nvSpPr>
          <p:cNvPr id="23" name="Text 21"/>
          <p:cNvSpPr txBox="1"/>
          <p:nvPr/>
        </p:nvSpPr>
        <p:spPr>
          <a:xfrm>
            <a:off x="1005840" y="4526280"/>
            <a:ext cx="5029200" cy="1645920"/>
          </a:xfrm>
          <a:prstGeom prst="rect">
            <a:avLst/>
          </a:prstGeom>
          <a:noFill/>
          <a:ln/>
        </p:spPr>
        <p:txBody>
          <a:bodyPr wrap="square" lIns="0" tIns="0" rIns="0" bIns="0" rtlCol="0" anchor="t"/>
          <a:lstStyle/>
          <a:p>
            <a:pPr marL="0" indent="0">
              <a:spcAft>
                <a:spcPts val="600"/>
              </a:spcAft>
              <a:buNone/>
            </a:pPr>
            <a:r>
              <a:rPr lang="en-US" sz="2150" b="1" dirty="0">
                <a:solidFill>
                  <a:srgbClr val="F2F2F8"/>
                </a:solidFill>
                <a:latin typeface="Calibri" pitchFamily="34" charset="0"/>
                <a:ea typeface="Calibri" pitchFamily="34" charset="-122"/>
                <a:cs typeface="Calibri" pitchFamily="34" charset="-120"/>
              </a:rPr>
              <a:t>AND:  w = (1, 1),  b = −1.5</a:t>
            </a:r>
            <a:endParaRPr lang="en-US" sz="2150" dirty="0"/>
          </a:p>
          <a:p>
            <a:pPr marL="0" indent="0">
              <a:spcAft>
                <a:spcPts val="600"/>
              </a:spcAft>
              <a:buNone/>
            </a:pPr>
            <a:r>
              <a:rPr lang="en-US" sz="2150" dirty="0">
                <a:solidFill>
                  <a:srgbClr val="F2F2F8"/>
                </a:solidFill>
                <a:latin typeface="Calibri" pitchFamily="34" charset="0"/>
                <a:ea typeface="Calibri" pitchFamily="34" charset="-122"/>
                <a:cs typeface="Calibri" pitchFamily="34" charset="-120"/>
              </a:rPr>
              <a:t>x₁ + x₂ − 1.5 = 0   or   x₂ = 1.5 − x₁</a:t>
            </a:r>
            <a:endParaRPr lang="en-US" sz="2150" dirty="0"/>
          </a:p>
          <a:p>
            <a:pPr marL="0" indent="0">
              <a:spcAft>
                <a:spcPts val="600"/>
              </a:spcAft>
              <a:buNone/>
            </a:pPr>
            <a:r>
              <a:rPr lang="en-US" sz="2150" dirty="0">
                <a:solidFill>
                  <a:srgbClr val="A9AFC8"/>
                </a:solidFill>
                <a:latin typeface="Calibri" pitchFamily="34" charset="0"/>
                <a:ea typeface="Calibri" pitchFamily="34" charset="-122"/>
                <a:cs typeface="Calibri" pitchFamily="34" charset="-120"/>
              </a:rPr>
              <a:t>Z  ≥ 0 → class 1;  Z &lt; 0 → class 0</a:t>
            </a:r>
            <a:endParaRPr lang="en-US" sz="2150" dirty="0"/>
          </a:p>
        </p:txBody>
      </p:sp>
      <p:sp>
        <p:nvSpPr>
          <p:cNvPr id="24" name="Shape 22"/>
          <p:cNvSpPr/>
          <p:nvPr/>
        </p:nvSpPr>
        <p:spPr>
          <a:xfrm>
            <a:off x="6492240" y="1463040"/>
            <a:ext cx="4983480" cy="4526280"/>
          </a:xfrm>
          <a:prstGeom prst="roundRect">
            <a:avLst>
              <a:gd name="adj" fmla="val 2424"/>
            </a:avLst>
          </a:prstGeom>
          <a:solidFill>
            <a:srgbClr val="141829"/>
          </a:solidFill>
          <a:ln w="9525">
            <a:solidFill>
              <a:srgbClr val="141829"/>
            </a:solidFill>
            <a:prstDash val="solid"/>
          </a:ln>
        </p:spPr>
        <p:txBody>
          <a:bodyPr/>
          <a:lstStyle/>
          <a:p>
            <a:endParaRPr lang="en-IN"/>
          </a:p>
        </p:txBody>
      </p:sp>
      <p:sp>
        <p:nvSpPr>
          <p:cNvPr id="25" name="Shape 23"/>
          <p:cNvSpPr/>
          <p:nvPr/>
        </p:nvSpPr>
        <p:spPr>
          <a:xfrm>
            <a:off x="6741414" y="5084064"/>
            <a:ext cx="4534967" cy="0"/>
          </a:xfrm>
          <a:prstGeom prst="line">
            <a:avLst/>
          </a:prstGeom>
          <a:noFill/>
          <a:ln w="12700">
            <a:solidFill>
              <a:srgbClr val="6B76A6"/>
            </a:solidFill>
            <a:prstDash val="solid"/>
          </a:ln>
        </p:spPr>
        <p:txBody>
          <a:bodyPr/>
          <a:lstStyle/>
          <a:p>
            <a:endParaRPr lang="en-IN"/>
          </a:p>
        </p:txBody>
      </p:sp>
      <p:sp>
        <p:nvSpPr>
          <p:cNvPr id="26" name="Shape 24"/>
          <p:cNvSpPr/>
          <p:nvPr/>
        </p:nvSpPr>
        <p:spPr>
          <a:xfrm>
            <a:off x="7339432" y="1689354"/>
            <a:ext cx="0" cy="4073652"/>
          </a:xfrm>
          <a:prstGeom prst="line">
            <a:avLst/>
          </a:prstGeom>
          <a:noFill/>
          <a:ln w="12700">
            <a:solidFill>
              <a:srgbClr val="6B76A6"/>
            </a:solidFill>
            <a:prstDash val="solid"/>
          </a:ln>
        </p:spPr>
        <p:txBody>
          <a:bodyPr/>
          <a:lstStyle/>
          <a:p>
            <a:endParaRPr lang="en-IN"/>
          </a:p>
        </p:txBody>
      </p:sp>
      <p:sp>
        <p:nvSpPr>
          <p:cNvPr id="27" name="Text 25"/>
          <p:cNvSpPr txBox="1"/>
          <p:nvPr/>
        </p:nvSpPr>
        <p:spPr>
          <a:xfrm>
            <a:off x="11077042" y="5120640"/>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x₁</a:t>
            </a:r>
            <a:endParaRPr lang="en-US" sz="1450" dirty="0"/>
          </a:p>
        </p:txBody>
      </p:sp>
      <p:sp>
        <p:nvSpPr>
          <p:cNvPr id="28" name="Text 26"/>
          <p:cNvSpPr txBox="1"/>
          <p:nvPr/>
        </p:nvSpPr>
        <p:spPr>
          <a:xfrm>
            <a:off x="7412584" y="1644091"/>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x₂</a:t>
            </a:r>
            <a:endParaRPr lang="en-US" sz="1450" dirty="0"/>
          </a:p>
        </p:txBody>
      </p:sp>
      <p:sp>
        <p:nvSpPr>
          <p:cNvPr id="29" name="Shape 27"/>
          <p:cNvSpPr/>
          <p:nvPr/>
        </p:nvSpPr>
        <p:spPr>
          <a:xfrm>
            <a:off x="6890918" y="2470137"/>
            <a:ext cx="3588106" cy="2987345"/>
          </a:xfrm>
          <a:prstGeom prst="line">
            <a:avLst/>
          </a:prstGeom>
          <a:noFill/>
          <a:ln w="22225">
            <a:solidFill>
              <a:srgbClr val="F0B050"/>
            </a:solidFill>
            <a:prstDash val="solid"/>
          </a:ln>
        </p:spPr>
        <p:txBody>
          <a:bodyPr/>
          <a:lstStyle/>
          <a:p>
            <a:endParaRPr lang="en-IN"/>
          </a:p>
        </p:txBody>
      </p:sp>
      <p:sp>
        <p:nvSpPr>
          <p:cNvPr id="30" name="Shape 28"/>
          <p:cNvSpPr/>
          <p:nvPr/>
        </p:nvSpPr>
        <p:spPr>
          <a:xfrm>
            <a:off x="7156552" y="4901184"/>
            <a:ext cx="365760" cy="365760"/>
          </a:xfrm>
          <a:prstGeom prst="ellipse">
            <a:avLst/>
          </a:prstGeom>
          <a:solidFill>
            <a:srgbClr val="141829"/>
          </a:solidFill>
          <a:ln w="22225">
            <a:solidFill>
              <a:srgbClr val="F2F2F8"/>
            </a:solidFill>
            <a:prstDash val="solid"/>
          </a:ln>
        </p:spPr>
        <p:txBody>
          <a:bodyPr/>
          <a:lstStyle/>
          <a:p>
            <a:endParaRPr lang="en-IN"/>
          </a:p>
        </p:txBody>
      </p:sp>
      <p:sp>
        <p:nvSpPr>
          <p:cNvPr id="31" name="Text 29"/>
          <p:cNvSpPr txBox="1"/>
          <p:nvPr/>
        </p:nvSpPr>
        <p:spPr>
          <a:xfrm>
            <a:off x="7577176" y="5193792"/>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(0,0)</a:t>
            </a:r>
            <a:endParaRPr lang="en-US" sz="1300" dirty="0"/>
          </a:p>
        </p:txBody>
      </p:sp>
      <p:sp>
        <p:nvSpPr>
          <p:cNvPr id="32" name="Shape 30"/>
          <p:cNvSpPr/>
          <p:nvPr/>
        </p:nvSpPr>
        <p:spPr>
          <a:xfrm>
            <a:off x="8950604" y="4901184"/>
            <a:ext cx="365760" cy="365760"/>
          </a:xfrm>
          <a:prstGeom prst="ellipse">
            <a:avLst/>
          </a:prstGeom>
          <a:solidFill>
            <a:srgbClr val="141829"/>
          </a:solidFill>
          <a:ln w="22225">
            <a:solidFill>
              <a:srgbClr val="F2F2F8"/>
            </a:solidFill>
            <a:prstDash val="solid"/>
          </a:ln>
        </p:spPr>
        <p:txBody>
          <a:bodyPr/>
          <a:lstStyle/>
          <a:p>
            <a:endParaRPr lang="en-IN"/>
          </a:p>
        </p:txBody>
      </p:sp>
      <p:sp>
        <p:nvSpPr>
          <p:cNvPr id="33" name="Text 31"/>
          <p:cNvSpPr txBox="1"/>
          <p:nvPr/>
        </p:nvSpPr>
        <p:spPr>
          <a:xfrm>
            <a:off x="9371228" y="5193792"/>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(1,0)</a:t>
            </a:r>
            <a:endParaRPr lang="en-US" sz="1300" dirty="0"/>
          </a:p>
        </p:txBody>
      </p:sp>
      <p:sp>
        <p:nvSpPr>
          <p:cNvPr id="34" name="Shape 32"/>
          <p:cNvSpPr/>
          <p:nvPr/>
        </p:nvSpPr>
        <p:spPr>
          <a:xfrm>
            <a:off x="7156552" y="3407512"/>
            <a:ext cx="365760" cy="365760"/>
          </a:xfrm>
          <a:prstGeom prst="ellipse">
            <a:avLst/>
          </a:prstGeom>
          <a:solidFill>
            <a:srgbClr val="141829"/>
          </a:solidFill>
          <a:ln w="22225">
            <a:solidFill>
              <a:srgbClr val="F2F2F8"/>
            </a:solidFill>
            <a:prstDash val="solid"/>
          </a:ln>
        </p:spPr>
        <p:txBody>
          <a:bodyPr/>
          <a:lstStyle/>
          <a:p>
            <a:endParaRPr lang="en-IN"/>
          </a:p>
        </p:txBody>
      </p:sp>
      <p:sp>
        <p:nvSpPr>
          <p:cNvPr id="35" name="Text 33"/>
          <p:cNvSpPr txBox="1"/>
          <p:nvPr/>
        </p:nvSpPr>
        <p:spPr>
          <a:xfrm>
            <a:off x="7577176" y="3700120"/>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(0,1)</a:t>
            </a:r>
            <a:endParaRPr lang="en-US" sz="1300" dirty="0"/>
          </a:p>
        </p:txBody>
      </p:sp>
      <p:sp>
        <p:nvSpPr>
          <p:cNvPr id="36" name="Shape 34"/>
          <p:cNvSpPr/>
          <p:nvPr/>
        </p:nvSpPr>
        <p:spPr>
          <a:xfrm>
            <a:off x="8950604" y="3407512"/>
            <a:ext cx="365760" cy="365760"/>
          </a:xfrm>
          <a:prstGeom prst="ellipse">
            <a:avLst/>
          </a:prstGeom>
          <a:solidFill>
            <a:srgbClr val="6B76A6"/>
          </a:solidFill>
          <a:ln w="22225">
            <a:solidFill>
              <a:srgbClr val="6B76A6"/>
            </a:solidFill>
            <a:prstDash val="solid"/>
          </a:ln>
        </p:spPr>
        <p:txBody>
          <a:bodyPr/>
          <a:lstStyle/>
          <a:p>
            <a:endParaRPr lang="en-IN"/>
          </a:p>
        </p:txBody>
      </p:sp>
      <p:sp>
        <p:nvSpPr>
          <p:cNvPr id="37" name="Text 35"/>
          <p:cNvSpPr txBox="1"/>
          <p:nvPr/>
        </p:nvSpPr>
        <p:spPr>
          <a:xfrm>
            <a:off x="9371228" y="3700120"/>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9083650" y="1689354"/>
            <a:ext cx="2242566" cy="274320"/>
          </a:xfrm>
          <a:prstGeom prst="rect">
            <a:avLst/>
          </a:prstGeom>
          <a:noFill/>
          <a:ln/>
        </p:spPr>
        <p:txBody>
          <a:bodyPr wrap="square" lIns="0" tIns="0" rIns="0" bIns="0" rtlCol="0" anchor="t"/>
          <a:lstStyle/>
          <a:p>
            <a:pPr marL="0" indent="0" algn="r">
              <a:buNone/>
            </a:pPr>
            <a:r>
              <a:rPr lang="en-US" sz="1450" b="1" dirty="0">
                <a:solidFill>
                  <a:srgbClr val="5FD0A0"/>
                </a:solidFill>
                <a:latin typeface="Calibri" pitchFamily="34" charset="0"/>
                <a:ea typeface="Calibri" pitchFamily="34" charset="-122"/>
                <a:cs typeface="Calibri" pitchFamily="34" charset="-120"/>
              </a:rPr>
              <a:t>Z ≥ 0 → 1</a:t>
            </a:r>
            <a:endParaRPr lang="en-US" sz="1450" dirty="0"/>
          </a:p>
        </p:txBody>
      </p:sp>
      <p:sp>
        <p:nvSpPr>
          <p:cNvPr id="39" name="Text 37"/>
          <p:cNvSpPr txBox="1"/>
          <p:nvPr/>
        </p:nvSpPr>
        <p:spPr>
          <a:xfrm>
            <a:off x="7488936" y="5627218"/>
            <a:ext cx="2242566" cy="274320"/>
          </a:xfrm>
          <a:prstGeom prst="rect">
            <a:avLst/>
          </a:prstGeom>
          <a:noFill/>
          <a:ln/>
        </p:spPr>
        <p:txBody>
          <a:bodyPr wrap="square" lIns="0" tIns="0" rIns="0" bIns="0" rtlCol="0" anchor="t"/>
          <a:lstStyle/>
          <a:p>
            <a:pPr marL="0" indent="0" algn="l">
              <a:buNone/>
            </a:pPr>
            <a:r>
              <a:rPr lang="en-US" sz="1450" b="1" dirty="0">
                <a:solidFill>
                  <a:srgbClr val="FF8A80"/>
                </a:solidFill>
                <a:latin typeface="Calibri" pitchFamily="34" charset="0"/>
                <a:ea typeface="Calibri" pitchFamily="34" charset="-122"/>
                <a:cs typeface="Calibri" pitchFamily="34" charset="-120"/>
              </a:rPr>
              <a:t>Z &lt; 0 → 0</a:t>
            </a:r>
            <a:endParaRPr lang="en-US" sz="1450" dirty="0"/>
          </a:p>
        </p:txBody>
      </p:sp>
      <p:sp>
        <p:nvSpPr>
          <p:cNvPr id="40" name="Text 38"/>
          <p:cNvSpPr txBox="1"/>
          <p:nvPr/>
        </p:nvSpPr>
        <p:spPr>
          <a:xfrm>
            <a:off x="6492240" y="6053328"/>
            <a:ext cx="4983480" cy="274320"/>
          </a:xfrm>
          <a:prstGeom prst="rect">
            <a:avLst/>
          </a:prstGeom>
          <a:noFill/>
          <a:ln/>
        </p:spPr>
        <p:txBody>
          <a:bodyPr wrap="square" lIns="0" tIns="0" rIns="0" bIns="0" rtlCol="0" anchor="t"/>
          <a:lstStyle/>
          <a:p>
            <a:pPr marL="0" indent="0" algn="ctr">
              <a:buNone/>
            </a:pPr>
            <a:r>
              <a:rPr lang="en-US" sz="1450" i="1" dirty="0">
                <a:solidFill>
                  <a:srgbClr val="A9AFC8"/>
                </a:solidFill>
                <a:latin typeface="Calibri" pitchFamily="34" charset="0"/>
                <a:ea typeface="Calibri" pitchFamily="34" charset="-122"/>
                <a:cs typeface="Calibri" pitchFamily="34" charset="-120"/>
              </a:rPr>
              <a:t>Figure 2. A linear boundary separates the AND classes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365760" y="411480"/>
            <a:ext cx="9144000" cy="868680"/>
          </a:xfrm>
          <a:prstGeom prst="rect">
            <a:avLst/>
          </a:prstGeom>
          <a:noFill/>
          <a:ln/>
        </p:spPr>
        <p:txBody>
          <a:bodyPr wrap="square" lIns="0" tIns="0" rIns="0" bIns="0" rtlCol="0" anchor="ctr"/>
          <a:lstStyle/>
          <a:p>
            <a:pPr marL="0" indent="0" algn="ctr">
              <a:buNone/>
            </a:pPr>
            <a:r>
              <a:rPr lang="en-US" sz="2600" dirty="0">
                <a:solidFill>
                  <a:srgbClr val="F2F2F8"/>
                </a:solidFill>
                <a:latin typeface="Impact" pitchFamily="34" charset="0"/>
                <a:ea typeface="Impact" pitchFamily="34" charset="-122"/>
                <a:cs typeface="Impact" pitchFamily="34" charset="-120"/>
              </a:rPr>
              <a:t>Partitioning Space: Positive vs. Negative Half-Spaces</a:t>
            </a:r>
            <a:endParaRPr lang="en-US" sz="2600" dirty="0"/>
          </a:p>
        </p:txBody>
      </p:sp>
      <p:sp>
        <p:nvSpPr>
          <p:cNvPr id="17" name="Text 15"/>
          <p:cNvSpPr txBox="1"/>
          <p:nvPr/>
        </p:nvSpPr>
        <p:spPr>
          <a:xfrm>
            <a:off x="731520" y="228600"/>
            <a:ext cx="5486400" cy="274320"/>
          </a:xfrm>
          <a:prstGeom prst="rect">
            <a:avLst/>
          </a:prstGeom>
          <a:noFill/>
          <a:ln/>
        </p:spPr>
        <p:txBody>
          <a:bodyPr wrap="square" lIns="0" tIns="0" rIns="0" bIns="0" rtlCol="0" anchor="t"/>
          <a:lstStyle/>
          <a:p>
            <a:pPr marL="0" indent="0">
              <a:buNone/>
            </a:pPr>
            <a:endParaRPr lang="en-US" sz="1300" dirty="0"/>
          </a:p>
        </p:txBody>
      </p:sp>
      <p:sp>
        <p:nvSpPr>
          <p:cNvPr id="18" name="Shape 16"/>
          <p:cNvSpPr/>
          <p:nvPr/>
        </p:nvSpPr>
        <p:spPr>
          <a:xfrm>
            <a:off x="731520" y="1508760"/>
            <a:ext cx="3474720" cy="4480560"/>
          </a:xfrm>
          <a:prstGeom prst="roundRect">
            <a:avLst>
              <a:gd name="adj" fmla="val 3158"/>
            </a:avLst>
          </a:prstGeom>
          <a:solidFill>
            <a:srgbClr val="1C2036"/>
          </a:solidFill>
          <a:ln w="9525">
            <a:solidFill>
              <a:srgbClr val="343A58"/>
            </a:solidFill>
            <a:prstDash val="solid"/>
          </a:ln>
        </p:spPr>
        <p:txBody>
          <a:bodyPr/>
          <a:lstStyle/>
          <a:p>
            <a:endParaRPr lang="en-IN"/>
          </a:p>
        </p:txBody>
      </p:sp>
      <p:sp>
        <p:nvSpPr>
          <p:cNvPr id="19" name="Text 17"/>
          <p:cNvSpPr txBox="1"/>
          <p:nvPr/>
        </p:nvSpPr>
        <p:spPr>
          <a:xfrm>
            <a:off x="731520" y="1691640"/>
            <a:ext cx="3474720" cy="457200"/>
          </a:xfrm>
          <a:prstGeom prst="rect">
            <a:avLst/>
          </a:prstGeom>
          <a:noFill/>
          <a:ln/>
        </p:spPr>
        <p:txBody>
          <a:bodyPr wrap="square" lIns="0" tIns="0" rIns="0" bIns="0" rtlCol="0" anchor="t"/>
          <a:lstStyle/>
          <a:p>
            <a:pPr marL="0" indent="0" algn="ctr">
              <a:buNone/>
            </a:pPr>
            <a:r>
              <a:rPr lang="en-US" sz="2200" dirty="0">
                <a:solidFill>
                  <a:srgbClr val="5FD0A0"/>
                </a:solidFill>
                <a:latin typeface="Impact" pitchFamily="34" charset="0"/>
                <a:ea typeface="Impact" pitchFamily="34" charset="-122"/>
                <a:cs typeface="Impact" pitchFamily="34" charset="-120"/>
              </a:rPr>
              <a:t>Positive Half-Space</a:t>
            </a:r>
            <a:endParaRPr lang="en-US" sz="2200" dirty="0"/>
          </a:p>
        </p:txBody>
      </p:sp>
      <p:sp>
        <p:nvSpPr>
          <p:cNvPr id="20" name="Text 18"/>
          <p:cNvSpPr txBox="1"/>
          <p:nvPr/>
        </p:nvSpPr>
        <p:spPr>
          <a:xfrm>
            <a:off x="960120" y="2286000"/>
            <a:ext cx="3017520" cy="3566160"/>
          </a:xfrm>
          <a:prstGeom prst="rect">
            <a:avLst/>
          </a:prstGeom>
          <a:noFill/>
          <a:ln/>
        </p:spPr>
        <p:txBody>
          <a:bodyPr wrap="square" lIns="0" tIns="0" rIns="0" bIns="0" rtlCol="0" anchor="t"/>
          <a:lstStyle/>
          <a:p>
            <a:pPr marL="0" indent="0">
              <a:spcAft>
                <a:spcPts val="900"/>
              </a:spcAft>
              <a:buNone/>
            </a:pPr>
            <a:r>
              <a:rPr lang="en-US" sz="1900" b="1" dirty="0">
                <a:solidFill>
                  <a:srgbClr val="5FD0A0"/>
                </a:solidFill>
                <a:latin typeface="Calibri" pitchFamily="34" charset="0"/>
                <a:ea typeface="Calibri" pitchFamily="34" charset="-122"/>
                <a:cs typeface="Calibri" pitchFamily="34" charset="-120"/>
              </a:rPr>
              <a:t>Condition: </a:t>
            </a:r>
            <a:r>
              <a:rPr lang="en-US" sz="1900" b="1" dirty="0">
                <a:solidFill>
                  <a:schemeClr val="bg2"/>
                </a:solidFill>
                <a:latin typeface="Calibri" pitchFamily="34" charset="0"/>
                <a:ea typeface="Calibri" pitchFamily="34" charset="-122"/>
                <a:cs typeface="Calibri" pitchFamily="34" charset="-120"/>
              </a:rPr>
              <a:t>z = </a:t>
            </a:r>
            <a:r>
              <a:rPr lang="en-US" sz="1900" dirty="0">
                <a:solidFill>
                  <a:srgbClr val="F2F2F8"/>
                </a:solidFill>
                <a:latin typeface="Calibri" pitchFamily="34" charset="0"/>
                <a:ea typeface="Calibri" pitchFamily="34" charset="-122"/>
                <a:cs typeface="Calibri" pitchFamily="34" charset="-120"/>
              </a:rPr>
              <a:t>W</a:t>
            </a:r>
            <a:r>
              <a:rPr lang="en-US" sz="1900" baseline="30000" dirty="0">
                <a:solidFill>
                  <a:srgbClr val="F2F2F8"/>
                </a:solidFill>
                <a:latin typeface="Calibri" pitchFamily="34" charset="0"/>
                <a:ea typeface="Calibri" pitchFamily="34" charset="-122"/>
                <a:cs typeface="Calibri" pitchFamily="34" charset="-120"/>
              </a:rPr>
              <a:t>T</a:t>
            </a:r>
            <a:r>
              <a:rPr lang="en-US" sz="1900" dirty="0">
                <a:solidFill>
                  <a:srgbClr val="F2F2F8"/>
                </a:solidFill>
                <a:latin typeface="Calibri" pitchFamily="34" charset="0"/>
                <a:ea typeface="Calibri" pitchFamily="34" charset="-122"/>
                <a:cs typeface="Calibri" pitchFamily="34" charset="-120"/>
              </a:rPr>
              <a:t> X + b &gt; 0</a:t>
            </a:r>
            <a:endParaRPr lang="en-US" sz="1900" dirty="0"/>
          </a:p>
          <a:p>
            <a:pPr marL="0" indent="0">
              <a:spcAft>
                <a:spcPts val="900"/>
              </a:spcAft>
              <a:buNone/>
            </a:pPr>
            <a:r>
              <a:rPr lang="en-US" sz="1900" b="1" dirty="0">
                <a:solidFill>
                  <a:srgbClr val="5FD0A0"/>
                </a:solidFill>
                <a:latin typeface="Calibri" pitchFamily="34" charset="0"/>
                <a:ea typeface="Calibri" pitchFamily="34" charset="-122"/>
                <a:cs typeface="Calibri" pitchFamily="34" charset="-120"/>
              </a:rPr>
              <a:t>Activation Result: </a:t>
            </a:r>
            <a:r>
              <a:rPr lang="en-US" sz="1900" dirty="0">
                <a:solidFill>
                  <a:srgbClr val="F2F2F8"/>
                </a:solidFill>
                <a:latin typeface="Calibri" pitchFamily="34" charset="0"/>
                <a:ea typeface="Calibri" pitchFamily="34" charset="-122"/>
                <a:cs typeface="Calibri" pitchFamily="34" charset="-120"/>
              </a:rPr>
              <a:t>f(z) = 1</a:t>
            </a:r>
            <a:endParaRPr lang="en-US" sz="1900" dirty="0"/>
          </a:p>
          <a:p>
            <a:pPr marL="0" indent="0">
              <a:spcAft>
                <a:spcPts val="900"/>
              </a:spcAft>
              <a:buNone/>
            </a:pPr>
            <a:r>
              <a:rPr lang="en-US" sz="1900" b="1" dirty="0">
                <a:solidFill>
                  <a:srgbClr val="5FD0A0"/>
                </a:solidFill>
                <a:latin typeface="Calibri" pitchFamily="34" charset="0"/>
                <a:ea typeface="Calibri" pitchFamily="34" charset="-122"/>
                <a:cs typeface="Calibri" pitchFamily="34" charset="-120"/>
              </a:rPr>
              <a:t>Predicted Label: </a:t>
            </a:r>
            <a:r>
              <a:rPr lang="en-US" sz="1900" dirty="0">
                <a:solidFill>
                  <a:srgbClr val="F2F2F8"/>
                </a:solidFill>
                <a:latin typeface="Calibri" pitchFamily="34" charset="0"/>
                <a:ea typeface="Calibri" pitchFamily="34" charset="-122"/>
                <a:cs typeface="Calibri" pitchFamily="34" charset="-120"/>
              </a:rPr>
              <a:t>ŷ = +1 (or 1)</a:t>
            </a:r>
            <a:endParaRPr lang="en-US" sz="1900" dirty="0"/>
          </a:p>
          <a:p>
            <a:pPr marL="0" indent="0">
              <a:spcAft>
                <a:spcPts val="900"/>
              </a:spcAft>
              <a:buNone/>
            </a:pPr>
            <a:r>
              <a:rPr lang="en-US" sz="1900" b="1" dirty="0">
                <a:solidFill>
                  <a:srgbClr val="5FD0A0"/>
                </a:solidFill>
                <a:latin typeface="Calibri" pitchFamily="34" charset="0"/>
                <a:ea typeface="Calibri" pitchFamily="34" charset="-122"/>
                <a:cs typeface="Calibri" pitchFamily="34" charset="-120"/>
              </a:rPr>
              <a:t>Geometric Region: </a:t>
            </a:r>
            <a:r>
              <a:rPr lang="en-US" sz="1900" dirty="0">
                <a:solidFill>
                  <a:srgbClr val="F2F2F8"/>
                </a:solidFill>
                <a:latin typeface="Calibri" pitchFamily="34" charset="0"/>
                <a:ea typeface="Calibri" pitchFamily="34" charset="-122"/>
                <a:cs typeface="Calibri" pitchFamily="34" charset="-120"/>
              </a:rPr>
              <a:t>Space located on the side pointed to by weight vector W.</a:t>
            </a:r>
            <a:endParaRPr lang="en-US" sz="1900" dirty="0"/>
          </a:p>
        </p:txBody>
      </p:sp>
      <p:sp>
        <p:nvSpPr>
          <p:cNvPr id="21" name="Shape 19"/>
          <p:cNvSpPr/>
          <p:nvPr/>
        </p:nvSpPr>
        <p:spPr>
          <a:xfrm>
            <a:off x="4370832" y="1508760"/>
            <a:ext cx="3474720" cy="4480560"/>
          </a:xfrm>
          <a:prstGeom prst="roundRect">
            <a:avLst>
              <a:gd name="adj" fmla="val 3158"/>
            </a:avLst>
          </a:prstGeom>
          <a:solidFill>
            <a:srgbClr val="1C2036"/>
          </a:solidFill>
          <a:ln w="9525">
            <a:solidFill>
              <a:srgbClr val="343A58"/>
            </a:solidFill>
            <a:prstDash val="solid"/>
          </a:ln>
        </p:spPr>
        <p:txBody>
          <a:bodyPr/>
          <a:lstStyle/>
          <a:p>
            <a:endParaRPr lang="en-IN"/>
          </a:p>
        </p:txBody>
      </p:sp>
      <p:sp>
        <p:nvSpPr>
          <p:cNvPr id="22" name="Text 20"/>
          <p:cNvSpPr txBox="1"/>
          <p:nvPr/>
        </p:nvSpPr>
        <p:spPr>
          <a:xfrm>
            <a:off x="4370832" y="1691640"/>
            <a:ext cx="3474720" cy="457200"/>
          </a:xfrm>
          <a:prstGeom prst="rect">
            <a:avLst/>
          </a:prstGeom>
          <a:noFill/>
          <a:ln/>
        </p:spPr>
        <p:txBody>
          <a:bodyPr wrap="square" lIns="0" tIns="0" rIns="0" bIns="0" rtlCol="0" anchor="t"/>
          <a:lstStyle/>
          <a:p>
            <a:pPr marL="0" indent="0" algn="ctr">
              <a:buNone/>
            </a:pPr>
            <a:r>
              <a:rPr lang="en-US" sz="2200" dirty="0">
                <a:solidFill>
                  <a:srgbClr val="9DB4FF"/>
                </a:solidFill>
                <a:latin typeface="Impact" pitchFamily="34" charset="0"/>
                <a:ea typeface="Impact" pitchFamily="34" charset="-122"/>
                <a:cs typeface="Impact" pitchFamily="34" charset="-120"/>
              </a:rPr>
              <a:t>Decision Boundary</a:t>
            </a:r>
            <a:endParaRPr lang="en-US" sz="2200" dirty="0"/>
          </a:p>
        </p:txBody>
      </p:sp>
      <p:sp>
        <p:nvSpPr>
          <p:cNvPr id="23" name="Text 21"/>
          <p:cNvSpPr txBox="1"/>
          <p:nvPr/>
        </p:nvSpPr>
        <p:spPr>
          <a:xfrm>
            <a:off x="4599432" y="2286000"/>
            <a:ext cx="3017520" cy="3566160"/>
          </a:xfrm>
          <a:prstGeom prst="rect">
            <a:avLst/>
          </a:prstGeom>
          <a:noFill/>
          <a:ln/>
        </p:spPr>
        <p:txBody>
          <a:bodyPr wrap="square" lIns="0" tIns="0" rIns="0" bIns="0" rtlCol="0" anchor="t"/>
          <a:lstStyle/>
          <a:p>
            <a:pPr>
              <a:spcAft>
                <a:spcPts val="900"/>
              </a:spcAft>
            </a:pPr>
            <a:r>
              <a:rPr lang="en-US" sz="1900" b="1" dirty="0">
                <a:solidFill>
                  <a:srgbClr val="9DB4FF"/>
                </a:solidFill>
                <a:latin typeface="Calibri" pitchFamily="34" charset="0"/>
                <a:ea typeface="Calibri" pitchFamily="34" charset="-122"/>
                <a:cs typeface="Calibri" pitchFamily="34" charset="-120"/>
              </a:rPr>
              <a:t>Condition: </a:t>
            </a:r>
            <a:r>
              <a:rPr lang="en-US" sz="1900" b="1" dirty="0">
                <a:solidFill>
                  <a:schemeClr val="bg2"/>
                </a:solidFill>
                <a:latin typeface="Calibri" pitchFamily="34" charset="0"/>
                <a:ea typeface="Calibri" pitchFamily="34" charset="-122"/>
                <a:cs typeface="Calibri" pitchFamily="34" charset="-120"/>
              </a:rPr>
              <a:t>z =  </a:t>
            </a:r>
            <a:r>
              <a:rPr lang="en-US" sz="1900" dirty="0">
                <a:solidFill>
                  <a:srgbClr val="F2F2F8"/>
                </a:solidFill>
                <a:latin typeface="Calibri" pitchFamily="34" charset="0"/>
                <a:ea typeface="Calibri" pitchFamily="34" charset="-122"/>
                <a:cs typeface="Calibri" pitchFamily="34" charset="-120"/>
              </a:rPr>
              <a:t>W</a:t>
            </a:r>
            <a:r>
              <a:rPr lang="en-US" sz="1900" baseline="30000" dirty="0">
                <a:solidFill>
                  <a:srgbClr val="F2F2F8"/>
                </a:solidFill>
                <a:latin typeface="Calibri" pitchFamily="34" charset="0"/>
                <a:ea typeface="Calibri" pitchFamily="34" charset="-122"/>
                <a:cs typeface="Calibri" pitchFamily="34" charset="-120"/>
              </a:rPr>
              <a:t>T</a:t>
            </a:r>
            <a:r>
              <a:rPr lang="en-US" sz="1900" dirty="0">
                <a:solidFill>
                  <a:srgbClr val="F2F2F8"/>
                </a:solidFill>
                <a:latin typeface="Calibri" pitchFamily="34" charset="0"/>
                <a:ea typeface="Calibri" pitchFamily="34" charset="-122"/>
                <a:cs typeface="Calibri" pitchFamily="34" charset="-120"/>
              </a:rPr>
              <a:t> X + b = 0</a:t>
            </a:r>
            <a:endParaRPr lang="en-US" sz="1900" dirty="0"/>
          </a:p>
          <a:p>
            <a:pPr marL="0" indent="0">
              <a:spcAft>
                <a:spcPts val="900"/>
              </a:spcAft>
              <a:buNone/>
            </a:pPr>
            <a:r>
              <a:rPr lang="en-US" sz="1900" b="1" dirty="0">
                <a:solidFill>
                  <a:srgbClr val="9DB4FF"/>
                </a:solidFill>
                <a:latin typeface="Calibri" pitchFamily="34" charset="0"/>
                <a:ea typeface="Calibri" pitchFamily="34" charset="-122"/>
                <a:cs typeface="Calibri" pitchFamily="34" charset="-120"/>
              </a:rPr>
              <a:t>Activation Result: </a:t>
            </a:r>
            <a:r>
              <a:rPr lang="en-US" sz="1900" dirty="0">
                <a:solidFill>
                  <a:srgbClr val="F2F2F8"/>
                </a:solidFill>
                <a:latin typeface="Calibri" pitchFamily="34" charset="0"/>
                <a:ea typeface="Calibri" pitchFamily="34" charset="-122"/>
                <a:cs typeface="Calibri" pitchFamily="34" charset="-120"/>
              </a:rPr>
              <a:t>f(0) = 1 (or threshold boundary)</a:t>
            </a:r>
            <a:endParaRPr lang="en-US" sz="1900" dirty="0"/>
          </a:p>
          <a:p>
            <a:pPr marL="0" indent="0">
              <a:spcAft>
                <a:spcPts val="900"/>
              </a:spcAft>
              <a:buNone/>
            </a:pPr>
            <a:r>
              <a:rPr lang="en-US" sz="1900" b="1" dirty="0">
                <a:solidFill>
                  <a:srgbClr val="9DB4FF"/>
                </a:solidFill>
                <a:latin typeface="Calibri" pitchFamily="34" charset="0"/>
                <a:ea typeface="Calibri" pitchFamily="34" charset="-122"/>
                <a:cs typeface="Calibri" pitchFamily="34" charset="-120"/>
              </a:rPr>
              <a:t>Predicted Label: </a:t>
            </a:r>
            <a:r>
              <a:rPr lang="en-US" sz="1900" dirty="0">
                <a:solidFill>
                  <a:srgbClr val="F2F2F8"/>
                </a:solidFill>
                <a:latin typeface="Calibri" pitchFamily="34" charset="0"/>
                <a:ea typeface="Calibri" pitchFamily="34" charset="-122"/>
                <a:cs typeface="Calibri" pitchFamily="34" charset="-120"/>
              </a:rPr>
              <a:t>Boundary Frontier</a:t>
            </a:r>
            <a:endParaRPr lang="en-US" sz="1900" dirty="0"/>
          </a:p>
          <a:p>
            <a:pPr marL="0" indent="0">
              <a:spcAft>
                <a:spcPts val="900"/>
              </a:spcAft>
              <a:buNone/>
            </a:pPr>
            <a:r>
              <a:rPr lang="en-US" sz="1900" b="1" dirty="0">
                <a:solidFill>
                  <a:srgbClr val="9DB4FF"/>
                </a:solidFill>
                <a:latin typeface="Calibri" pitchFamily="34" charset="0"/>
                <a:ea typeface="Calibri" pitchFamily="34" charset="-122"/>
                <a:cs typeface="Calibri" pitchFamily="34" charset="-120"/>
              </a:rPr>
              <a:t>Geometric Region: </a:t>
            </a:r>
            <a:r>
              <a:rPr lang="en-US" sz="1900" dirty="0">
                <a:solidFill>
                  <a:srgbClr val="F2F2F8"/>
                </a:solidFill>
                <a:latin typeface="Calibri" pitchFamily="34" charset="0"/>
                <a:ea typeface="Calibri" pitchFamily="34" charset="-122"/>
                <a:cs typeface="Calibri" pitchFamily="34" charset="-120"/>
              </a:rPr>
              <a:t>Locus of all points lying exactly on decision line/hyperplane.</a:t>
            </a:r>
            <a:endParaRPr lang="en-US" sz="1900" dirty="0"/>
          </a:p>
        </p:txBody>
      </p:sp>
      <p:sp>
        <p:nvSpPr>
          <p:cNvPr id="24" name="Shape 22"/>
          <p:cNvSpPr/>
          <p:nvPr/>
        </p:nvSpPr>
        <p:spPr>
          <a:xfrm>
            <a:off x="8010144" y="1508760"/>
            <a:ext cx="3474720" cy="4480560"/>
          </a:xfrm>
          <a:prstGeom prst="roundRect">
            <a:avLst>
              <a:gd name="adj" fmla="val 3158"/>
            </a:avLst>
          </a:prstGeom>
          <a:solidFill>
            <a:srgbClr val="1C2036"/>
          </a:solidFill>
          <a:ln w="9525">
            <a:solidFill>
              <a:srgbClr val="343A58"/>
            </a:solidFill>
            <a:prstDash val="solid"/>
          </a:ln>
        </p:spPr>
        <p:txBody>
          <a:bodyPr/>
          <a:lstStyle/>
          <a:p>
            <a:endParaRPr lang="en-IN"/>
          </a:p>
        </p:txBody>
      </p:sp>
      <p:sp>
        <p:nvSpPr>
          <p:cNvPr id="25" name="Text 23"/>
          <p:cNvSpPr txBox="1"/>
          <p:nvPr/>
        </p:nvSpPr>
        <p:spPr>
          <a:xfrm>
            <a:off x="8010144" y="1691640"/>
            <a:ext cx="3474720" cy="457200"/>
          </a:xfrm>
          <a:prstGeom prst="rect">
            <a:avLst/>
          </a:prstGeom>
          <a:noFill/>
          <a:ln/>
        </p:spPr>
        <p:txBody>
          <a:bodyPr wrap="square" lIns="0" tIns="0" rIns="0" bIns="0" rtlCol="0" anchor="t"/>
          <a:lstStyle/>
          <a:p>
            <a:pPr marL="0" indent="0" algn="ctr">
              <a:buNone/>
            </a:pPr>
            <a:r>
              <a:rPr lang="en-US" sz="2200" dirty="0">
                <a:solidFill>
                  <a:srgbClr val="FF8A80"/>
                </a:solidFill>
                <a:latin typeface="Impact" pitchFamily="34" charset="0"/>
                <a:ea typeface="Impact" pitchFamily="34" charset="-122"/>
                <a:cs typeface="Impact" pitchFamily="34" charset="-120"/>
              </a:rPr>
              <a:t>Negative Half-Space</a:t>
            </a:r>
            <a:endParaRPr lang="en-US" sz="2200" dirty="0"/>
          </a:p>
        </p:txBody>
      </p:sp>
      <p:sp>
        <p:nvSpPr>
          <p:cNvPr id="26" name="Text 24"/>
          <p:cNvSpPr txBox="1"/>
          <p:nvPr/>
        </p:nvSpPr>
        <p:spPr>
          <a:xfrm>
            <a:off x="8238744" y="2286000"/>
            <a:ext cx="3017520" cy="3566160"/>
          </a:xfrm>
          <a:prstGeom prst="rect">
            <a:avLst/>
          </a:prstGeom>
          <a:noFill/>
          <a:ln/>
        </p:spPr>
        <p:txBody>
          <a:bodyPr wrap="square" lIns="0" tIns="0" rIns="0" bIns="0" rtlCol="0" anchor="t"/>
          <a:lstStyle/>
          <a:p>
            <a:pPr>
              <a:spcAft>
                <a:spcPts val="900"/>
              </a:spcAft>
            </a:pPr>
            <a:r>
              <a:rPr lang="en-US" sz="1900" b="1" dirty="0">
                <a:solidFill>
                  <a:srgbClr val="FF8A80"/>
                </a:solidFill>
                <a:latin typeface="Calibri" pitchFamily="34" charset="0"/>
                <a:ea typeface="Calibri" pitchFamily="34" charset="-122"/>
                <a:cs typeface="Calibri" pitchFamily="34" charset="-120"/>
              </a:rPr>
              <a:t>Condition:  </a:t>
            </a:r>
            <a:r>
              <a:rPr lang="en-US" sz="1900" b="1" dirty="0">
                <a:solidFill>
                  <a:schemeClr val="bg2"/>
                </a:solidFill>
                <a:latin typeface="Calibri" pitchFamily="34" charset="0"/>
                <a:ea typeface="Calibri" pitchFamily="34" charset="-122"/>
                <a:cs typeface="Calibri" pitchFamily="34" charset="-120"/>
              </a:rPr>
              <a:t>z = </a:t>
            </a:r>
            <a:r>
              <a:rPr lang="en-US" sz="1900" dirty="0">
                <a:solidFill>
                  <a:srgbClr val="F2F2F8"/>
                </a:solidFill>
                <a:latin typeface="Calibri" pitchFamily="34" charset="0"/>
                <a:ea typeface="Calibri" pitchFamily="34" charset="-122"/>
                <a:cs typeface="Calibri" pitchFamily="34" charset="-120"/>
              </a:rPr>
              <a:t>W</a:t>
            </a:r>
            <a:r>
              <a:rPr lang="en-US" sz="1900" baseline="30000" dirty="0">
                <a:solidFill>
                  <a:srgbClr val="F2F2F8"/>
                </a:solidFill>
                <a:latin typeface="Calibri" pitchFamily="34" charset="0"/>
                <a:ea typeface="Calibri" pitchFamily="34" charset="-122"/>
                <a:cs typeface="Calibri" pitchFamily="34" charset="-120"/>
              </a:rPr>
              <a:t>T</a:t>
            </a:r>
            <a:r>
              <a:rPr lang="en-US" sz="1900" dirty="0">
                <a:solidFill>
                  <a:srgbClr val="F2F2F8"/>
                </a:solidFill>
                <a:latin typeface="Calibri" pitchFamily="34" charset="0"/>
                <a:ea typeface="Calibri" pitchFamily="34" charset="-122"/>
                <a:cs typeface="Calibri" pitchFamily="34" charset="-120"/>
              </a:rPr>
              <a:t> X + b &lt; 0</a:t>
            </a:r>
            <a:endParaRPr lang="en-US" sz="1900" dirty="0"/>
          </a:p>
          <a:p>
            <a:pPr marL="0" indent="0">
              <a:spcAft>
                <a:spcPts val="900"/>
              </a:spcAft>
              <a:buNone/>
            </a:pPr>
            <a:r>
              <a:rPr lang="en-US" sz="1900" b="1" dirty="0">
                <a:solidFill>
                  <a:srgbClr val="FF8A80"/>
                </a:solidFill>
                <a:latin typeface="Calibri" pitchFamily="34" charset="0"/>
                <a:ea typeface="Calibri" pitchFamily="34" charset="-122"/>
                <a:cs typeface="Calibri" pitchFamily="34" charset="-120"/>
              </a:rPr>
              <a:t>Activation Result: </a:t>
            </a:r>
            <a:r>
              <a:rPr lang="en-US" sz="1900" dirty="0">
                <a:solidFill>
                  <a:srgbClr val="F2F2F8"/>
                </a:solidFill>
                <a:latin typeface="Calibri" pitchFamily="34" charset="0"/>
                <a:ea typeface="Calibri" pitchFamily="34" charset="-122"/>
                <a:cs typeface="Calibri" pitchFamily="34" charset="-120"/>
              </a:rPr>
              <a:t>f(z) = 0</a:t>
            </a:r>
            <a:endParaRPr lang="en-US" sz="1900" dirty="0"/>
          </a:p>
          <a:p>
            <a:pPr marL="0" indent="0">
              <a:spcAft>
                <a:spcPts val="900"/>
              </a:spcAft>
              <a:buNone/>
            </a:pPr>
            <a:r>
              <a:rPr lang="en-US" sz="1900" b="1" dirty="0">
                <a:solidFill>
                  <a:srgbClr val="FF8A80"/>
                </a:solidFill>
                <a:latin typeface="Calibri" pitchFamily="34" charset="0"/>
                <a:ea typeface="Calibri" pitchFamily="34" charset="-122"/>
                <a:cs typeface="Calibri" pitchFamily="34" charset="-120"/>
              </a:rPr>
              <a:t>Predicted Label: </a:t>
            </a:r>
            <a:r>
              <a:rPr lang="en-US" sz="1900" dirty="0">
                <a:solidFill>
                  <a:srgbClr val="F2F2F8"/>
                </a:solidFill>
                <a:latin typeface="Calibri" pitchFamily="34" charset="0"/>
                <a:ea typeface="Calibri" pitchFamily="34" charset="-122"/>
                <a:cs typeface="Calibri" pitchFamily="34" charset="-120"/>
              </a:rPr>
              <a:t>ŷ = 0 (or -1)</a:t>
            </a:r>
            <a:endParaRPr lang="en-US" sz="1900" dirty="0"/>
          </a:p>
          <a:p>
            <a:pPr marL="0" indent="0">
              <a:spcAft>
                <a:spcPts val="900"/>
              </a:spcAft>
              <a:buNone/>
            </a:pPr>
            <a:r>
              <a:rPr lang="en-US" sz="1900" b="1" dirty="0">
                <a:solidFill>
                  <a:srgbClr val="FF8A80"/>
                </a:solidFill>
                <a:latin typeface="Calibri" pitchFamily="34" charset="0"/>
                <a:ea typeface="Calibri" pitchFamily="34" charset="-122"/>
                <a:cs typeface="Calibri" pitchFamily="34" charset="-120"/>
              </a:rPr>
              <a:t>Geometric Region: </a:t>
            </a:r>
            <a:r>
              <a:rPr lang="en-US" sz="1900" dirty="0">
                <a:solidFill>
                  <a:srgbClr val="F2F2F8"/>
                </a:solidFill>
                <a:latin typeface="Calibri" pitchFamily="34" charset="0"/>
                <a:ea typeface="Calibri" pitchFamily="34" charset="-122"/>
                <a:cs typeface="Calibri" pitchFamily="34" charset="-120"/>
              </a:rPr>
              <a:t>Space located opposite to direction vector W.</a:t>
            </a:r>
            <a:endParaRPr lang="en-US" sz="1900" dirty="0"/>
          </a:p>
        </p:txBody>
      </p:sp>
      <p:sp>
        <p:nvSpPr>
          <p:cNvPr id="27" name="Text 25"/>
          <p:cNvSpPr txBox="1"/>
          <p:nvPr/>
        </p:nvSpPr>
        <p:spPr>
          <a:xfrm>
            <a:off x="731520" y="6446520"/>
            <a:ext cx="5486400" cy="274320"/>
          </a:xfrm>
          <a:prstGeom prst="rect">
            <a:avLst/>
          </a:prstGeom>
          <a:noFill/>
          <a:ln/>
        </p:spPr>
        <p:txBody>
          <a:bodyPr wrap="square" lIns="0" tIns="0" rIns="0" bIns="0" rtlCol="0" anchor="t"/>
          <a:lstStyle/>
          <a:p>
            <a:pPr marL="0" indent="0">
              <a:buNone/>
            </a:pPr>
            <a:endParaRPr lang="en-US" sz="1200" dirty="0"/>
          </a:p>
        </p:txBody>
      </p:sp>
      <p:sp>
        <p:nvSpPr>
          <p:cNvPr id="28" name="Text 26"/>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4888875-FE21-874E-3334-033699893BD7}"/>
            </a:ext>
          </a:extLst>
        </p:cNvPr>
        <p:cNvGrpSpPr/>
        <p:nvPr/>
      </p:nvGrpSpPr>
      <p:grpSpPr>
        <a:xfrm>
          <a:off x="0" y="0"/>
          <a:ext cx="0" cy="0"/>
          <a:chOff x="0" y="0"/>
          <a:chExt cx="0" cy="0"/>
        </a:xfrm>
      </p:grpSpPr>
      <p:sp>
        <p:nvSpPr>
          <p:cNvPr id="9" name="Shape 7">
            <a:extLst>
              <a:ext uri="{FF2B5EF4-FFF2-40B4-BE49-F238E27FC236}">
                <a16:creationId xmlns:a16="http://schemas.microsoft.com/office/drawing/2014/main" id="{911D14E2-C6B3-BC4A-05E6-19D0B5C86FCE}"/>
              </a:ext>
            </a:extLst>
          </p:cNvPr>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a:extLst>
              <a:ext uri="{FF2B5EF4-FFF2-40B4-BE49-F238E27FC236}">
                <a16:creationId xmlns:a16="http://schemas.microsoft.com/office/drawing/2014/main" id="{3C097212-13A1-437F-2592-E948A3E86D98}"/>
              </a:ext>
            </a:extLst>
          </p:cNvPr>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a:extLst>
              <a:ext uri="{FF2B5EF4-FFF2-40B4-BE49-F238E27FC236}">
                <a16:creationId xmlns:a16="http://schemas.microsoft.com/office/drawing/2014/main" id="{91BAB3AD-473E-064C-AA50-9735816A0DCA}"/>
              </a:ext>
            </a:extLst>
          </p:cNvPr>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a:extLst>
              <a:ext uri="{FF2B5EF4-FFF2-40B4-BE49-F238E27FC236}">
                <a16:creationId xmlns:a16="http://schemas.microsoft.com/office/drawing/2014/main" id="{E62F9A33-7BAB-74F6-3A60-3A28F841BCD3}"/>
              </a:ext>
            </a:extLst>
          </p:cNvPr>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6" name="Text 14">
            <a:extLst>
              <a:ext uri="{FF2B5EF4-FFF2-40B4-BE49-F238E27FC236}">
                <a16:creationId xmlns:a16="http://schemas.microsoft.com/office/drawing/2014/main" id="{C8EB8D03-29C5-5CE0-9CB7-A3188468B4E6}"/>
              </a:ext>
            </a:extLst>
          </p:cNvPr>
          <p:cNvSpPr txBox="1"/>
          <p:nvPr/>
        </p:nvSpPr>
        <p:spPr>
          <a:xfrm>
            <a:off x="365760" y="411480"/>
            <a:ext cx="9144000" cy="868680"/>
          </a:xfrm>
          <a:prstGeom prst="rect">
            <a:avLst/>
          </a:prstGeom>
          <a:noFill/>
          <a:ln/>
        </p:spPr>
        <p:txBody>
          <a:bodyPr wrap="square" lIns="0" tIns="0" rIns="0" bIns="0" rtlCol="0" anchor="ctr"/>
          <a:lstStyle/>
          <a:p>
            <a:pPr marL="0" indent="0" algn="ctr">
              <a:buNone/>
            </a:pPr>
            <a:endParaRPr lang="en-US" sz="2600" dirty="0"/>
          </a:p>
        </p:txBody>
      </p:sp>
      <p:sp>
        <p:nvSpPr>
          <p:cNvPr id="17" name="Text 15">
            <a:extLst>
              <a:ext uri="{FF2B5EF4-FFF2-40B4-BE49-F238E27FC236}">
                <a16:creationId xmlns:a16="http://schemas.microsoft.com/office/drawing/2014/main" id="{DD2A5726-3C19-16D9-DA66-9AAD024E4CD8}"/>
              </a:ext>
            </a:extLst>
          </p:cNvPr>
          <p:cNvSpPr txBox="1"/>
          <p:nvPr/>
        </p:nvSpPr>
        <p:spPr>
          <a:xfrm>
            <a:off x="731520" y="228600"/>
            <a:ext cx="5486400" cy="274320"/>
          </a:xfrm>
          <a:prstGeom prst="rect">
            <a:avLst/>
          </a:prstGeom>
          <a:noFill/>
          <a:ln/>
        </p:spPr>
        <p:txBody>
          <a:bodyPr wrap="square" lIns="0" tIns="0" rIns="0" bIns="0" rtlCol="0" anchor="t"/>
          <a:lstStyle/>
          <a:p>
            <a:pPr marL="0" indent="0">
              <a:buNone/>
            </a:pPr>
            <a:endParaRPr lang="en-US" sz="1300" dirty="0"/>
          </a:p>
        </p:txBody>
      </p:sp>
      <p:sp>
        <p:nvSpPr>
          <p:cNvPr id="27" name="Text 25">
            <a:extLst>
              <a:ext uri="{FF2B5EF4-FFF2-40B4-BE49-F238E27FC236}">
                <a16:creationId xmlns:a16="http://schemas.microsoft.com/office/drawing/2014/main" id="{AF72CFF9-DC9C-11A5-54BB-82AA77E17E3F}"/>
              </a:ext>
            </a:extLst>
          </p:cNvPr>
          <p:cNvSpPr txBox="1"/>
          <p:nvPr/>
        </p:nvSpPr>
        <p:spPr>
          <a:xfrm>
            <a:off x="731520" y="6446520"/>
            <a:ext cx="5486400" cy="274320"/>
          </a:xfrm>
          <a:prstGeom prst="rect">
            <a:avLst/>
          </a:prstGeom>
          <a:noFill/>
          <a:ln/>
        </p:spPr>
        <p:txBody>
          <a:bodyPr wrap="square" lIns="0" tIns="0" rIns="0" bIns="0" rtlCol="0" anchor="t"/>
          <a:lstStyle/>
          <a:p>
            <a:pPr marL="0" indent="0">
              <a:buNone/>
            </a:pPr>
            <a:endParaRPr lang="en-US" sz="1200" dirty="0"/>
          </a:p>
        </p:txBody>
      </p:sp>
      <p:sp>
        <p:nvSpPr>
          <p:cNvPr id="28" name="Text 26">
            <a:extLst>
              <a:ext uri="{FF2B5EF4-FFF2-40B4-BE49-F238E27FC236}">
                <a16:creationId xmlns:a16="http://schemas.microsoft.com/office/drawing/2014/main" id="{D386323F-3AF7-7A4D-47A7-7DEFE924C9C6}"/>
              </a:ext>
            </a:extLst>
          </p:cNvPr>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
        <p:nvSpPr>
          <p:cNvPr id="32" name="Shape 15">
            <a:extLst>
              <a:ext uri="{FF2B5EF4-FFF2-40B4-BE49-F238E27FC236}">
                <a16:creationId xmlns:a16="http://schemas.microsoft.com/office/drawing/2014/main" id="{B09F0700-F86A-AEB0-C3F3-BEB68DC457A6}"/>
              </a:ext>
            </a:extLst>
          </p:cNvPr>
          <p:cNvSpPr/>
          <p:nvPr/>
        </p:nvSpPr>
        <p:spPr>
          <a:xfrm>
            <a:off x="731520" y="325120"/>
            <a:ext cx="10586720" cy="6207760"/>
          </a:xfrm>
          <a:prstGeom prst="roundRect">
            <a:avLst>
              <a:gd name="adj" fmla="val 2202"/>
            </a:avLst>
          </a:prstGeom>
          <a:solidFill>
            <a:srgbClr val="1C2036"/>
          </a:solidFill>
          <a:ln w="9525">
            <a:solidFill>
              <a:srgbClr val="343A58"/>
            </a:solidFill>
            <a:prstDash val="solid"/>
          </a:ln>
        </p:spPr>
        <p:txBody>
          <a:bodyPr/>
          <a:lstStyle/>
          <a:p>
            <a:endParaRPr lang="en-IN"/>
          </a:p>
        </p:txBody>
      </p:sp>
      <p:pic>
        <p:nvPicPr>
          <p:cNvPr id="30" name="Picture 29">
            <a:extLst>
              <a:ext uri="{FF2B5EF4-FFF2-40B4-BE49-F238E27FC236}">
                <a16:creationId xmlns:a16="http://schemas.microsoft.com/office/drawing/2014/main" id="{4D9B206D-52AF-3155-48A4-1E9693DB1A67}"/>
              </a:ext>
            </a:extLst>
          </p:cNvPr>
          <p:cNvPicPr>
            <a:picLocks noChangeAspect="1"/>
          </p:cNvPicPr>
          <p:nvPr/>
        </p:nvPicPr>
        <p:blipFill>
          <a:blip r:embed="rId4"/>
          <a:stretch>
            <a:fillRect/>
          </a:stretch>
        </p:blipFill>
        <p:spPr>
          <a:xfrm>
            <a:off x="1148080" y="704850"/>
            <a:ext cx="9753600" cy="5448300"/>
          </a:xfrm>
          <a:prstGeom prst="rect">
            <a:avLst/>
          </a:prstGeom>
        </p:spPr>
      </p:pic>
    </p:spTree>
    <p:extLst>
      <p:ext uri="{BB962C8B-B14F-4D97-AF65-F5344CB8AC3E}">
        <p14:creationId xmlns:p14="http://schemas.microsoft.com/office/powerpoint/2010/main" val="1334067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6" name="Text 14"/>
          <p:cNvSpPr txBox="1"/>
          <p:nvPr/>
        </p:nvSpPr>
        <p:spPr>
          <a:xfrm>
            <a:off x="1570809" y="137160"/>
            <a:ext cx="9144000" cy="868680"/>
          </a:xfrm>
          <a:prstGeom prst="rect">
            <a:avLst/>
          </a:prstGeom>
          <a:noFill/>
          <a:ln/>
        </p:spPr>
        <p:txBody>
          <a:bodyPr wrap="square" lIns="0" tIns="0" rIns="0" bIns="0" rtlCol="0" anchor="ctr"/>
          <a:lstStyle/>
          <a:p>
            <a:pPr marL="0" indent="0" algn="ctr">
              <a:buNone/>
            </a:pPr>
            <a:r>
              <a:rPr lang="en-US" sz="3200" dirty="0">
                <a:solidFill>
                  <a:srgbClr val="F2F2F8"/>
                </a:solidFill>
                <a:latin typeface="Impact" pitchFamily="34" charset="0"/>
                <a:ea typeface="Impact" pitchFamily="34" charset="-122"/>
                <a:cs typeface="Impact" pitchFamily="34" charset="-120"/>
              </a:rPr>
              <a:t>Boundaries in Different Dimensions</a:t>
            </a:r>
            <a:endParaRPr lang="en-US" sz="3200" dirty="0"/>
          </a:p>
        </p:txBody>
      </p:sp>
      <p:sp>
        <p:nvSpPr>
          <p:cNvPr id="17" name="Shape 15"/>
          <p:cNvSpPr/>
          <p:nvPr/>
        </p:nvSpPr>
        <p:spPr>
          <a:xfrm>
            <a:off x="707136" y="1005840"/>
            <a:ext cx="2606040" cy="1783080"/>
          </a:xfrm>
          <a:prstGeom prst="roundRect">
            <a:avLst>
              <a:gd name="adj" fmla="val 6154"/>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890016" y="1143000"/>
            <a:ext cx="548640" cy="548640"/>
          </a:xfrm>
          <a:prstGeom prst="ellipse">
            <a:avLst/>
          </a:prstGeom>
          <a:solidFill>
            <a:srgbClr val="6B76A6"/>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9" name="Text 17"/>
          <p:cNvSpPr txBox="1"/>
          <p:nvPr/>
        </p:nvSpPr>
        <p:spPr>
          <a:xfrm>
            <a:off x="1530096" y="1280160"/>
            <a:ext cx="1645920" cy="274320"/>
          </a:xfrm>
          <a:prstGeom prst="rect">
            <a:avLst/>
          </a:prstGeom>
          <a:noFill/>
          <a:ln/>
        </p:spPr>
        <p:txBody>
          <a:bodyPr wrap="square" lIns="0" tIns="0" rIns="0" bIns="0" rtlCol="0" anchor="t"/>
          <a:lstStyle/>
          <a:p>
            <a:pPr marL="0" indent="0">
              <a:buNone/>
            </a:pPr>
            <a:r>
              <a:rPr lang="en-US" sz="1550" dirty="0">
                <a:solidFill>
                  <a:srgbClr val="A9AFC8"/>
                </a:solidFill>
                <a:latin typeface="Calibri" pitchFamily="34" charset="0"/>
                <a:ea typeface="Calibri" pitchFamily="34" charset="-122"/>
                <a:cs typeface="Calibri" pitchFamily="34" charset="-120"/>
              </a:rPr>
              <a:t>input</a:t>
            </a:r>
            <a:endParaRPr lang="en-US" sz="1550" dirty="0"/>
          </a:p>
        </p:txBody>
      </p:sp>
      <p:sp>
        <p:nvSpPr>
          <p:cNvPr id="20" name="Text 18"/>
          <p:cNvSpPr txBox="1"/>
          <p:nvPr/>
        </p:nvSpPr>
        <p:spPr>
          <a:xfrm>
            <a:off x="890016" y="1783080"/>
            <a:ext cx="2286000" cy="365760"/>
          </a:xfrm>
          <a:prstGeom prst="rect">
            <a:avLst/>
          </a:prstGeom>
          <a:noFill/>
          <a:ln/>
        </p:spPr>
        <p:txBody>
          <a:bodyPr wrap="square" lIns="0" tIns="0" rIns="0" bIns="0" rtlCol="0" anchor="t"/>
          <a:lstStyle/>
          <a:p>
            <a:pPr marL="0" indent="0">
              <a:buNone/>
            </a:pPr>
            <a:r>
              <a:rPr lang="en-US" sz="2200" dirty="0">
                <a:solidFill>
                  <a:srgbClr val="F2F2F8"/>
                </a:solidFill>
                <a:latin typeface="Impact" pitchFamily="34" charset="0"/>
                <a:ea typeface="Impact" pitchFamily="34" charset="-122"/>
                <a:cs typeface="Impact" pitchFamily="34" charset="-120"/>
              </a:rPr>
              <a:t>Point</a:t>
            </a:r>
            <a:endParaRPr lang="en-US" sz="2200" dirty="0"/>
          </a:p>
        </p:txBody>
      </p:sp>
      <p:sp>
        <p:nvSpPr>
          <p:cNvPr id="21" name="Text 19"/>
          <p:cNvSpPr txBox="1"/>
          <p:nvPr/>
        </p:nvSpPr>
        <p:spPr>
          <a:xfrm>
            <a:off x="890016" y="2286000"/>
            <a:ext cx="2286000" cy="457200"/>
          </a:xfrm>
          <a:prstGeom prst="rect">
            <a:avLst/>
          </a:prstGeom>
          <a:noFill/>
          <a:ln/>
        </p:spPr>
        <p:txBody>
          <a:bodyPr wrap="square" lIns="0" tIns="0" rIns="0" bIns="0" rtlCol="0" anchor="t"/>
          <a:lstStyle/>
          <a:p>
            <a:r>
              <a:rPr lang="en-US" sz="1550" dirty="0" err="1">
                <a:solidFill>
                  <a:srgbClr val="A9AFC8"/>
                </a:solidFill>
                <a:latin typeface="Calibri" pitchFamily="34" charset="0"/>
                <a:ea typeface="Calibri" pitchFamily="34" charset="-122"/>
                <a:cs typeface="Calibri" pitchFamily="34" charset="-120"/>
              </a:rPr>
              <a:t>w₁x</a:t>
            </a:r>
            <a:r>
              <a:rPr lang="en-US" sz="1550" dirty="0">
                <a:solidFill>
                  <a:srgbClr val="A9AFC8"/>
                </a:solidFill>
                <a:latin typeface="Calibri" pitchFamily="34" charset="0"/>
                <a:ea typeface="Calibri" pitchFamily="34" charset="-122"/>
                <a:cs typeface="Calibri" pitchFamily="34" charset="-120"/>
              </a:rPr>
              <a:t>₁ + b = 0</a:t>
            </a:r>
            <a:endParaRPr lang="en-US" sz="1550" dirty="0"/>
          </a:p>
        </p:txBody>
      </p:sp>
      <p:sp>
        <p:nvSpPr>
          <p:cNvPr id="22" name="Shape 20"/>
          <p:cNvSpPr/>
          <p:nvPr/>
        </p:nvSpPr>
        <p:spPr>
          <a:xfrm>
            <a:off x="3496056" y="1024128"/>
            <a:ext cx="2606040" cy="1783080"/>
          </a:xfrm>
          <a:prstGeom prst="roundRect">
            <a:avLst>
              <a:gd name="adj" fmla="val 6154"/>
            </a:avLst>
          </a:prstGeom>
          <a:solidFill>
            <a:srgbClr val="1C2036"/>
          </a:solidFill>
          <a:ln w="9525">
            <a:solidFill>
              <a:srgbClr val="343A58"/>
            </a:solidFill>
            <a:prstDash val="solid"/>
          </a:ln>
        </p:spPr>
        <p:txBody>
          <a:bodyPr/>
          <a:lstStyle/>
          <a:p>
            <a:endParaRPr lang="en-IN"/>
          </a:p>
        </p:txBody>
      </p:sp>
      <p:sp>
        <p:nvSpPr>
          <p:cNvPr id="23" name="Text 21"/>
          <p:cNvSpPr txBox="1"/>
          <p:nvPr/>
        </p:nvSpPr>
        <p:spPr>
          <a:xfrm>
            <a:off x="3678936" y="1161288"/>
            <a:ext cx="548640" cy="548640"/>
          </a:xfrm>
          <a:prstGeom prst="ellipse">
            <a:avLst/>
          </a:prstGeom>
          <a:solidFill>
            <a:srgbClr val="6B76A6"/>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txBox="1"/>
          <p:nvPr/>
        </p:nvSpPr>
        <p:spPr>
          <a:xfrm>
            <a:off x="4319016" y="1298448"/>
            <a:ext cx="1645920" cy="274320"/>
          </a:xfrm>
          <a:prstGeom prst="rect">
            <a:avLst/>
          </a:prstGeom>
          <a:noFill/>
          <a:ln/>
        </p:spPr>
        <p:txBody>
          <a:bodyPr wrap="square" lIns="0" tIns="0" rIns="0" bIns="0" rtlCol="0" anchor="t"/>
          <a:lstStyle/>
          <a:p>
            <a:pPr marL="0" indent="0">
              <a:buNone/>
            </a:pPr>
            <a:r>
              <a:rPr lang="en-US" sz="1550" dirty="0">
                <a:solidFill>
                  <a:srgbClr val="A9AFC8"/>
                </a:solidFill>
                <a:latin typeface="Calibri" pitchFamily="34" charset="0"/>
                <a:ea typeface="Calibri" pitchFamily="34" charset="-122"/>
                <a:cs typeface="Calibri" pitchFamily="34" charset="-120"/>
              </a:rPr>
              <a:t>inputs</a:t>
            </a:r>
            <a:endParaRPr lang="en-US" sz="1550" dirty="0"/>
          </a:p>
        </p:txBody>
      </p:sp>
      <p:sp>
        <p:nvSpPr>
          <p:cNvPr id="25" name="Text 23"/>
          <p:cNvSpPr txBox="1"/>
          <p:nvPr/>
        </p:nvSpPr>
        <p:spPr>
          <a:xfrm>
            <a:off x="3678936" y="1801368"/>
            <a:ext cx="2286000" cy="365760"/>
          </a:xfrm>
          <a:prstGeom prst="rect">
            <a:avLst/>
          </a:prstGeom>
          <a:noFill/>
          <a:ln/>
        </p:spPr>
        <p:txBody>
          <a:bodyPr wrap="square" lIns="0" tIns="0" rIns="0" bIns="0" rtlCol="0" anchor="t"/>
          <a:lstStyle/>
          <a:p>
            <a:pPr marL="0" indent="0">
              <a:buNone/>
            </a:pPr>
            <a:r>
              <a:rPr lang="en-US" sz="2200" dirty="0">
                <a:solidFill>
                  <a:srgbClr val="F2F2F8"/>
                </a:solidFill>
                <a:latin typeface="Impact" pitchFamily="34" charset="0"/>
                <a:ea typeface="Impact" pitchFamily="34" charset="-122"/>
                <a:cs typeface="Impact" pitchFamily="34" charset="-120"/>
              </a:rPr>
              <a:t>Line</a:t>
            </a:r>
            <a:endParaRPr lang="en-US" sz="2200" dirty="0"/>
          </a:p>
        </p:txBody>
      </p:sp>
      <p:sp>
        <p:nvSpPr>
          <p:cNvPr id="26" name="Text 24"/>
          <p:cNvSpPr txBox="1"/>
          <p:nvPr/>
        </p:nvSpPr>
        <p:spPr>
          <a:xfrm>
            <a:off x="3678936" y="2304288"/>
            <a:ext cx="2286000" cy="457200"/>
          </a:xfrm>
          <a:prstGeom prst="rect">
            <a:avLst/>
          </a:prstGeom>
          <a:noFill/>
          <a:ln/>
        </p:spPr>
        <p:txBody>
          <a:bodyPr wrap="square" lIns="0" tIns="0" rIns="0" bIns="0" rtlCol="0" anchor="t"/>
          <a:lstStyle/>
          <a:p>
            <a:r>
              <a:rPr lang="en-US" sz="1550" dirty="0" err="1">
                <a:solidFill>
                  <a:srgbClr val="A9AFC8"/>
                </a:solidFill>
                <a:latin typeface="Calibri" pitchFamily="34" charset="0"/>
                <a:ea typeface="Calibri" pitchFamily="34" charset="-122"/>
                <a:cs typeface="Calibri" pitchFamily="34" charset="-120"/>
              </a:rPr>
              <a:t>w₁x</a:t>
            </a:r>
            <a:r>
              <a:rPr lang="en-US" sz="1550" dirty="0">
                <a:solidFill>
                  <a:srgbClr val="A9AFC8"/>
                </a:solidFill>
                <a:latin typeface="Calibri" pitchFamily="34" charset="0"/>
                <a:ea typeface="Calibri" pitchFamily="34" charset="-122"/>
                <a:cs typeface="Calibri" pitchFamily="34" charset="-120"/>
              </a:rPr>
              <a:t>₁+</a:t>
            </a:r>
            <a:r>
              <a:rPr lang="en-US" sz="1550" dirty="0" err="1">
                <a:solidFill>
                  <a:srgbClr val="A9AFC8"/>
                </a:solidFill>
                <a:latin typeface="Calibri" pitchFamily="34" charset="0"/>
                <a:ea typeface="Calibri" pitchFamily="34" charset="-122"/>
                <a:cs typeface="Calibri" pitchFamily="34" charset="-120"/>
              </a:rPr>
              <a:t>w₂x</a:t>
            </a:r>
            <a:r>
              <a:rPr lang="en-US" sz="1550" dirty="0">
                <a:solidFill>
                  <a:srgbClr val="A9AFC8"/>
                </a:solidFill>
                <a:latin typeface="Calibri" pitchFamily="34" charset="0"/>
                <a:ea typeface="Calibri" pitchFamily="34" charset="-122"/>
                <a:cs typeface="Calibri" pitchFamily="34" charset="-120"/>
              </a:rPr>
              <a:t>₂+b = 0</a:t>
            </a:r>
            <a:endParaRPr lang="en-US" sz="1550" dirty="0"/>
          </a:p>
        </p:txBody>
      </p:sp>
      <p:sp>
        <p:nvSpPr>
          <p:cNvPr id="27" name="Shape 25"/>
          <p:cNvSpPr/>
          <p:nvPr/>
        </p:nvSpPr>
        <p:spPr>
          <a:xfrm>
            <a:off x="6260592" y="1019836"/>
            <a:ext cx="2606040" cy="1783080"/>
          </a:xfrm>
          <a:prstGeom prst="roundRect">
            <a:avLst>
              <a:gd name="adj" fmla="val 6154"/>
            </a:avLst>
          </a:prstGeom>
          <a:solidFill>
            <a:srgbClr val="1C2036"/>
          </a:solidFill>
          <a:ln w="9525">
            <a:solidFill>
              <a:srgbClr val="343A58"/>
            </a:solidFill>
            <a:prstDash val="solid"/>
          </a:ln>
        </p:spPr>
        <p:txBody>
          <a:bodyPr/>
          <a:lstStyle/>
          <a:p>
            <a:endParaRPr lang="en-IN"/>
          </a:p>
        </p:txBody>
      </p:sp>
      <p:sp>
        <p:nvSpPr>
          <p:cNvPr id="28" name="Text 26"/>
          <p:cNvSpPr txBox="1"/>
          <p:nvPr/>
        </p:nvSpPr>
        <p:spPr>
          <a:xfrm>
            <a:off x="6443472" y="1156996"/>
            <a:ext cx="548640" cy="548640"/>
          </a:xfrm>
          <a:prstGeom prst="ellipse">
            <a:avLst/>
          </a:prstGeom>
          <a:solidFill>
            <a:srgbClr val="6B76A6"/>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9" name="Text 27"/>
          <p:cNvSpPr txBox="1"/>
          <p:nvPr/>
        </p:nvSpPr>
        <p:spPr>
          <a:xfrm>
            <a:off x="7083552" y="1294156"/>
            <a:ext cx="1645920" cy="274320"/>
          </a:xfrm>
          <a:prstGeom prst="rect">
            <a:avLst/>
          </a:prstGeom>
          <a:noFill/>
          <a:ln/>
        </p:spPr>
        <p:txBody>
          <a:bodyPr wrap="square" lIns="0" tIns="0" rIns="0" bIns="0" rtlCol="0" anchor="t"/>
          <a:lstStyle/>
          <a:p>
            <a:pPr marL="0" indent="0">
              <a:buNone/>
            </a:pPr>
            <a:r>
              <a:rPr lang="en-US" sz="1550" dirty="0">
                <a:solidFill>
                  <a:srgbClr val="A9AFC8"/>
                </a:solidFill>
                <a:latin typeface="Calibri" pitchFamily="34" charset="0"/>
                <a:ea typeface="Calibri" pitchFamily="34" charset="-122"/>
                <a:cs typeface="Calibri" pitchFamily="34" charset="-120"/>
              </a:rPr>
              <a:t>inputs</a:t>
            </a:r>
            <a:endParaRPr lang="en-US" sz="1550" dirty="0"/>
          </a:p>
        </p:txBody>
      </p:sp>
      <p:sp>
        <p:nvSpPr>
          <p:cNvPr id="30" name="Text 28"/>
          <p:cNvSpPr txBox="1"/>
          <p:nvPr/>
        </p:nvSpPr>
        <p:spPr>
          <a:xfrm>
            <a:off x="6443472" y="1797076"/>
            <a:ext cx="2286000" cy="365760"/>
          </a:xfrm>
          <a:prstGeom prst="rect">
            <a:avLst/>
          </a:prstGeom>
          <a:noFill/>
          <a:ln/>
        </p:spPr>
        <p:txBody>
          <a:bodyPr wrap="square" lIns="0" tIns="0" rIns="0" bIns="0" rtlCol="0" anchor="t"/>
          <a:lstStyle/>
          <a:p>
            <a:pPr marL="0" indent="0">
              <a:buNone/>
            </a:pPr>
            <a:r>
              <a:rPr lang="en-US" sz="2200" dirty="0">
                <a:solidFill>
                  <a:srgbClr val="F2F2F8"/>
                </a:solidFill>
                <a:latin typeface="Impact" pitchFamily="34" charset="0"/>
                <a:ea typeface="Impact" pitchFamily="34" charset="-122"/>
                <a:cs typeface="Impact" pitchFamily="34" charset="-120"/>
              </a:rPr>
              <a:t>Plane</a:t>
            </a:r>
            <a:endParaRPr lang="en-US" sz="2200" dirty="0"/>
          </a:p>
        </p:txBody>
      </p:sp>
      <p:sp>
        <p:nvSpPr>
          <p:cNvPr id="31" name="Text 29"/>
          <p:cNvSpPr txBox="1"/>
          <p:nvPr/>
        </p:nvSpPr>
        <p:spPr>
          <a:xfrm>
            <a:off x="6443472" y="2299996"/>
            <a:ext cx="2286000" cy="457200"/>
          </a:xfrm>
          <a:prstGeom prst="rect">
            <a:avLst/>
          </a:prstGeom>
          <a:noFill/>
          <a:ln/>
        </p:spPr>
        <p:txBody>
          <a:bodyPr wrap="square" lIns="0" tIns="0" rIns="0" bIns="0" rtlCol="0" anchor="t"/>
          <a:lstStyle/>
          <a:p>
            <a:pPr marL="0" indent="0">
              <a:buNone/>
            </a:pPr>
            <a:r>
              <a:rPr lang="en-US" sz="1550" dirty="0">
                <a:solidFill>
                  <a:srgbClr val="A9AFC8"/>
                </a:solidFill>
                <a:latin typeface="Calibri" pitchFamily="34" charset="0"/>
                <a:ea typeface="Calibri" pitchFamily="34" charset="-122"/>
                <a:cs typeface="Calibri" pitchFamily="34" charset="-120"/>
              </a:rPr>
              <a:t>w₁x₁ + w₂x₂ + w₃x₃ + b = 0</a:t>
            </a:r>
            <a:endParaRPr lang="en-US" sz="1550" dirty="0"/>
          </a:p>
        </p:txBody>
      </p:sp>
      <p:sp>
        <p:nvSpPr>
          <p:cNvPr id="32" name="Shape 30"/>
          <p:cNvSpPr/>
          <p:nvPr/>
        </p:nvSpPr>
        <p:spPr>
          <a:xfrm>
            <a:off x="9068889" y="1036818"/>
            <a:ext cx="2606040" cy="1783080"/>
          </a:xfrm>
          <a:prstGeom prst="roundRect">
            <a:avLst>
              <a:gd name="adj" fmla="val 6154"/>
            </a:avLst>
          </a:prstGeom>
          <a:solidFill>
            <a:srgbClr val="1C2036"/>
          </a:solidFill>
          <a:ln w="9525">
            <a:solidFill>
              <a:srgbClr val="343A58"/>
            </a:solidFill>
            <a:prstDash val="solid"/>
          </a:ln>
        </p:spPr>
        <p:txBody>
          <a:bodyPr/>
          <a:lstStyle/>
          <a:p>
            <a:endParaRPr lang="en-IN"/>
          </a:p>
        </p:txBody>
      </p:sp>
      <p:sp>
        <p:nvSpPr>
          <p:cNvPr id="33" name="Text 31"/>
          <p:cNvSpPr txBox="1"/>
          <p:nvPr/>
        </p:nvSpPr>
        <p:spPr>
          <a:xfrm>
            <a:off x="9251769" y="1173978"/>
            <a:ext cx="548640" cy="548640"/>
          </a:xfrm>
          <a:prstGeom prst="ellipse">
            <a:avLst/>
          </a:prstGeom>
          <a:solidFill>
            <a:srgbClr val="6B76A6"/>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 &gt; 3</a:t>
            </a:r>
            <a:endParaRPr lang="en-US" sz="1100" dirty="0"/>
          </a:p>
        </p:txBody>
      </p:sp>
      <p:sp>
        <p:nvSpPr>
          <p:cNvPr id="34" name="Text 32"/>
          <p:cNvSpPr txBox="1"/>
          <p:nvPr/>
        </p:nvSpPr>
        <p:spPr>
          <a:xfrm>
            <a:off x="9891849" y="1311138"/>
            <a:ext cx="1645920" cy="274320"/>
          </a:xfrm>
          <a:prstGeom prst="rect">
            <a:avLst/>
          </a:prstGeom>
          <a:noFill/>
          <a:ln/>
        </p:spPr>
        <p:txBody>
          <a:bodyPr wrap="square" lIns="0" tIns="0" rIns="0" bIns="0" rtlCol="0" anchor="t"/>
          <a:lstStyle/>
          <a:p>
            <a:pPr marL="0" indent="0">
              <a:buNone/>
            </a:pPr>
            <a:r>
              <a:rPr lang="en-US" sz="1550" dirty="0">
                <a:solidFill>
                  <a:srgbClr val="A9AFC8"/>
                </a:solidFill>
                <a:latin typeface="Calibri" pitchFamily="34" charset="0"/>
                <a:ea typeface="Calibri" pitchFamily="34" charset="-122"/>
                <a:cs typeface="Calibri" pitchFamily="34" charset="-120"/>
              </a:rPr>
              <a:t>inputs</a:t>
            </a:r>
            <a:endParaRPr lang="en-US" sz="1550" dirty="0"/>
          </a:p>
        </p:txBody>
      </p:sp>
      <p:sp>
        <p:nvSpPr>
          <p:cNvPr id="35" name="Text 33"/>
          <p:cNvSpPr txBox="1"/>
          <p:nvPr/>
        </p:nvSpPr>
        <p:spPr>
          <a:xfrm>
            <a:off x="9251769" y="1814058"/>
            <a:ext cx="2286000" cy="365760"/>
          </a:xfrm>
          <a:prstGeom prst="rect">
            <a:avLst/>
          </a:prstGeom>
          <a:noFill/>
          <a:ln/>
        </p:spPr>
        <p:txBody>
          <a:bodyPr wrap="square" lIns="0" tIns="0" rIns="0" bIns="0" rtlCol="0" anchor="t"/>
          <a:lstStyle/>
          <a:p>
            <a:pPr marL="0" indent="0">
              <a:buNone/>
            </a:pPr>
            <a:r>
              <a:rPr lang="en-US" sz="2200" dirty="0">
                <a:solidFill>
                  <a:srgbClr val="F2F2F8"/>
                </a:solidFill>
                <a:latin typeface="Impact" pitchFamily="34" charset="0"/>
                <a:ea typeface="Impact" pitchFamily="34" charset="-122"/>
                <a:cs typeface="Impact" pitchFamily="34" charset="-120"/>
              </a:rPr>
              <a:t>Hyperplane</a:t>
            </a:r>
            <a:endParaRPr lang="en-US" sz="2200" dirty="0"/>
          </a:p>
        </p:txBody>
      </p:sp>
      <p:sp>
        <p:nvSpPr>
          <p:cNvPr id="36" name="Text 34"/>
          <p:cNvSpPr txBox="1"/>
          <p:nvPr/>
        </p:nvSpPr>
        <p:spPr>
          <a:xfrm>
            <a:off x="9251769" y="2316978"/>
            <a:ext cx="2286000" cy="457200"/>
          </a:xfrm>
          <a:prstGeom prst="rect">
            <a:avLst/>
          </a:prstGeom>
          <a:noFill/>
          <a:ln/>
        </p:spPr>
        <p:txBody>
          <a:bodyPr wrap="square" lIns="0" tIns="0" rIns="0" bIns="0" rtlCol="0" anchor="t"/>
          <a:lstStyle/>
          <a:p>
            <a:pPr marL="0" indent="0">
              <a:buNone/>
            </a:pPr>
            <a:r>
              <a:rPr lang="en-US" sz="1550" dirty="0">
                <a:solidFill>
                  <a:srgbClr val="A9AFC8"/>
                </a:solidFill>
                <a:latin typeface="Calibri" pitchFamily="34" charset="0"/>
                <a:ea typeface="Calibri" pitchFamily="34" charset="-122"/>
                <a:cs typeface="Calibri" pitchFamily="34" charset="-120"/>
              </a:rPr>
              <a:t>Σ wᵢxᵢ + b = 0</a:t>
            </a:r>
            <a:endParaRPr lang="en-US" sz="1550" dirty="0"/>
          </a:p>
        </p:txBody>
      </p:sp>
      <p:pic>
        <p:nvPicPr>
          <p:cNvPr id="37" name="Image 0" descr="a/dims.png"/>
          <p:cNvPicPr>
            <a:picLocks noChangeAspect="1"/>
          </p:cNvPicPr>
          <p:nvPr/>
        </p:nvPicPr>
        <p:blipFill>
          <a:blip r:embed="rId4"/>
          <a:stretch>
            <a:fillRect/>
          </a:stretch>
        </p:blipFill>
        <p:spPr>
          <a:xfrm>
            <a:off x="707136" y="3200400"/>
            <a:ext cx="6061710" cy="3383280"/>
          </a:xfrm>
          <a:prstGeom prst="rect">
            <a:avLst/>
          </a:prstGeom>
          <a:effectLst>
            <a:softEdge rad="0"/>
          </a:effectLst>
        </p:spPr>
      </p:pic>
      <p:sp>
        <p:nvSpPr>
          <p:cNvPr id="38" name="Shape 35"/>
          <p:cNvSpPr/>
          <p:nvPr/>
        </p:nvSpPr>
        <p:spPr>
          <a:xfrm>
            <a:off x="7156580" y="3445982"/>
            <a:ext cx="4562110" cy="1371600"/>
          </a:xfrm>
          <a:prstGeom prst="roundRect">
            <a:avLst>
              <a:gd name="adj" fmla="val 8000"/>
            </a:avLst>
          </a:prstGeom>
          <a:solidFill>
            <a:srgbClr val="3B4366"/>
          </a:solidFill>
          <a:ln w="9525">
            <a:solidFill>
              <a:srgbClr val="3B4366"/>
            </a:solidFill>
            <a:prstDash val="solid"/>
          </a:ln>
        </p:spPr>
        <p:txBody>
          <a:bodyPr/>
          <a:lstStyle/>
          <a:p>
            <a:endParaRPr lang="en-IN" dirty="0"/>
          </a:p>
        </p:txBody>
      </p:sp>
      <p:sp>
        <p:nvSpPr>
          <p:cNvPr id="39" name="Text 36"/>
          <p:cNvSpPr txBox="1"/>
          <p:nvPr/>
        </p:nvSpPr>
        <p:spPr>
          <a:xfrm>
            <a:off x="7463682" y="3659840"/>
            <a:ext cx="4117848" cy="1005840"/>
          </a:xfrm>
          <a:prstGeom prst="rect">
            <a:avLst/>
          </a:prstGeom>
          <a:noFill/>
          <a:ln/>
        </p:spPr>
        <p:txBody>
          <a:bodyPr wrap="square" lIns="0" tIns="0" rIns="0" bIns="0" rtlCol="0" anchor="t"/>
          <a:lstStyle/>
          <a:p>
            <a:pPr marL="0" indent="0">
              <a:buNone/>
            </a:pPr>
            <a:r>
              <a:rPr lang="en-US" sz="2000" b="1" dirty="0">
                <a:solidFill>
                  <a:srgbClr val="D9D6EE"/>
                </a:solidFill>
                <a:latin typeface="Arial Black" panose="020B0A04020102020204" pitchFamily="34" charset="0"/>
                <a:ea typeface="Calibri" pitchFamily="34" charset="-122"/>
                <a:cs typeface="Calibri" pitchFamily="34" charset="-120"/>
              </a:rPr>
              <a:t>Weights</a:t>
            </a:r>
            <a:endParaRPr lang="en-US" sz="2150" dirty="0">
              <a:latin typeface="Arial Black" panose="020B0A04020102020204" pitchFamily="34" charset="0"/>
            </a:endParaRPr>
          </a:p>
          <a:p>
            <a:pPr marL="0" indent="0">
              <a:buNone/>
            </a:pPr>
            <a:r>
              <a:rPr lang="en-US" sz="2150" dirty="0">
                <a:solidFill>
                  <a:srgbClr val="FFFFFF"/>
                </a:solidFill>
                <a:latin typeface="Calibri" pitchFamily="34" charset="0"/>
                <a:ea typeface="Calibri" pitchFamily="34" charset="-122"/>
                <a:cs typeface="Calibri" pitchFamily="34" charset="-120"/>
              </a:rPr>
              <a:t>control the orientation of the boundary</a:t>
            </a:r>
            <a:endParaRPr lang="en-US" sz="2150" dirty="0"/>
          </a:p>
        </p:txBody>
      </p:sp>
      <p:sp>
        <p:nvSpPr>
          <p:cNvPr id="40" name="Shape 37"/>
          <p:cNvSpPr/>
          <p:nvPr/>
        </p:nvSpPr>
        <p:spPr>
          <a:xfrm>
            <a:off x="7156580" y="4983480"/>
            <a:ext cx="4562110" cy="1371600"/>
          </a:xfrm>
          <a:prstGeom prst="roundRect">
            <a:avLst>
              <a:gd name="adj" fmla="val 8000"/>
            </a:avLst>
          </a:prstGeom>
          <a:solidFill>
            <a:srgbClr val="3B4366"/>
          </a:solidFill>
          <a:ln w="9525">
            <a:solidFill>
              <a:srgbClr val="3B4366"/>
            </a:solidFill>
            <a:prstDash val="solid"/>
          </a:ln>
        </p:spPr>
        <p:txBody>
          <a:bodyPr/>
          <a:lstStyle/>
          <a:p>
            <a:endParaRPr lang="en-IN"/>
          </a:p>
        </p:txBody>
      </p:sp>
      <p:sp>
        <p:nvSpPr>
          <p:cNvPr id="41" name="Text 38"/>
          <p:cNvSpPr txBox="1"/>
          <p:nvPr/>
        </p:nvSpPr>
        <p:spPr>
          <a:xfrm>
            <a:off x="7440044" y="5318262"/>
            <a:ext cx="4044820" cy="1005840"/>
          </a:xfrm>
          <a:prstGeom prst="rect">
            <a:avLst/>
          </a:prstGeom>
          <a:noFill/>
          <a:ln/>
        </p:spPr>
        <p:txBody>
          <a:bodyPr wrap="square" lIns="0" tIns="0" rIns="0" bIns="0" rtlCol="0" anchor="t"/>
          <a:lstStyle/>
          <a:p>
            <a:pPr marL="0" indent="0">
              <a:buNone/>
            </a:pPr>
            <a:r>
              <a:rPr lang="en-US" sz="2000" b="1" dirty="0">
                <a:solidFill>
                  <a:srgbClr val="D9D6EE"/>
                </a:solidFill>
                <a:latin typeface="Arial Black" panose="020B0A04020102020204" pitchFamily="34" charset="0"/>
                <a:ea typeface="Calibri" pitchFamily="34" charset="-122"/>
                <a:cs typeface="Calibri" pitchFamily="34" charset="-120"/>
              </a:rPr>
              <a:t>Bias</a:t>
            </a:r>
            <a:endParaRPr lang="en-US" sz="2150" dirty="0">
              <a:latin typeface="Arial Black" panose="020B0A04020102020204" pitchFamily="34" charset="0"/>
            </a:endParaRPr>
          </a:p>
          <a:p>
            <a:pPr marL="0" indent="0">
              <a:buNone/>
            </a:pPr>
            <a:r>
              <a:rPr lang="en-US" sz="2150" dirty="0">
                <a:solidFill>
                  <a:srgbClr val="FFFFFF"/>
                </a:solidFill>
                <a:latin typeface="Calibri" pitchFamily="34" charset="0"/>
                <a:ea typeface="Calibri" pitchFamily="34" charset="-122"/>
                <a:cs typeface="Calibri" pitchFamily="34" charset="-120"/>
              </a:rPr>
              <a:t>shifts the position of the boundary</a:t>
            </a:r>
            <a:endParaRPr lang="en-US" sz="2150" dirty="0"/>
          </a:p>
        </p:txBody>
      </p:sp>
      <p:sp>
        <p:nvSpPr>
          <p:cNvPr id="42" name="Text 39"/>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365760" y="411480"/>
            <a:ext cx="9144000" cy="868680"/>
          </a:xfrm>
          <a:prstGeom prst="rect">
            <a:avLst/>
          </a:prstGeom>
          <a:noFill/>
          <a:ln/>
        </p:spPr>
        <p:txBody>
          <a:bodyPr wrap="square" lIns="0" tIns="0" rIns="0" bIns="0" rtlCol="0" anchor="ctr"/>
          <a:lstStyle/>
          <a:p>
            <a:pPr marL="0" indent="0" algn="ctr">
              <a:buNone/>
            </a:pPr>
            <a:r>
              <a:rPr lang="en-US" sz="2800" dirty="0">
                <a:solidFill>
                  <a:srgbClr val="F2F2F8"/>
                </a:solidFill>
                <a:latin typeface="Impact" pitchFamily="34" charset="0"/>
                <a:ea typeface="Impact" pitchFamily="34" charset="-122"/>
                <a:cs typeface="Impact" pitchFamily="34" charset="-120"/>
              </a:rPr>
              <a:t>How weights and bias change the boundary</a:t>
            </a:r>
            <a:endParaRPr lang="en-US" sz="2800" dirty="0"/>
          </a:p>
        </p:txBody>
      </p:sp>
      <p:sp>
        <p:nvSpPr>
          <p:cNvPr id="17" name="Shape 15"/>
          <p:cNvSpPr/>
          <p:nvPr/>
        </p:nvSpPr>
        <p:spPr>
          <a:xfrm>
            <a:off x="640080" y="1417320"/>
            <a:ext cx="5394960" cy="5180250"/>
          </a:xfrm>
          <a:prstGeom prst="roundRect">
            <a:avLst>
              <a:gd name="adj" fmla="val 2202"/>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640080" y="1508760"/>
            <a:ext cx="5394960" cy="365760"/>
          </a:xfrm>
          <a:prstGeom prst="rect">
            <a:avLst/>
          </a:prstGeom>
          <a:noFill/>
          <a:ln/>
        </p:spPr>
        <p:txBody>
          <a:bodyPr wrap="square" lIns="0" tIns="0" rIns="0" bIns="0" rtlCol="0" anchor="t"/>
          <a:lstStyle/>
          <a:p>
            <a:pPr marL="0" indent="0" algn="ctr">
              <a:buNone/>
            </a:pPr>
            <a:r>
              <a:rPr lang="en-US" sz="2150" b="1" dirty="0">
                <a:solidFill>
                  <a:srgbClr val="F2F2F8"/>
                </a:solidFill>
                <a:latin typeface="Calibri" pitchFamily="34" charset="0"/>
                <a:ea typeface="Calibri" pitchFamily="34" charset="-122"/>
                <a:cs typeface="Calibri" pitchFamily="34" charset="-120"/>
              </a:rPr>
              <a:t>Bias change = parallel shift</a:t>
            </a:r>
            <a:endParaRPr lang="en-US" sz="2150" dirty="0"/>
          </a:p>
        </p:txBody>
      </p:sp>
      <p:sp>
        <p:nvSpPr>
          <p:cNvPr id="19" name="Shape 17"/>
          <p:cNvSpPr/>
          <p:nvPr/>
        </p:nvSpPr>
        <p:spPr>
          <a:xfrm>
            <a:off x="822960" y="1920240"/>
            <a:ext cx="5029200" cy="1874520"/>
          </a:xfrm>
          <a:prstGeom prst="roundRect">
            <a:avLst>
              <a:gd name="adj" fmla="val 5854"/>
            </a:avLst>
          </a:prstGeom>
          <a:solidFill>
            <a:srgbClr val="141829"/>
          </a:solidFill>
          <a:ln w="9525">
            <a:solidFill>
              <a:srgbClr val="141829"/>
            </a:solidFill>
            <a:prstDash val="solid"/>
          </a:ln>
        </p:spPr>
        <p:txBody>
          <a:bodyPr/>
          <a:lstStyle/>
          <a:p>
            <a:endParaRPr lang="en-IN"/>
          </a:p>
        </p:txBody>
      </p:sp>
      <p:sp>
        <p:nvSpPr>
          <p:cNvPr id="20" name="Shape 18"/>
          <p:cNvSpPr/>
          <p:nvPr/>
        </p:nvSpPr>
        <p:spPr>
          <a:xfrm>
            <a:off x="1074420" y="3569818"/>
            <a:ext cx="4576572" cy="0"/>
          </a:xfrm>
          <a:prstGeom prst="line">
            <a:avLst/>
          </a:prstGeom>
          <a:noFill/>
          <a:ln w="12700">
            <a:solidFill>
              <a:srgbClr val="6B76A6"/>
            </a:solidFill>
            <a:prstDash val="solid"/>
          </a:ln>
        </p:spPr>
        <p:txBody>
          <a:bodyPr/>
          <a:lstStyle/>
          <a:p>
            <a:endParaRPr lang="en-IN"/>
          </a:p>
        </p:txBody>
      </p:sp>
      <p:sp>
        <p:nvSpPr>
          <p:cNvPr id="21" name="Shape 19"/>
          <p:cNvSpPr/>
          <p:nvPr/>
        </p:nvSpPr>
        <p:spPr>
          <a:xfrm>
            <a:off x="1325880" y="2013966"/>
            <a:ext cx="0" cy="1687068"/>
          </a:xfrm>
          <a:prstGeom prst="line">
            <a:avLst/>
          </a:prstGeom>
          <a:noFill/>
          <a:ln w="12700">
            <a:solidFill>
              <a:srgbClr val="6B76A6"/>
            </a:solidFill>
            <a:prstDash val="solid"/>
          </a:ln>
        </p:spPr>
        <p:txBody>
          <a:bodyPr/>
          <a:lstStyle/>
          <a:p>
            <a:endParaRPr lang="en-IN"/>
          </a:p>
        </p:txBody>
      </p:sp>
      <p:sp>
        <p:nvSpPr>
          <p:cNvPr id="22" name="Text 20"/>
          <p:cNvSpPr txBox="1"/>
          <p:nvPr/>
        </p:nvSpPr>
        <p:spPr>
          <a:xfrm>
            <a:off x="5449824" y="3606394"/>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x₁</a:t>
            </a:r>
            <a:endParaRPr lang="en-US" sz="1450" dirty="0"/>
          </a:p>
        </p:txBody>
      </p:sp>
      <p:sp>
        <p:nvSpPr>
          <p:cNvPr id="23" name="Text 21"/>
          <p:cNvSpPr txBox="1"/>
          <p:nvPr/>
        </p:nvSpPr>
        <p:spPr>
          <a:xfrm>
            <a:off x="1399032" y="1995221"/>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x₂</a:t>
            </a:r>
            <a:endParaRPr lang="en-US" sz="1450" dirty="0"/>
          </a:p>
        </p:txBody>
      </p:sp>
      <p:sp>
        <p:nvSpPr>
          <p:cNvPr id="24" name="Shape 22"/>
          <p:cNvSpPr/>
          <p:nvPr/>
        </p:nvSpPr>
        <p:spPr>
          <a:xfrm>
            <a:off x="1627632" y="2482596"/>
            <a:ext cx="3922776" cy="712318"/>
          </a:xfrm>
          <a:prstGeom prst="line">
            <a:avLst/>
          </a:prstGeom>
          <a:noFill/>
          <a:ln w="22225">
            <a:solidFill>
              <a:srgbClr val="6B76A6"/>
            </a:solidFill>
            <a:prstDash val="solid"/>
          </a:ln>
        </p:spPr>
        <p:txBody>
          <a:bodyPr/>
          <a:lstStyle/>
          <a:p>
            <a:endParaRPr lang="en-IN"/>
          </a:p>
        </p:txBody>
      </p:sp>
      <p:sp>
        <p:nvSpPr>
          <p:cNvPr id="25" name="Shape 23"/>
          <p:cNvSpPr/>
          <p:nvPr/>
        </p:nvSpPr>
        <p:spPr>
          <a:xfrm>
            <a:off x="1627632" y="2857500"/>
            <a:ext cx="3922776" cy="712318"/>
          </a:xfrm>
          <a:prstGeom prst="line">
            <a:avLst/>
          </a:prstGeom>
          <a:noFill/>
          <a:ln w="22225">
            <a:solidFill>
              <a:srgbClr val="3B4366"/>
            </a:solidFill>
            <a:prstDash val="solid"/>
          </a:ln>
        </p:spPr>
        <p:txBody>
          <a:bodyPr/>
          <a:lstStyle/>
          <a:p>
            <a:endParaRPr lang="en-IN"/>
          </a:p>
        </p:txBody>
      </p:sp>
      <p:sp>
        <p:nvSpPr>
          <p:cNvPr id="26" name="Text 24"/>
          <p:cNvSpPr txBox="1"/>
          <p:nvPr/>
        </p:nvSpPr>
        <p:spPr>
          <a:xfrm>
            <a:off x="822960" y="3822192"/>
            <a:ext cx="5029200" cy="274320"/>
          </a:xfrm>
          <a:prstGeom prst="rect">
            <a:avLst/>
          </a:prstGeom>
          <a:noFill/>
          <a:ln/>
        </p:spPr>
        <p:txBody>
          <a:bodyPr wrap="square" lIns="0" tIns="0" rIns="0" bIns="0" rtlCol="0" anchor="t"/>
          <a:lstStyle/>
          <a:p>
            <a:pPr marL="0" indent="0" algn="ctr">
              <a:buNone/>
            </a:pPr>
            <a:r>
              <a:rPr lang="en-US" sz="1450" dirty="0">
                <a:solidFill>
                  <a:srgbClr val="A9AFC8"/>
                </a:solidFill>
                <a:latin typeface="Calibri" pitchFamily="34" charset="0"/>
                <a:ea typeface="Calibri" pitchFamily="34" charset="-122"/>
                <a:cs typeface="Calibri" pitchFamily="34" charset="-120"/>
              </a:rPr>
              <a:t>same slope, different b</a:t>
            </a:r>
            <a:endParaRPr lang="en-US" sz="1450" dirty="0"/>
          </a:p>
        </p:txBody>
      </p:sp>
      <p:sp>
        <p:nvSpPr>
          <p:cNvPr id="27" name="Text 25"/>
          <p:cNvSpPr txBox="1"/>
          <p:nvPr/>
        </p:nvSpPr>
        <p:spPr>
          <a:xfrm>
            <a:off x="914400" y="4160520"/>
            <a:ext cx="4846320" cy="2194560"/>
          </a:xfrm>
          <a:prstGeom prst="rect">
            <a:avLst/>
          </a:prstGeom>
          <a:noFill/>
          <a:ln/>
        </p:spPr>
        <p:txBody>
          <a:bodyPr wrap="square" lIns="0" tIns="0" rIns="0" bIns="0" rtlCol="0" anchor="t"/>
          <a:lstStyle/>
          <a:p>
            <a:pPr marL="0" indent="0">
              <a:spcAft>
                <a:spcPts val="300"/>
              </a:spcAft>
              <a:buNone/>
            </a:pPr>
            <a:r>
              <a:rPr lang="en-US" sz="2000" dirty="0">
                <a:solidFill>
                  <a:srgbClr val="9DB4FF"/>
                </a:solidFill>
                <a:latin typeface="Impact" pitchFamily="34" charset="0"/>
                <a:ea typeface="Impact" pitchFamily="34" charset="-122"/>
                <a:cs typeface="Impact" pitchFamily="34" charset="-120"/>
              </a:rPr>
              <a:t>Translation (Shifting Bias)</a:t>
            </a:r>
            <a:endParaRPr lang="en-US" sz="1450" dirty="0"/>
          </a:p>
          <a:p>
            <a:pPr>
              <a:spcAft>
                <a:spcPts val="300"/>
              </a:spcAft>
            </a:pPr>
            <a:r>
              <a:rPr lang="en-US" sz="1450" b="1" dirty="0">
                <a:solidFill>
                  <a:srgbClr val="9DB4FF"/>
                </a:solidFill>
                <a:latin typeface="Calibri" pitchFamily="34" charset="0"/>
                <a:ea typeface="Calibri" pitchFamily="34" charset="-122"/>
                <a:cs typeface="Calibri" pitchFamily="34" charset="-120"/>
              </a:rPr>
              <a:t>Mathematical Action: </a:t>
            </a:r>
            <a:r>
              <a:rPr lang="en-US" sz="1450" dirty="0">
                <a:solidFill>
                  <a:srgbClr val="F2F2F8"/>
                </a:solidFill>
                <a:latin typeface="Calibri" pitchFamily="34" charset="0"/>
                <a:ea typeface="Calibri" pitchFamily="34" charset="-122"/>
                <a:cs typeface="Calibri" pitchFamily="34" charset="-120"/>
              </a:rPr>
              <a:t>Updating bias term </a:t>
            </a:r>
            <a:r>
              <a:rPr lang="cy-GB" sz="1600" b="1" dirty="0">
                <a:solidFill>
                  <a:srgbClr val="F2F2F8"/>
                </a:solidFill>
                <a:latin typeface="Calibri" pitchFamily="34" charset="0"/>
                <a:ea typeface="Calibri" pitchFamily="34" charset="-122"/>
                <a:cs typeface="Calibri" pitchFamily="34" charset="-120"/>
              </a:rPr>
              <a:t>b</a:t>
            </a:r>
            <a:r>
              <a:rPr lang="cy-GB" sz="1600" baseline="-25000" dirty="0">
                <a:solidFill>
                  <a:srgbClr val="F2F2F8"/>
                </a:solidFill>
                <a:latin typeface="Calibri" pitchFamily="34" charset="0"/>
                <a:ea typeface="Calibri" pitchFamily="34" charset="-122"/>
                <a:cs typeface="Calibri" pitchFamily="34" charset="-120"/>
              </a:rPr>
              <a:t>new</a:t>
            </a:r>
            <a:r>
              <a:rPr lang="cy-GB" sz="1600" dirty="0">
                <a:solidFill>
                  <a:srgbClr val="F2F2F8"/>
                </a:solidFill>
                <a:latin typeface="Calibri" pitchFamily="34" charset="0"/>
                <a:ea typeface="Calibri" pitchFamily="34" charset="-122"/>
                <a:cs typeface="Calibri" pitchFamily="34" charset="-120"/>
              </a:rPr>
              <a:t> = b</a:t>
            </a:r>
            <a:r>
              <a:rPr lang="cy-GB" sz="1600" baseline="-25000" dirty="0">
                <a:solidFill>
                  <a:srgbClr val="F2F2F8"/>
                </a:solidFill>
                <a:latin typeface="Calibri" pitchFamily="34" charset="0"/>
                <a:ea typeface="Calibri" pitchFamily="34" charset="-122"/>
                <a:cs typeface="Calibri" pitchFamily="34" charset="-120"/>
              </a:rPr>
              <a:t>old </a:t>
            </a:r>
            <a:r>
              <a:rPr lang="cy-GB" sz="1600" dirty="0">
                <a:solidFill>
                  <a:srgbClr val="F2F2F8"/>
                </a:solidFill>
                <a:latin typeface="Calibri" pitchFamily="34" charset="0"/>
                <a:ea typeface="Calibri" pitchFamily="34" charset="-122"/>
                <a:cs typeface="Calibri" pitchFamily="34" charset="-120"/>
              </a:rPr>
              <a:t>+ </a:t>
            </a:r>
            <a:r>
              <a:rPr lang="el-GR" sz="1600" dirty="0">
                <a:solidFill>
                  <a:srgbClr val="F2F2F8"/>
                </a:solidFill>
                <a:latin typeface="Calibri" pitchFamily="34" charset="0"/>
                <a:ea typeface="Calibri" pitchFamily="34" charset="-122"/>
                <a:cs typeface="Calibri" pitchFamily="34" charset="-120"/>
              </a:rPr>
              <a:t>η × (</a:t>
            </a:r>
            <a:r>
              <a:rPr lang="cy-GB" sz="1600" dirty="0">
                <a:solidFill>
                  <a:srgbClr val="F2F2F8"/>
                </a:solidFill>
                <a:latin typeface="Calibri" pitchFamily="34" charset="0"/>
                <a:ea typeface="Calibri" pitchFamily="34" charset="-122"/>
                <a:cs typeface="Calibri" pitchFamily="34" charset="-120"/>
              </a:rPr>
              <a:t>yᵢ − ŷᵢ) </a:t>
            </a:r>
            <a:endParaRPr lang="en-US" sz="1450" dirty="0">
              <a:solidFill>
                <a:srgbClr val="F2F2F8"/>
              </a:solidFill>
              <a:latin typeface="Calibri" pitchFamily="34" charset="0"/>
              <a:ea typeface="Calibri" pitchFamily="34" charset="-122"/>
              <a:cs typeface="Calibri" pitchFamily="34" charset="-120"/>
            </a:endParaRPr>
          </a:p>
          <a:p>
            <a:pPr marL="0" indent="0">
              <a:spcAft>
                <a:spcPts val="300"/>
              </a:spcAft>
              <a:buNone/>
            </a:pPr>
            <a:r>
              <a:rPr lang="en-US" sz="1450" b="1" dirty="0">
                <a:solidFill>
                  <a:srgbClr val="9DB4FF"/>
                </a:solidFill>
                <a:latin typeface="Calibri" pitchFamily="34" charset="0"/>
                <a:ea typeface="Calibri" pitchFamily="34" charset="-122"/>
                <a:cs typeface="Calibri" pitchFamily="34" charset="-120"/>
              </a:rPr>
              <a:t>Geometric Effect: </a:t>
            </a:r>
            <a:r>
              <a:rPr lang="en-US" sz="1450" dirty="0">
                <a:solidFill>
                  <a:srgbClr val="F2F2F8"/>
                </a:solidFill>
                <a:latin typeface="Calibri" pitchFamily="34" charset="0"/>
                <a:ea typeface="Calibri" pitchFamily="34" charset="-122"/>
                <a:cs typeface="Calibri" pitchFamily="34" charset="-120"/>
              </a:rPr>
              <a:t>Translates decision line parallelly across feature space.</a:t>
            </a:r>
            <a:endParaRPr lang="en-US" sz="1450" dirty="0"/>
          </a:p>
          <a:p>
            <a:pPr marL="0" indent="0">
              <a:spcAft>
                <a:spcPts val="300"/>
              </a:spcAft>
              <a:buNone/>
            </a:pPr>
            <a:r>
              <a:rPr lang="en-US" sz="1450" b="1" dirty="0">
                <a:solidFill>
                  <a:srgbClr val="9DB4FF"/>
                </a:solidFill>
                <a:latin typeface="Calibri" pitchFamily="34" charset="0"/>
                <a:ea typeface="Calibri" pitchFamily="34" charset="-122"/>
                <a:cs typeface="Calibri" pitchFamily="34" charset="-120"/>
              </a:rPr>
              <a:t>Slope Impact: </a:t>
            </a:r>
            <a:r>
              <a:rPr lang="en-US" sz="1450" dirty="0">
                <a:solidFill>
                  <a:srgbClr val="F2F2F8"/>
                </a:solidFill>
                <a:latin typeface="Calibri" pitchFamily="34" charset="0"/>
                <a:ea typeface="Calibri" pitchFamily="34" charset="-122"/>
                <a:cs typeface="Calibri" pitchFamily="34" charset="-120"/>
              </a:rPr>
              <a:t>Line slope m = -w</a:t>
            </a:r>
            <a:r>
              <a:rPr lang="en-US" sz="1450" baseline="-25000" dirty="0">
                <a:solidFill>
                  <a:srgbClr val="F2F2F8"/>
                </a:solidFill>
                <a:latin typeface="Calibri" pitchFamily="34" charset="0"/>
                <a:ea typeface="Calibri" pitchFamily="34" charset="-122"/>
                <a:cs typeface="Calibri" pitchFamily="34" charset="-120"/>
              </a:rPr>
              <a:t>1</a:t>
            </a:r>
            <a:r>
              <a:rPr lang="en-US" sz="1450" dirty="0">
                <a:solidFill>
                  <a:srgbClr val="F2F2F8"/>
                </a:solidFill>
                <a:latin typeface="Calibri" pitchFamily="34" charset="0"/>
                <a:ea typeface="Calibri" pitchFamily="34" charset="-122"/>
                <a:cs typeface="Calibri" pitchFamily="34" charset="-120"/>
              </a:rPr>
              <a:t>/w</a:t>
            </a:r>
            <a:r>
              <a:rPr lang="en-US" sz="1450" baseline="-25000" dirty="0">
                <a:solidFill>
                  <a:srgbClr val="F2F2F8"/>
                </a:solidFill>
                <a:latin typeface="Calibri" pitchFamily="34" charset="0"/>
                <a:ea typeface="Calibri" pitchFamily="34" charset="-122"/>
                <a:cs typeface="Calibri" pitchFamily="34" charset="-120"/>
              </a:rPr>
              <a:t>2 </a:t>
            </a:r>
            <a:r>
              <a:rPr lang="en-US" sz="1450" dirty="0">
                <a:solidFill>
                  <a:srgbClr val="F2F2F8"/>
                </a:solidFill>
                <a:latin typeface="Calibri" pitchFamily="34" charset="0"/>
                <a:ea typeface="Calibri" pitchFamily="34" charset="-122"/>
                <a:cs typeface="Calibri" pitchFamily="34" charset="-120"/>
              </a:rPr>
              <a:t>remains completely unchanged.</a:t>
            </a:r>
            <a:endParaRPr lang="en-US" sz="1450" dirty="0"/>
          </a:p>
          <a:p>
            <a:pPr marL="0" indent="0">
              <a:spcAft>
                <a:spcPts val="300"/>
              </a:spcAft>
              <a:buNone/>
            </a:pPr>
            <a:r>
              <a:rPr lang="en-US" sz="1450" b="1" dirty="0">
                <a:solidFill>
                  <a:srgbClr val="9DB4FF"/>
                </a:solidFill>
                <a:latin typeface="Calibri" pitchFamily="34" charset="0"/>
                <a:ea typeface="Calibri" pitchFamily="34" charset="-122"/>
                <a:cs typeface="Calibri" pitchFamily="34" charset="-120"/>
              </a:rPr>
              <a:t>Purpose: </a:t>
            </a:r>
            <a:r>
              <a:rPr lang="en-US" sz="1450" dirty="0">
                <a:solidFill>
                  <a:srgbClr val="F2F2F8"/>
                </a:solidFill>
                <a:latin typeface="Calibri" pitchFamily="34" charset="0"/>
                <a:ea typeface="Calibri" pitchFamily="34" charset="-122"/>
                <a:cs typeface="Calibri" pitchFamily="34" charset="-120"/>
              </a:rPr>
              <a:t>Shifts line closer or further from origin to encompass offset data clusters.</a:t>
            </a:r>
            <a:endParaRPr lang="en-US" sz="1450" dirty="0"/>
          </a:p>
        </p:txBody>
      </p:sp>
      <p:sp>
        <p:nvSpPr>
          <p:cNvPr id="28" name="Shape 26"/>
          <p:cNvSpPr/>
          <p:nvPr/>
        </p:nvSpPr>
        <p:spPr>
          <a:xfrm>
            <a:off x="6217920" y="1417320"/>
            <a:ext cx="5394960" cy="5180250"/>
          </a:xfrm>
          <a:prstGeom prst="roundRect">
            <a:avLst>
              <a:gd name="adj" fmla="val 2202"/>
            </a:avLst>
          </a:prstGeom>
          <a:solidFill>
            <a:srgbClr val="1C2036"/>
          </a:solidFill>
          <a:ln w="9525">
            <a:solidFill>
              <a:srgbClr val="343A58"/>
            </a:solidFill>
            <a:prstDash val="solid"/>
          </a:ln>
        </p:spPr>
        <p:txBody>
          <a:bodyPr/>
          <a:lstStyle/>
          <a:p>
            <a:endParaRPr lang="en-IN"/>
          </a:p>
        </p:txBody>
      </p:sp>
      <p:sp>
        <p:nvSpPr>
          <p:cNvPr id="29" name="Text 27"/>
          <p:cNvSpPr txBox="1"/>
          <p:nvPr/>
        </p:nvSpPr>
        <p:spPr>
          <a:xfrm>
            <a:off x="6217920" y="1508760"/>
            <a:ext cx="5394960" cy="365760"/>
          </a:xfrm>
          <a:prstGeom prst="rect">
            <a:avLst/>
          </a:prstGeom>
          <a:noFill/>
          <a:ln/>
        </p:spPr>
        <p:txBody>
          <a:bodyPr wrap="square" lIns="0" tIns="0" rIns="0" bIns="0" rtlCol="0" anchor="t"/>
          <a:lstStyle/>
          <a:p>
            <a:pPr marL="0" indent="0" algn="ctr">
              <a:buNone/>
            </a:pPr>
            <a:r>
              <a:rPr lang="en-US" sz="2150" b="1" dirty="0">
                <a:solidFill>
                  <a:srgbClr val="F2F2F8"/>
                </a:solidFill>
                <a:latin typeface="Calibri" pitchFamily="34" charset="0"/>
                <a:ea typeface="Calibri" pitchFamily="34" charset="-122"/>
                <a:cs typeface="Calibri" pitchFamily="34" charset="-120"/>
              </a:rPr>
              <a:t>Weight change = rotation</a:t>
            </a:r>
            <a:endParaRPr lang="en-US" sz="2150" dirty="0"/>
          </a:p>
        </p:txBody>
      </p:sp>
      <p:sp>
        <p:nvSpPr>
          <p:cNvPr id="30" name="Shape 28"/>
          <p:cNvSpPr/>
          <p:nvPr/>
        </p:nvSpPr>
        <p:spPr>
          <a:xfrm>
            <a:off x="6400800" y="1920240"/>
            <a:ext cx="5029200" cy="1874520"/>
          </a:xfrm>
          <a:prstGeom prst="roundRect">
            <a:avLst>
              <a:gd name="adj" fmla="val 5854"/>
            </a:avLst>
          </a:prstGeom>
          <a:solidFill>
            <a:srgbClr val="141829"/>
          </a:solidFill>
          <a:ln w="9525">
            <a:solidFill>
              <a:srgbClr val="141829"/>
            </a:solidFill>
            <a:prstDash val="solid"/>
          </a:ln>
        </p:spPr>
        <p:txBody>
          <a:bodyPr/>
          <a:lstStyle/>
          <a:p>
            <a:endParaRPr lang="en-IN"/>
          </a:p>
        </p:txBody>
      </p:sp>
      <p:sp>
        <p:nvSpPr>
          <p:cNvPr id="31" name="Shape 29"/>
          <p:cNvSpPr/>
          <p:nvPr/>
        </p:nvSpPr>
        <p:spPr>
          <a:xfrm>
            <a:off x="6652260" y="3569818"/>
            <a:ext cx="4576572" cy="0"/>
          </a:xfrm>
          <a:prstGeom prst="line">
            <a:avLst/>
          </a:prstGeom>
          <a:noFill/>
          <a:ln w="12700">
            <a:solidFill>
              <a:srgbClr val="6B76A6"/>
            </a:solidFill>
            <a:prstDash val="solid"/>
          </a:ln>
        </p:spPr>
        <p:txBody>
          <a:bodyPr/>
          <a:lstStyle/>
          <a:p>
            <a:endParaRPr lang="en-IN"/>
          </a:p>
        </p:txBody>
      </p:sp>
      <p:sp>
        <p:nvSpPr>
          <p:cNvPr id="32" name="Shape 30"/>
          <p:cNvSpPr/>
          <p:nvPr/>
        </p:nvSpPr>
        <p:spPr>
          <a:xfrm>
            <a:off x="6903720" y="2013966"/>
            <a:ext cx="0" cy="1687068"/>
          </a:xfrm>
          <a:prstGeom prst="line">
            <a:avLst/>
          </a:prstGeom>
          <a:noFill/>
          <a:ln w="12700">
            <a:solidFill>
              <a:srgbClr val="6B76A6"/>
            </a:solidFill>
            <a:prstDash val="solid"/>
          </a:ln>
        </p:spPr>
        <p:txBody>
          <a:bodyPr/>
          <a:lstStyle/>
          <a:p>
            <a:endParaRPr lang="en-IN"/>
          </a:p>
        </p:txBody>
      </p:sp>
      <p:sp>
        <p:nvSpPr>
          <p:cNvPr id="33" name="Text 31"/>
          <p:cNvSpPr txBox="1"/>
          <p:nvPr/>
        </p:nvSpPr>
        <p:spPr>
          <a:xfrm>
            <a:off x="11027664" y="3606394"/>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x₁</a:t>
            </a:r>
            <a:endParaRPr lang="en-US" sz="1450" dirty="0"/>
          </a:p>
        </p:txBody>
      </p:sp>
      <p:sp>
        <p:nvSpPr>
          <p:cNvPr id="34" name="Text 32"/>
          <p:cNvSpPr txBox="1"/>
          <p:nvPr/>
        </p:nvSpPr>
        <p:spPr>
          <a:xfrm>
            <a:off x="6976872" y="1995221"/>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x₂</a:t>
            </a:r>
            <a:endParaRPr lang="en-US" sz="1450" dirty="0"/>
          </a:p>
        </p:txBody>
      </p:sp>
      <p:sp>
        <p:nvSpPr>
          <p:cNvPr id="35" name="Shape 33"/>
          <p:cNvSpPr/>
          <p:nvPr/>
        </p:nvSpPr>
        <p:spPr>
          <a:xfrm>
            <a:off x="7205472" y="2445106"/>
            <a:ext cx="3922776" cy="899770"/>
          </a:xfrm>
          <a:prstGeom prst="line">
            <a:avLst/>
          </a:prstGeom>
          <a:noFill/>
          <a:ln w="22225">
            <a:solidFill>
              <a:srgbClr val="6B76A6"/>
            </a:solidFill>
            <a:prstDash val="solid"/>
          </a:ln>
        </p:spPr>
        <p:txBody>
          <a:bodyPr/>
          <a:lstStyle/>
          <a:p>
            <a:endParaRPr lang="en-IN"/>
          </a:p>
        </p:txBody>
      </p:sp>
      <p:sp>
        <p:nvSpPr>
          <p:cNvPr id="36" name="Shape 34"/>
          <p:cNvSpPr/>
          <p:nvPr/>
        </p:nvSpPr>
        <p:spPr>
          <a:xfrm flipV="1">
            <a:off x="7205472" y="2670048"/>
            <a:ext cx="3922776" cy="749808"/>
          </a:xfrm>
          <a:prstGeom prst="line">
            <a:avLst/>
          </a:prstGeom>
          <a:noFill/>
          <a:ln w="22225">
            <a:solidFill>
              <a:srgbClr val="3B4366"/>
            </a:solidFill>
            <a:prstDash val="solid"/>
          </a:ln>
        </p:spPr>
        <p:txBody>
          <a:bodyPr/>
          <a:lstStyle/>
          <a:p>
            <a:endParaRPr lang="en-IN"/>
          </a:p>
        </p:txBody>
      </p:sp>
      <p:sp>
        <p:nvSpPr>
          <p:cNvPr id="37" name="Text 35"/>
          <p:cNvSpPr txBox="1"/>
          <p:nvPr/>
        </p:nvSpPr>
        <p:spPr>
          <a:xfrm>
            <a:off x="6400800" y="3822192"/>
            <a:ext cx="5029200" cy="274320"/>
          </a:xfrm>
          <a:prstGeom prst="rect">
            <a:avLst/>
          </a:prstGeom>
          <a:noFill/>
          <a:ln/>
        </p:spPr>
        <p:txBody>
          <a:bodyPr wrap="square" lIns="0" tIns="0" rIns="0" bIns="0" rtlCol="0" anchor="t"/>
          <a:lstStyle/>
          <a:p>
            <a:pPr marL="0" indent="0" algn="ctr">
              <a:buNone/>
            </a:pPr>
            <a:r>
              <a:rPr lang="en-US" sz="1450" dirty="0">
                <a:solidFill>
                  <a:srgbClr val="A9AFC8"/>
                </a:solidFill>
                <a:latin typeface="Calibri" pitchFamily="34" charset="0"/>
                <a:ea typeface="Calibri" pitchFamily="34" charset="-122"/>
                <a:cs typeface="Calibri" pitchFamily="34" charset="-120"/>
              </a:rPr>
              <a:t>slope changes with w₁ / w₂</a:t>
            </a:r>
            <a:endParaRPr lang="en-US" sz="1450" dirty="0"/>
          </a:p>
        </p:txBody>
      </p:sp>
      <p:sp>
        <p:nvSpPr>
          <p:cNvPr id="38" name="Text 36"/>
          <p:cNvSpPr txBox="1"/>
          <p:nvPr/>
        </p:nvSpPr>
        <p:spPr>
          <a:xfrm>
            <a:off x="6492240" y="4160520"/>
            <a:ext cx="4846320" cy="2331720"/>
          </a:xfrm>
          <a:prstGeom prst="rect">
            <a:avLst/>
          </a:prstGeom>
          <a:noFill/>
          <a:ln/>
        </p:spPr>
        <p:txBody>
          <a:bodyPr wrap="square" lIns="0" tIns="0" rIns="0" bIns="0" rtlCol="0" anchor="t"/>
          <a:lstStyle/>
          <a:p>
            <a:pPr marL="0" indent="0">
              <a:spcAft>
                <a:spcPts val="300"/>
              </a:spcAft>
              <a:buNone/>
            </a:pPr>
            <a:r>
              <a:rPr lang="en-US" sz="2000" dirty="0">
                <a:solidFill>
                  <a:srgbClr val="5FD0A0"/>
                </a:solidFill>
                <a:latin typeface="Impact" pitchFamily="34" charset="0"/>
                <a:ea typeface="Impact" pitchFamily="34" charset="-122"/>
                <a:cs typeface="Impact" pitchFamily="34" charset="-120"/>
              </a:rPr>
              <a:t>Rotation (Modifying Weights)</a:t>
            </a:r>
            <a:endParaRPr lang="en-US" sz="1450" dirty="0"/>
          </a:p>
          <a:p>
            <a:pPr>
              <a:spcAft>
                <a:spcPts val="300"/>
              </a:spcAft>
            </a:pPr>
            <a:r>
              <a:rPr lang="en-US" sz="1450" b="1" dirty="0">
                <a:solidFill>
                  <a:srgbClr val="5FD0A0"/>
                </a:solidFill>
                <a:latin typeface="Calibri" pitchFamily="34" charset="0"/>
                <a:ea typeface="Calibri" pitchFamily="34" charset="-122"/>
                <a:cs typeface="Calibri" pitchFamily="34" charset="-120"/>
              </a:rPr>
              <a:t>Mathematical Action: </a:t>
            </a:r>
            <a:r>
              <a:rPr lang="en-US" sz="1450" dirty="0">
                <a:solidFill>
                  <a:srgbClr val="F2F2F8"/>
                </a:solidFill>
                <a:latin typeface="Calibri" pitchFamily="34" charset="0"/>
                <a:ea typeface="Calibri" pitchFamily="34" charset="-122"/>
                <a:cs typeface="Calibri" pitchFamily="34" charset="-120"/>
              </a:rPr>
              <a:t>Updating weight values </a:t>
            </a:r>
            <a:r>
              <a:rPr lang="cy-GB" sz="1600" b="1" dirty="0">
                <a:solidFill>
                  <a:srgbClr val="F2F2F8"/>
                </a:solidFill>
                <a:latin typeface="Calibri" pitchFamily="34" charset="0"/>
                <a:ea typeface="Calibri" pitchFamily="34" charset="-122"/>
                <a:cs typeface="Calibri" pitchFamily="34" charset="-120"/>
              </a:rPr>
              <a:t>w</a:t>
            </a:r>
            <a:r>
              <a:rPr lang="cy-GB" sz="1600" baseline="-25000" dirty="0">
                <a:solidFill>
                  <a:srgbClr val="F2F2F8"/>
                </a:solidFill>
                <a:latin typeface="Calibri" pitchFamily="34" charset="0"/>
                <a:ea typeface="Calibri" pitchFamily="34" charset="-122"/>
                <a:cs typeface="Calibri" pitchFamily="34" charset="-120"/>
              </a:rPr>
              <a:t>new</a:t>
            </a:r>
            <a:r>
              <a:rPr lang="cy-GB" sz="1600" dirty="0">
                <a:solidFill>
                  <a:srgbClr val="F2F2F8"/>
                </a:solidFill>
                <a:latin typeface="Calibri" pitchFamily="34" charset="0"/>
                <a:ea typeface="Calibri" pitchFamily="34" charset="-122"/>
                <a:cs typeface="Calibri" pitchFamily="34" charset="-120"/>
              </a:rPr>
              <a:t> = w</a:t>
            </a:r>
            <a:r>
              <a:rPr lang="cy-GB" sz="1600" baseline="-25000" dirty="0">
                <a:solidFill>
                  <a:srgbClr val="F2F2F8"/>
                </a:solidFill>
                <a:latin typeface="Calibri" pitchFamily="34" charset="0"/>
                <a:ea typeface="Calibri" pitchFamily="34" charset="-122"/>
                <a:cs typeface="Calibri" pitchFamily="34" charset="-120"/>
              </a:rPr>
              <a:t>old </a:t>
            </a:r>
            <a:r>
              <a:rPr lang="cy-GB" sz="1600" dirty="0">
                <a:solidFill>
                  <a:srgbClr val="F2F2F8"/>
                </a:solidFill>
                <a:latin typeface="Calibri" pitchFamily="34" charset="0"/>
                <a:ea typeface="Calibri" pitchFamily="34" charset="-122"/>
                <a:cs typeface="Calibri" pitchFamily="34" charset="-120"/>
              </a:rPr>
              <a:t>+ </a:t>
            </a:r>
            <a:r>
              <a:rPr lang="el-GR" sz="1600" dirty="0">
                <a:solidFill>
                  <a:srgbClr val="F2F2F8"/>
                </a:solidFill>
                <a:latin typeface="Calibri" pitchFamily="34" charset="0"/>
                <a:ea typeface="Calibri" pitchFamily="34" charset="-122"/>
                <a:cs typeface="Calibri" pitchFamily="34" charset="-120"/>
              </a:rPr>
              <a:t>η × (</a:t>
            </a:r>
            <a:r>
              <a:rPr lang="cy-GB" sz="1600" dirty="0">
                <a:solidFill>
                  <a:srgbClr val="F2F2F8"/>
                </a:solidFill>
                <a:latin typeface="Calibri" pitchFamily="34" charset="0"/>
                <a:ea typeface="Calibri" pitchFamily="34" charset="-122"/>
                <a:cs typeface="Calibri" pitchFamily="34" charset="-120"/>
              </a:rPr>
              <a:t>yᵢ − ŷᵢ) . xᵢ</a:t>
            </a:r>
            <a:endParaRPr lang="en-US" sz="1450" dirty="0"/>
          </a:p>
          <a:p>
            <a:pPr marL="0" indent="0">
              <a:spcAft>
                <a:spcPts val="300"/>
              </a:spcAft>
              <a:buNone/>
            </a:pPr>
            <a:r>
              <a:rPr lang="en-US" sz="1450" b="1" dirty="0">
                <a:solidFill>
                  <a:srgbClr val="5FD0A0"/>
                </a:solidFill>
                <a:latin typeface="Calibri" pitchFamily="34" charset="0"/>
                <a:ea typeface="Calibri" pitchFamily="34" charset="-122"/>
                <a:cs typeface="Calibri" pitchFamily="34" charset="-120"/>
              </a:rPr>
              <a:t>Geometric Effect: </a:t>
            </a:r>
            <a:r>
              <a:rPr lang="en-US" sz="1450" dirty="0">
                <a:solidFill>
                  <a:srgbClr val="F2F2F8"/>
                </a:solidFill>
                <a:latin typeface="Calibri" pitchFamily="34" charset="0"/>
                <a:ea typeface="Calibri" pitchFamily="34" charset="-122"/>
                <a:cs typeface="Calibri" pitchFamily="34" charset="-120"/>
              </a:rPr>
              <a:t>Rotates decision line by altering line orientation angle.</a:t>
            </a:r>
            <a:endParaRPr lang="en-US" sz="1450" dirty="0"/>
          </a:p>
          <a:p>
            <a:pPr>
              <a:spcAft>
                <a:spcPts val="300"/>
              </a:spcAft>
            </a:pPr>
            <a:r>
              <a:rPr lang="en-US" sz="1450" b="1" dirty="0">
                <a:solidFill>
                  <a:srgbClr val="5FD0A0"/>
                </a:solidFill>
                <a:latin typeface="Calibri" pitchFamily="34" charset="0"/>
                <a:ea typeface="Calibri" pitchFamily="34" charset="-122"/>
                <a:cs typeface="Calibri" pitchFamily="34" charset="-120"/>
              </a:rPr>
              <a:t>Slope Impact: </a:t>
            </a:r>
            <a:r>
              <a:rPr lang="en-US" sz="1450" dirty="0">
                <a:solidFill>
                  <a:srgbClr val="F2F2F8"/>
                </a:solidFill>
                <a:latin typeface="Calibri" pitchFamily="34" charset="0"/>
                <a:ea typeface="Calibri" pitchFamily="34" charset="-122"/>
                <a:cs typeface="Calibri" pitchFamily="34" charset="-120"/>
              </a:rPr>
              <a:t>Directly alters line slope m = -w</a:t>
            </a:r>
            <a:r>
              <a:rPr lang="en-US" sz="1450" baseline="-25000" dirty="0">
                <a:solidFill>
                  <a:srgbClr val="F2F2F8"/>
                </a:solidFill>
                <a:latin typeface="Calibri" pitchFamily="34" charset="0"/>
                <a:ea typeface="Calibri" pitchFamily="34" charset="-122"/>
                <a:cs typeface="Calibri" pitchFamily="34" charset="-120"/>
              </a:rPr>
              <a:t>1</a:t>
            </a:r>
            <a:r>
              <a:rPr lang="en-US" sz="1450" dirty="0">
                <a:solidFill>
                  <a:srgbClr val="F2F2F8"/>
                </a:solidFill>
                <a:latin typeface="Calibri" pitchFamily="34" charset="0"/>
                <a:ea typeface="Calibri" pitchFamily="34" charset="-122"/>
                <a:cs typeface="Calibri" pitchFamily="34" charset="-120"/>
              </a:rPr>
              <a:t>/w</a:t>
            </a:r>
            <a:r>
              <a:rPr lang="en-US" sz="1450" baseline="-25000" dirty="0">
                <a:solidFill>
                  <a:srgbClr val="F2F2F8"/>
                </a:solidFill>
                <a:latin typeface="Calibri" pitchFamily="34" charset="0"/>
                <a:ea typeface="Calibri" pitchFamily="34" charset="-122"/>
                <a:cs typeface="Calibri" pitchFamily="34" charset="-120"/>
              </a:rPr>
              <a:t>2 </a:t>
            </a:r>
          </a:p>
          <a:p>
            <a:pPr>
              <a:spcAft>
                <a:spcPts val="300"/>
              </a:spcAft>
            </a:pPr>
            <a:r>
              <a:rPr lang="en-US" sz="1450" b="1" dirty="0">
                <a:solidFill>
                  <a:srgbClr val="5FD0A0"/>
                </a:solidFill>
                <a:latin typeface="Calibri" pitchFamily="34" charset="0"/>
                <a:ea typeface="Calibri" pitchFamily="34" charset="-122"/>
                <a:cs typeface="Calibri" pitchFamily="34" charset="-120"/>
              </a:rPr>
              <a:t>Purpose: </a:t>
            </a:r>
            <a:r>
              <a:rPr lang="en-US" sz="1450" dirty="0">
                <a:solidFill>
                  <a:srgbClr val="F2F2F8"/>
                </a:solidFill>
                <a:latin typeface="Calibri" pitchFamily="34" charset="0"/>
                <a:ea typeface="Calibri" pitchFamily="34" charset="-122"/>
                <a:cs typeface="Calibri" pitchFamily="34" charset="-120"/>
              </a:rPr>
              <a:t>Aligns boundary angle to match data distribution split direction.</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6" name="Text 14"/>
          <p:cNvSpPr txBox="1"/>
          <p:nvPr/>
        </p:nvSpPr>
        <p:spPr>
          <a:xfrm>
            <a:off x="1524000" y="388620"/>
            <a:ext cx="9144000" cy="868680"/>
          </a:xfrm>
          <a:prstGeom prst="rect">
            <a:avLst/>
          </a:prstGeom>
          <a:noFill/>
          <a:ln/>
        </p:spPr>
        <p:txBody>
          <a:bodyPr wrap="square" lIns="0" tIns="0" rIns="0" bIns="0" rtlCol="0" anchor="ctr"/>
          <a:lstStyle/>
          <a:p>
            <a:pPr marL="0" indent="0" algn="ctr">
              <a:buNone/>
            </a:pPr>
            <a:r>
              <a:rPr lang="en-US" sz="3000" dirty="0">
                <a:solidFill>
                  <a:srgbClr val="F2F2F8"/>
                </a:solidFill>
                <a:latin typeface="Impact" pitchFamily="34" charset="0"/>
                <a:ea typeface="Impact" pitchFamily="34" charset="-122"/>
                <a:cs typeface="Impact" pitchFamily="34" charset="-120"/>
              </a:rPr>
              <a:t>The Geometric Perceptron Trick: Pulling &amp; Pushing the Line</a:t>
            </a:r>
            <a:endParaRPr lang="en-US" sz="3000" dirty="0"/>
          </a:p>
        </p:txBody>
      </p:sp>
      <p:sp>
        <p:nvSpPr>
          <p:cNvPr id="18" name="Shape 16"/>
          <p:cNvSpPr/>
          <p:nvPr/>
        </p:nvSpPr>
        <p:spPr>
          <a:xfrm>
            <a:off x="731520" y="1508760"/>
            <a:ext cx="3474720" cy="4663440"/>
          </a:xfrm>
          <a:prstGeom prst="roundRect">
            <a:avLst>
              <a:gd name="adj" fmla="val 3158"/>
            </a:avLst>
          </a:prstGeom>
          <a:solidFill>
            <a:srgbClr val="1C2036"/>
          </a:solidFill>
          <a:ln w="9525">
            <a:solidFill>
              <a:srgbClr val="343A58"/>
            </a:solidFill>
            <a:prstDash val="solid"/>
          </a:ln>
        </p:spPr>
        <p:txBody>
          <a:bodyPr/>
          <a:lstStyle/>
          <a:p>
            <a:endParaRPr lang="en-IN"/>
          </a:p>
        </p:txBody>
      </p:sp>
      <p:sp>
        <p:nvSpPr>
          <p:cNvPr id="19" name="Text 17"/>
          <p:cNvSpPr txBox="1"/>
          <p:nvPr/>
        </p:nvSpPr>
        <p:spPr>
          <a:xfrm>
            <a:off x="914400" y="1645920"/>
            <a:ext cx="3108960" cy="822960"/>
          </a:xfrm>
          <a:prstGeom prst="rect">
            <a:avLst/>
          </a:prstGeom>
          <a:noFill/>
          <a:ln/>
        </p:spPr>
        <p:txBody>
          <a:bodyPr wrap="square" lIns="0" tIns="0" rIns="0" bIns="0" rtlCol="0" anchor="ctr"/>
          <a:lstStyle/>
          <a:p>
            <a:pPr marL="0" indent="0" algn="ctr">
              <a:buNone/>
            </a:pPr>
            <a:r>
              <a:rPr lang="en-US" sz="1900" dirty="0">
                <a:solidFill>
                  <a:srgbClr val="FF8A80"/>
                </a:solidFill>
                <a:latin typeface="Impact" pitchFamily="34" charset="0"/>
                <a:ea typeface="Impact" pitchFamily="34" charset="-122"/>
                <a:cs typeface="Arial" panose="020B0604020202020204" pitchFamily="34" charset="0"/>
              </a:rPr>
              <a:t>Case A: Positive Point Misclassified in Negative Region</a:t>
            </a:r>
            <a:endParaRPr lang="en-US" sz="1900" dirty="0"/>
          </a:p>
        </p:txBody>
      </p:sp>
      <p:sp>
        <p:nvSpPr>
          <p:cNvPr id="20" name="Text 18"/>
          <p:cNvSpPr txBox="1"/>
          <p:nvPr/>
        </p:nvSpPr>
        <p:spPr>
          <a:xfrm>
            <a:off x="960120" y="2651760"/>
            <a:ext cx="3017520" cy="3383280"/>
          </a:xfrm>
          <a:prstGeom prst="rect">
            <a:avLst/>
          </a:prstGeom>
          <a:noFill/>
          <a:ln/>
        </p:spPr>
        <p:txBody>
          <a:bodyPr wrap="square" lIns="0" tIns="0" rIns="0" bIns="0" rtlCol="0" anchor="t"/>
          <a:lstStyle/>
          <a:p>
            <a:pPr marL="0" indent="0">
              <a:spcAft>
                <a:spcPts val="1000"/>
              </a:spcAft>
              <a:buNone/>
            </a:pPr>
            <a:r>
              <a:rPr lang="en-US" sz="1800" b="1" dirty="0">
                <a:solidFill>
                  <a:srgbClr val="FF8A80"/>
                </a:solidFill>
                <a:latin typeface="Calibri" pitchFamily="34" charset="0"/>
                <a:ea typeface="Calibri" pitchFamily="34" charset="-122"/>
                <a:cs typeface="Calibri" pitchFamily="34" charset="-120"/>
              </a:rPr>
              <a:t>Situation: </a:t>
            </a:r>
            <a:r>
              <a:rPr lang="en-US" sz="1800" dirty="0">
                <a:solidFill>
                  <a:srgbClr val="F2F2F8"/>
                </a:solidFill>
                <a:latin typeface="Calibri" pitchFamily="34" charset="0"/>
                <a:ea typeface="Calibri" pitchFamily="34" charset="-122"/>
                <a:cs typeface="Calibri" pitchFamily="34" charset="-120"/>
              </a:rPr>
              <a:t>Actual class y</a:t>
            </a:r>
            <a:r>
              <a:rPr lang="en-US" sz="1800" baseline="-25000" dirty="0">
                <a:solidFill>
                  <a:srgbClr val="F2F2F8"/>
                </a:solidFill>
                <a:latin typeface="Calibri" pitchFamily="34" charset="0"/>
                <a:ea typeface="Calibri" pitchFamily="34" charset="-122"/>
                <a:cs typeface="Calibri" pitchFamily="34" charset="-120"/>
              </a:rPr>
              <a:t>i</a:t>
            </a:r>
            <a:r>
              <a:rPr lang="en-US" sz="1800" dirty="0">
                <a:solidFill>
                  <a:srgbClr val="F2F2F8"/>
                </a:solidFill>
                <a:latin typeface="Calibri" pitchFamily="34" charset="0"/>
                <a:ea typeface="Calibri" pitchFamily="34" charset="-122"/>
                <a:cs typeface="Calibri" pitchFamily="34" charset="-120"/>
              </a:rPr>
              <a:t> = +1, but model predicted ŷ</a:t>
            </a:r>
            <a:r>
              <a:rPr lang="en-US" sz="1800" baseline="-25000" dirty="0">
                <a:solidFill>
                  <a:srgbClr val="F2F2F8"/>
                </a:solidFill>
                <a:latin typeface="Calibri" pitchFamily="34" charset="0"/>
                <a:ea typeface="Calibri" pitchFamily="34" charset="-122"/>
                <a:cs typeface="Calibri" pitchFamily="34" charset="-120"/>
              </a:rPr>
              <a:t>i</a:t>
            </a:r>
            <a:r>
              <a:rPr lang="en-US" sz="1800" dirty="0">
                <a:solidFill>
                  <a:srgbClr val="F2F2F8"/>
                </a:solidFill>
                <a:latin typeface="Calibri" pitchFamily="34" charset="0"/>
                <a:ea typeface="Calibri" pitchFamily="34" charset="-122"/>
                <a:cs typeface="Calibri" pitchFamily="34" charset="-120"/>
              </a:rPr>
              <a:t> = 0 (z &lt; 0).</a:t>
            </a:r>
            <a:endParaRPr lang="en-US" sz="1800" dirty="0"/>
          </a:p>
          <a:p>
            <a:pPr marL="0" indent="0">
              <a:spcAft>
                <a:spcPts val="1000"/>
              </a:spcAft>
              <a:buNone/>
            </a:pPr>
            <a:r>
              <a:rPr lang="en-US" sz="1800" b="1" dirty="0">
                <a:solidFill>
                  <a:srgbClr val="FF8A80"/>
                </a:solidFill>
                <a:latin typeface="Calibri" pitchFamily="34" charset="0"/>
                <a:ea typeface="Calibri" pitchFamily="34" charset="-122"/>
                <a:cs typeface="Calibri" pitchFamily="34" charset="-120"/>
              </a:rPr>
              <a:t>Geometric Goal: </a:t>
            </a:r>
            <a:r>
              <a:rPr lang="en-US" sz="1800" dirty="0">
                <a:solidFill>
                  <a:srgbClr val="F2F2F8"/>
                </a:solidFill>
                <a:latin typeface="Calibri" pitchFamily="34" charset="0"/>
                <a:ea typeface="Calibri" pitchFamily="34" charset="-122"/>
                <a:cs typeface="Calibri" pitchFamily="34" charset="-120"/>
              </a:rPr>
              <a:t>Pull decision line TOWARD misclassified positive point.</a:t>
            </a:r>
            <a:endParaRPr lang="en-US" sz="1800" dirty="0"/>
          </a:p>
          <a:p>
            <a:pPr>
              <a:spcAft>
                <a:spcPts val="1000"/>
              </a:spcAft>
            </a:pPr>
            <a:r>
              <a:rPr lang="en-US" sz="1800" b="1" dirty="0">
                <a:solidFill>
                  <a:srgbClr val="FF8A80"/>
                </a:solidFill>
                <a:latin typeface="Calibri" pitchFamily="34" charset="0"/>
                <a:ea typeface="Calibri" pitchFamily="34" charset="-122"/>
                <a:cs typeface="Calibri" pitchFamily="34" charset="-120"/>
              </a:rPr>
              <a:t>Adjustment: </a:t>
            </a:r>
            <a:r>
              <a:rPr lang="en-US" sz="1800" dirty="0">
                <a:solidFill>
                  <a:srgbClr val="F2F2F8"/>
                </a:solidFill>
                <a:latin typeface="Calibri" pitchFamily="34" charset="0"/>
                <a:ea typeface="Calibri" pitchFamily="34" charset="-122"/>
                <a:cs typeface="Calibri" pitchFamily="34" charset="-120"/>
              </a:rPr>
              <a:t>Add point coordinates to weight vector (W</a:t>
            </a:r>
            <a:r>
              <a:rPr lang="en-US" sz="1800" baseline="-25000" dirty="0">
                <a:solidFill>
                  <a:srgbClr val="F2F2F8"/>
                </a:solidFill>
                <a:latin typeface="Calibri" pitchFamily="34" charset="0"/>
                <a:ea typeface="Calibri" pitchFamily="34" charset="-122"/>
                <a:cs typeface="Calibri" pitchFamily="34" charset="-120"/>
              </a:rPr>
              <a:t>new</a:t>
            </a:r>
            <a:r>
              <a:rPr lang="en-US" sz="1800" dirty="0">
                <a:solidFill>
                  <a:srgbClr val="F2F2F8"/>
                </a:solidFill>
                <a:latin typeface="Calibri" pitchFamily="34" charset="0"/>
                <a:ea typeface="Calibri" pitchFamily="34" charset="-122"/>
                <a:cs typeface="Calibri" pitchFamily="34" charset="-120"/>
              </a:rPr>
              <a:t> = </a:t>
            </a:r>
            <a:r>
              <a:rPr lang="en-US" dirty="0">
                <a:solidFill>
                  <a:srgbClr val="F2F2F8"/>
                </a:solidFill>
                <a:latin typeface="Calibri" pitchFamily="34" charset="0"/>
                <a:ea typeface="Calibri" pitchFamily="34" charset="-122"/>
                <a:cs typeface="Calibri" pitchFamily="34" charset="-120"/>
              </a:rPr>
              <a:t>W</a:t>
            </a:r>
            <a:r>
              <a:rPr lang="en-US" baseline="-25000" dirty="0">
                <a:solidFill>
                  <a:srgbClr val="F2F2F8"/>
                </a:solidFill>
                <a:latin typeface="Calibri" pitchFamily="34" charset="0"/>
                <a:ea typeface="Calibri" pitchFamily="34" charset="-122"/>
                <a:cs typeface="Calibri" pitchFamily="34" charset="-120"/>
              </a:rPr>
              <a:t>old</a:t>
            </a:r>
            <a:r>
              <a:rPr lang="en-US" dirty="0">
                <a:solidFill>
                  <a:srgbClr val="F2F2F8"/>
                </a:solidFill>
                <a:latin typeface="Calibri" pitchFamily="34" charset="0"/>
                <a:ea typeface="Calibri" pitchFamily="34" charset="-122"/>
                <a:cs typeface="Calibri" pitchFamily="34" charset="-120"/>
              </a:rPr>
              <a:t> </a:t>
            </a:r>
            <a:r>
              <a:rPr lang="en-US" sz="1800" dirty="0">
                <a:solidFill>
                  <a:srgbClr val="F2F2F8"/>
                </a:solidFill>
                <a:latin typeface="Calibri" pitchFamily="34" charset="0"/>
                <a:ea typeface="Calibri" pitchFamily="34" charset="-122"/>
                <a:cs typeface="Calibri" pitchFamily="34" charset="-120"/>
              </a:rPr>
              <a:t>+ X</a:t>
            </a:r>
            <a:r>
              <a:rPr lang="en-US" baseline="-25000" dirty="0">
                <a:solidFill>
                  <a:srgbClr val="F2F2F8"/>
                </a:solidFill>
                <a:latin typeface="Calibri" pitchFamily="34" charset="0"/>
                <a:ea typeface="Calibri" pitchFamily="34" charset="-122"/>
                <a:cs typeface="Calibri" pitchFamily="34" charset="-120"/>
              </a:rPr>
              <a:t>i</a:t>
            </a:r>
            <a:r>
              <a:rPr lang="en-US" sz="1800" dirty="0">
                <a:solidFill>
                  <a:srgbClr val="F2F2F8"/>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4370832" y="1508760"/>
            <a:ext cx="3474720" cy="4663440"/>
          </a:xfrm>
          <a:prstGeom prst="roundRect">
            <a:avLst>
              <a:gd name="adj" fmla="val 3158"/>
            </a:avLst>
          </a:prstGeom>
          <a:solidFill>
            <a:srgbClr val="1C2036"/>
          </a:solidFill>
          <a:ln w="9525">
            <a:solidFill>
              <a:srgbClr val="343A58"/>
            </a:solidFill>
            <a:prstDash val="solid"/>
          </a:ln>
        </p:spPr>
        <p:txBody>
          <a:bodyPr/>
          <a:lstStyle/>
          <a:p>
            <a:endParaRPr lang="en-IN"/>
          </a:p>
        </p:txBody>
      </p:sp>
      <p:sp>
        <p:nvSpPr>
          <p:cNvPr id="22" name="Text 20"/>
          <p:cNvSpPr txBox="1"/>
          <p:nvPr/>
        </p:nvSpPr>
        <p:spPr>
          <a:xfrm>
            <a:off x="4553712" y="1645920"/>
            <a:ext cx="3108960" cy="822960"/>
          </a:xfrm>
          <a:prstGeom prst="rect">
            <a:avLst/>
          </a:prstGeom>
          <a:noFill/>
          <a:ln/>
        </p:spPr>
        <p:txBody>
          <a:bodyPr wrap="square" lIns="0" tIns="0" rIns="0" bIns="0" rtlCol="0" anchor="ctr"/>
          <a:lstStyle/>
          <a:p>
            <a:pPr marL="0" indent="0" algn="ctr">
              <a:buNone/>
            </a:pPr>
            <a:r>
              <a:rPr lang="en-US" sz="1900" dirty="0">
                <a:solidFill>
                  <a:srgbClr val="F0B050"/>
                </a:solidFill>
                <a:latin typeface="Impact" pitchFamily="34" charset="0"/>
                <a:ea typeface="Impact" pitchFamily="34" charset="-122"/>
                <a:cs typeface="Impact" pitchFamily="34" charset="-120"/>
              </a:rPr>
              <a:t>Case B: Negative Point Misclassified in Positive Region</a:t>
            </a:r>
            <a:endParaRPr lang="en-US" sz="1900" dirty="0"/>
          </a:p>
        </p:txBody>
      </p:sp>
      <p:sp>
        <p:nvSpPr>
          <p:cNvPr id="23" name="Text 21"/>
          <p:cNvSpPr txBox="1"/>
          <p:nvPr/>
        </p:nvSpPr>
        <p:spPr>
          <a:xfrm>
            <a:off x="4599432" y="2651760"/>
            <a:ext cx="3017520" cy="3383280"/>
          </a:xfrm>
          <a:prstGeom prst="rect">
            <a:avLst/>
          </a:prstGeom>
          <a:noFill/>
          <a:ln/>
        </p:spPr>
        <p:txBody>
          <a:bodyPr wrap="square" lIns="0" tIns="0" rIns="0" bIns="0" rtlCol="0" anchor="t"/>
          <a:lstStyle/>
          <a:p>
            <a:pPr>
              <a:spcAft>
                <a:spcPts val="1000"/>
              </a:spcAft>
            </a:pPr>
            <a:r>
              <a:rPr lang="en-US" sz="1800" b="1" dirty="0">
                <a:solidFill>
                  <a:srgbClr val="F0B050"/>
                </a:solidFill>
                <a:latin typeface="Calibri" pitchFamily="34" charset="0"/>
                <a:ea typeface="Calibri" pitchFamily="34" charset="-122"/>
                <a:cs typeface="Calibri" pitchFamily="34" charset="-120"/>
              </a:rPr>
              <a:t>Situation: </a:t>
            </a:r>
            <a:r>
              <a:rPr lang="en-US" sz="1800" dirty="0">
                <a:solidFill>
                  <a:srgbClr val="F2F2F8"/>
                </a:solidFill>
                <a:latin typeface="Calibri" pitchFamily="34" charset="0"/>
                <a:ea typeface="Calibri" pitchFamily="34" charset="-122"/>
                <a:cs typeface="Calibri" pitchFamily="34" charset="-120"/>
              </a:rPr>
              <a:t>Actual class </a:t>
            </a:r>
            <a:r>
              <a:rPr lang="en-US" dirty="0">
                <a:solidFill>
                  <a:srgbClr val="F2F2F8"/>
                </a:solidFill>
                <a:latin typeface="Calibri" pitchFamily="34" charset="0"/>
                <a:ea typeface="Calibri" pitchFamily="34" charset="-122"/>
                <a:cs typeface="Calibri" pitchFamily="34" charset="-120"/>
              </a:rPr>
              <a:t>y</a:t>
            </a:r>
            <a:r>
              <a:rPr lang="en-US" baseline="-25000" dirty="0">
                <a:solidFill>
                  <a:srgbClr val="F2F2F8"/>
                </a:solidFill>
                <a:latin typeface="Calibri" pitchFamily="34" charset="0"/>
                <a:ea typeface="Calibri" pitchFamily="34" charset="-122"/>
                <a:cs typeface="Calibri" pitchFamily="34" charset="-120"/>
              </a:rPr>
              <a:t>i </a:t>
            </a:r>
            <a:r>
              <a:rPr lang="en-US" sz="1800" dirty="0">
                <a:solidFill>
                  <a:srgbClr val="F2F2F8"/>
                </a:solidFill>
                <a:latin typeface="Calibri" pitchFamily="34" charset="0"/>
                <a:ea typeface="Calibri" pitchFamily="34" charset="-122"/>
                <a:cs typeface="Calibri" pitchFamily="34" charset="-120"/>
              </a:rPr>
              <a:t>= 0, but model predicted </a:t>
            </a:r>
            <a:r>
              <a:rPr lang="en-US" dirty="0">
                <a:solidFill>
                  <a:srgbClr val="F2F2F8"/>
                </a:solidFill>
                <a:latin typeface="Calibri" pitchFamily="34" charset="0"/>
                <a:ea typeface="Calibri" pitchFamily="34" charset="-122"/>
                <a:cs typeface="Calibri" pitchFamily="34" charset="-120"/>
              </a:rPr>
              <a:t>ŷ</a:t>
            </a:r>
            <a:r>
              <a:rPr lang="en-US" baseline="-25000" dirty="0">
                <a:solidFill>
                  <a:srgbClr val="F2F2F8"/>
                </a:solidFill>
                <a:latin typeface="Calibri" pitchFamily="34" charset="0"/>
                <a:ea typeface="Calibri" pitchFamily="34" charset="-122"/>
                <a:cs typeface="Calibri" pitchFamily="34" charset="-120"/>
              </a:rPr>
              <a:t>i</a:t>
            </a:r>
            <a:r>
              <a:rPr lang="en-US" dirty="0">
                <a:solidFill>
                  <a:srgbClr val="F2F2F8"/>
                </a:solidFill>
                <a:latin typeface="Calibri" pitchFamily="34" charset="0"/>
                <a:ea typeface="Calibri" pitchFamily="34" charset="-122"/>
                <a:cs typeface="Calibri" pitchFamily="34" charset="-120"/>
              </a:rPr>
              <a:t> </a:t>
            </a:r>
            <a:r>
              <a:rPr lang="en-US" sz="1800" dirty="0">
                <a:solidFill>
                  <a:srgbClr val="F2F2F8"/>
                </a:solidFill>
                <a:latin typeface="Calibri" pitchFamily="34" charset="0"/>
                <a:ea typeface="Calibri" pitchFamily="34" charset="-122"/>
                <a:cs typeface="Calibri" pitchFamily="34" charset="-120"/>
              </a:rPr>
              <a:t>= 1 (z &gt; 0).</a:t>
            </a:r>
            <a:endParaRPr lang="en-US" sz="1800" dirty="0"/>
          </a:p>
          <a:p>
            <a:pPr marL="0" indent="0">
              <a:spcAft>
                <a:spcPts val="1000"/>
              </a:spcAft>
              <a:buNone/>
            </a:pPr>
            <a:r>
              <a:rPr lang="en-US" sz="1800" b="1" dirty="0">
                <a:solidFill>
                  <a:srgbClr val="F0B050"/>
                </a:solidFill>
                <a:latin typeface="Calibri" pitchFamily="34" charset="0"/>
                <a:ea typeface="Calibri" pitchFamily="34" charset="-122"/>
                <a:cs typeface="Calibri" pitchFamily="34" charset="-120"/>
              </a:rPr>
              <a:t>Geometric Goal: </a:t>
            </a:r>
            <a:r>
              <a:rPr lang="en-US" sz="1800" dirty="0">
                <a:solidFill>
                  <a:srgbClr val="F2F2F8"/>
                </a:solidFill>
                <a:latin typeface="Calibri" pitchFamily="34" charset="0"/>
                <a:ea typeface="Calibri" pitchFamily="34" charset="-122"/>
                <a:cs typeface="Calibri" pitchFamily="34" charset="-120"/>
              </a:rPr>
              <a:t>Push decision line AWAY from misclassified negative point.</a:t>
            </a:r>
            <a:endParaRPr lang="en-US" sz="1800" dirty="0"/>
          </a:p>
          <a:p>
            <a:pPr>
              <a:spcAft>
                <a:spcPts val="1000"/>
              </a:spcAft>
            </a:pPr>
            <a:r>
              <a:rPr lang="en-US" sz="1800" b="1" dirty="0">
                <a:solidFill>
                  <a:srgbClr val="F0B050"/>
                </a:solidFill>
                <a:latin typeface="Calibri" pitchFamily="34" charset="0"/>
                <a:ea typeface="Calibri" pitchFamily="34" charset="-122"/>
                <a:cs typeface="Calibri" pitchFamily="34" charset="-120"/>
              </a:rPr>
              <a:t>Adjustment: </a:t>
            </a:r>
            <a:r>
              <a:rPr lang="en-US" sz="1800" dirty="0">
                <a:solidFill>
                  <a:srgbClr val="F2F2F8"/>
                </a:solidFill>
                <a:latin typeface="Calibri" pitchFamily="34" charset="0"/>
                <a:ea typeface="Calibri" pitchFamily="34" charset="-122"/>
                <a:cs typeface="Calibri" pitchFamily="34" charset="-120"/>
              </a:rPr>
              <a:t>Subtract point coordinates from weight vector (</a:t>
            </a:r>
            <a:r>
              <a:rPr lang="en-US" dirty="0">
                <a:solidFill>
                  <a:srgbClr val="F2F2F8"/>
                </a:solidFill>
                <a:latin typeface="Calibri" pitchFamily="34" charset="0"/>
                <a:ea typeface="Calibri" pitchFamily="34" charset="-122"/>
                <a:cs typeface="Calibri" pitchFamily="34" charset="-120"/>
              </a:rPr>
              <a:t>W</a:t>
            </a:r>
            <a:r>
              <a:rPr lang="en-US" baseline="-25000" dirty="0">
                <a:solidFill>
                  <a:srgbClr val="F2F2F8"/>
                </a:solidFill>
                <a:latin typeface="Calibri" pitchFamily="34" charset="0"/>
                <a:ea typeface="Calibri" pitchFamily="34" charset="-122"/>
                <a:cs typeface="Calibri" pitchFamily="34" charset="-120"/>
              </a:rPr>
              <a:t>new</a:t>
            </a:r>
            <a:r>
              <a:rPr lang="en-US" dirty="0">
                <a:solidFill>
                  <a:srgbClr val="F2F2F8"/>
                </a:solidFill>
                <a:latin typeface="Calibri" pitchFamily="34" charset="0"/>
                <a:ea typeface="Calibri" pitchFamily="34" charset="-122"/>
                <a:cs typeface="Calibri" pitchFamily="34" charset="-120"/>
              </a:rPr>
              <a:t> </a:t>
            </a:r>
            <a:r>
              <a:rPr lang="en-US" sz="1800" dirty="0">
                <a:solidFill>
                  <a:srgbClr val="F2F2F8"/>
                </a:solidFill>
                <a:latin typeface="Calibri" pitchFamily="34" charset="0"/>
                <a:ea typeface="Calibri" pitchFamily="34" charset="-122"/>
                <a:cs typeface="Calibri" pitchFamily="34" charset="-120"/>
              </a:rPr>
              <a:t>= W</a:t>
            </a:r>
            <a:r>
              <a:rPr lang="en-US" sz="1800" baseline="-25000" dirty="0">
                <a:solidFill>
                  <a:srgbClr val="F2F2F8"/>
                </a:solidFill>
                <a:latin typeface="Calibri" pitchFamily="34" charset="0"/>
                <a:ea typeface="Calibri" pitchFamily="34" charset="-122"/>
                <a:cs typeface="Calibri" pitchFamily="34" charset="-120"/>
              </a:rPr>
              <a:t>old</a:t>
            </a:r>
            <a:r>
              <a:rPr lang="en-US" sz="1800" dirty="0">
                <a:solidFill>
                  <a:srgbClr val="F2F2F8"/>
                </a:solidFill>
                <a:latin typeface="Calibri" pitchFamily="34" charset="0"/>
                <a:ea typeface="Calibri" pitchFamily="34" charset="-122"/>
                <a:cs typeface="Calibri" pitchFamily="34" charset="-120"/>
              </a:rPr>
              <a:t> - X</a:t>
            </a:r>
            <a:r>
              <a:rPr lang="en-US" baseline="-25000" dirty="0">
                <a:solidFill>
                  <a:srgbClr val="F2F2F8"/>
                </a:solidFill>
                <a:latin typeface="Calibri" pitchFamily="34" charset="0"/>
                <a:ea typeface="Calibri" pitchFamily="34" charset="-122"/>
                <a:cs typeface="Calibri" pitchFamily="34" charset="-120"/>
              </a:rPr>
              <a:t>i</a:t>
            </a:r>
            <a:r>
              <a:rPr lang="en-US" sz="1800" dirty="0">
                <a:solidFill>
                  <a:srgbClr val="F2F2F8"/>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8010144" y="1508760"/>
            <a:ext cx="3474720" cy="4663440"/>
          </a:xfrm>
          <a:prstGeom prst="roundRect">
            <a:avLst>
              <a:gd name="adj" fmla="val 3158"/>
            </a:avLst>
          </a:prstGeom>
          <a:solidFill>
            <a:srgbClr val="1C2036"/>
          </a:solidFill>
          <a:ln w="9525">
            <a:solidFill>
              <a:srgbClr val="343A58"/>
            </a:solidFill>
            <a:prstDash val="solid"/>
          </a:ln>
        </p:spPr>
        <p:txBody>
          <a:bodyPr/>
          <a:lstStyle/>
          <a:p>
            <a:endParaRPr lang="en-IN"/>
          </a:p>
        </p:txBody>
      </p:sp>
      <p:sp>
        <p:nvSpPr>
          <p:cNvPr id="25" name="Text 23"/>
          <p:cNvSpPr txBox="1"/>
          <p:nvPr/>
        </p:nvSpPr>
        <p:spPr>
          <a:xfrm>
            <a:off x="8193024" y="1645920"/>
            <a:ext cx="3108960" cy="822960"/>
          </a:xfrm>
          <a:prstGeom prst="rect">
            <a:avLst/>
          </a:prstGeom>
          <a:noFill/>
          <a:ln/>
        </p:spPr>
        <p:txBody>
          <a:bodyPr wrap="square" lIns="0" tIns="0" rIns="0" bIns="0" rtlCol="0" anchor="ctr"/>
          <a:lstStyle/>
          <a:p>
            <a:pPr marL="0" indent="0" algn="ctr">
              <a:buNone/>
            </a:pPr>
            <a:r>
              <a:rPr lang="en-US" sz="1900" dirty="0">
                <a:solidFill>
                  <a:srgbClr val="5FD0A0"/>
                </a:solidFill>
                <a:latin typeface="Impact" pitchFamily="34" charset="0"/>
                <a:ea typeface="Impact" pitchFamily="34" charset="-122"/>
                <a:cs typeface="Impact" pitchFamily="34" charset="-120"/>
              </a:rPr>
              <a:t>Case C: Correctly Classified Point</a:t>
            </a:r>
            <a:endParaRPr lang="en-US" sz="1900" dirty="0"/>
          </a:p>
        </p:txBody>
      </p:sp>
      <p:sp>
        <p:nvSpPr>
          <p:cNvPr id="26" name="Text 24"/>
          <p:cNvSpPr txBox="1"/>
          <p:nvPr/>
        </p:nvSpPr>
        <p:spPr>
          <a:xfrm>
            <a:off x="8238744" y="2651760"/>
            <a:ext cx="3017520" cy="3383280"/>
          </a:xfrm>
          <a:prstGeom prst="rect">
            <a:avLst/>
          </a:prstGeom>
          <a:noFill/>
          <a:ln/>
        </p:spPr>
        <p:txBody>
          <a:bodyPr wrap="square" lIns="0" tIns="0" rIns="0" bIns="0" rtlCol="0" anchor="t"/>
          <a:lstStyle/>
          <a:p>
            <a:pPr>
              <a:spcAft>
                <a:spcPts val="1000"/>
              </a:spcAft>
            </a:pPr>
            <a:r>
              <a:rPr lang="en-US" sz="1800" b="1" dirty="0">
                <a:solidFill>
                  <a:srgbClr val="5FD0A0"/>
                </a:solidFill>
                <a:latin typeface="Calibri" pitchFamily="34" charset="0"/>
                <a:ea typeface="Calibri" pitchFamily="34" charset="-122"/>
                <a:cs typeface="Calibri" pitchFamily="34" charset="-120"/>
              </a:rPr>
              <a:t>Situation: </a:t>
            </a:r>
            <a:r>
              <a:rPr lang="en-US" sz="1800" dirty="0">
                <a:solidFill>
                  <a:srgbClr val="F2F2F8"/>
                </a:solidFill>
                <a:latin typeface="Calibri" pitchFamily="34" charset="0"/>
                <a:ea typeface="Calibri" pitchFamily="34" charset="-122"/>
                <a:cs typeface="Calibri" pitchFamily="34" charset="-120"/>
              </a:rPr>
              <a:t>Predicted label matches actual class label (</a:t>
            </a:r>
            <a:r>
              <a:rPr lang="en-US" dirty="0">
                <a:solidFill>
                  <a:srgbClr val="F2F2F8"/>
                </a:solidFill>
                <a:latin typeface="Calibri" pitchFamily="34" charset="0"/>
                <a:ea typeface="Calibri" pitchFamily="34" charset="-122"/>
                <a:cs typeface="Calibri" pitchFamily="34" charset="-120"/>
              </a:rPr>
              <a:t>ŷ</a:t>
            </a:r>
            <a:r>
              <a:rPr lang="en-US" baseline="-25000" dirty="0">
                <a:solidFill>
                  <a:srgbClr val="F2F2F8"/>
                </a:solidFill>
                <a:latin typeface="Calibri" pitchFamily="34" charset="0"/>
                <a:ea typeface="Calibri" pitchFamily="34" charset="-122"/>
                <a:cs typeface="Calibri" pitchFamily="34" charset="-120"/>
              </a:rPr>
              <a:t>i</a:t>
            </a:r>
            <a:r>
              <a:rPr lang="en-US" dirty="0">
                <a:solidFill>
                  <a:srgbClr val="F2F2F8"/>
                </a:solidFill>
                <a:latin typeface="Calibri" pitchFamily="34" charset="0"/>
                <a:ea typeface="Calibri" pitchFamily="34" charset="-122"/>
                <a:cs typeface="Calibri" pitchFamily="34" charset="-120"/>
              </a:rPr>
              <a:t> </a:t>
            </a:r>
            <a:r>
              <a:rPr lang="en-US" sz="1800" dirty="0">
                <a:solidFill>
                  <a:srgbClr val="F2F2F8"/>
                </a:solidFill>
                <a:latin typeface="Calibri" pitchFamily="34" charset="0"/>
                <a:ea typeface="Calibri" pitchFamily="34" charset="-122"/>
                <a:cs typeface="Calibri" pitchFamily="34" charset="-120"/>
              </a:rPr>
              <a:t>= </a:t>
            </a:r>
            <a:r>
              <a:rPr lang="en-US" dirty="0">
                <a:solidFill>
                  <a:srgbClr val="F2F2F8"/>
                </a:solidFill>
                <a:latin typeface="Calibri" pitchFamily="34" charset="0"/>
                <a:ea typeface="Calibri" pitchFamily="34" charset="-122"/>
                <a:cs typeface="Calibri" pitchFamily="34" charset="-120"/>
              </a:rPr>
              <a:t>y</a:t>
            </a:r>
            <a:r>
              <a:rPr lang="en-US" baseline="-25000" dirty="0">
                <a:solidFill>
                  <a:srgbClr val="F2F2F8"/>
                </a:solidFill>
                <a:latin typeface="Calibri" pitchFamily="34" charset="0"/>
                <a:ea typeface="Calibri" pitchFamily="34" charset="-122"/>
                <a:cs typeface="Calibri" pitchFamily="34" charset="-120"/>
              </a:rPr>
              <a:t>i</a:t>
            </a:r>
            <a:r>
              <a:rPr lang="en-US" sz="1800" dirty="0">
                <a:solidFill>
                  <a:srgbClr val="F2F2F8"/>
                </a:solidFill>
                <a:latin typeface="Calibri" pitchFamily="34" charset="0"/>
                <a:ea typeface="Calibri" pitchFamily="34" charset="-122"/>
                <a:cs typeface="Calibri" pitchFamily="34" charset="-120"/>
              </a:rPr>
              <a:t>).</a:t>
            </a:r>
            <a:endParaRPr lang="en-US" sz="1800" dirty="0"/>
          </a:p>
          <a:p>
            <a:pPr marL="0" indent="0">
              <a:spcAft>
                <a:spcPts val="1000"/>
              </a:spcAft>
              <a:buNone/>
            </a:pPr>
            <a:r>
              <a:rPr lang="en-US" sz="1800" b="1" dirty="0">
                <a:solidFill>
                  <a:srgbClr val="5FD0A0"/>
                </a:solidFill>
                <a:latin typeface="Calibri" pitchFamily="34" charset="0"/>
                <a:ea typeface="Calibri" pitchFamily="34" charset="-122"/>
                <a:cs typeface="Calibri" pitchFamily="34" charset="-120"/>
              </a:rPr>
              <a:t>Geometric Goal: </a:t>
            </a:r>
            <a:r>
              <a:rPr lang="en-US" sz="1800" dirty="0">
                <a:solidFill>
                  <a:srgbClr val="F2F2F8"/>
                </a:solidFill>
                <a:latin typeface="Calibri" pitchFamily="34" charset="0"/>
                <a:ea typeface="Calibri" pitchFamily="34" charset="-122"/>
                <a:cs typeface="Calibri" pitchFamily="34" charset="-120"/>
              </a:rPr>
              <a:t>Maintain current line position unchanged.</a:t>
            </a:r>
            <a:endParaRPr lang="en-US" sz="1800" dirty="0"/>
          </a:p>
          <a:p>
            <a:pPr>
              <a:spcAft>
                <a:spcPts val="1000"/>
              </a:spcAft>
            </a:pPr>
            <a:r>
              <a:rPr lang="en-US" sz="1800" b="1" dirty="0">
                <a:solidFill>
                  <a:srgbClr val="5FD0A0"/>
                </a:solidFill>
                <a:latin typeface="Calibri" pitchFamily="34" charset="0"/>
                <a:ea typeface="Calibri" pitchFamily="34" charset="-122"/>
                <a:cs typeface="Calibri" pitchFamily="34" charset="-120"/>
              </a:rPr>
              <a:t>Adjustment: </a:t>
            </a:r>
            <a:r>
              <a:rPr lang="en-US" sz="1800" dirty="0">
                <a:solidFill>
                  <a:srgbClr val="F2F2F8"/>
                </a:solidFill>
                <a:latin typeface="Calibri" pitchFamily="34" charset="0"/>
                <a:ea typeface="Calibri" pitchFamily="34" charset="-122"/>
                <a:cs typeface="Calibri" pitchFamily="34" charset="-120"/>
              </a:rPr>
              <a:t>Zero parameter update (</a:t>
            </a:r>
            <a:r>
              <a:rPr lang="en-US" dirty="0">
                <a:solidFill>
                  <a:srgbClr val="F2F2F8"/>
                </a:solidFill>
                <a:latin typeface="Calibri" pitchFamily="34" charset="0"/>
                <a:ea typeface="Calibri" pitchFamily="34" charset="-122"/>
                <a:cs typeface="Calibri" pitchFamily="34" charset="-120"/>
              </a:rPr>
              <a:t>W</a:t>
            </a:r>
            <a:r>
              <a:rPr lang="en-US" baseline="-25000" dirty="0">
                <a:solidFill>
                  <a:srgbClr val="F2F2F8"/>
                </a:solidFill>
                <a:latin typeface="Calibri" pitchFamily="34" charset="0"/>
                <a:ea typeface="Calibri" pitchFamily="34" charset="-122"/>
                <a:cs typeface="Calibri" pitchFamily="34" charset="-120"/>
              </a:rPr>
              <a:t>new</a:t>
            </a:r>
            <a:r>
              <a:rPr lang="en-US" dirty="0">
                <a:solidFill>
                  <a:srgbClr val="F2F2F8"/>
                </a:solidFill>
                <a:latin typeface="Calibri" pitchFamily="34" charset="0"/>
                <a:ea typeface="Calibri" pitchFamily="34" charset="-122"/>
                <a:cs typeface="Calibri" pitchFamily="34" charset="-120"/>
              </a:rPr>
              <a:t> </a:t>
            </a:r>
            <a:r>
              <a:rPr lang="en-US" sz="1800" dirty="0">
                <a:solidFill>
                  <a:srgbClr val="F2F2F8"/>
                </a:solidFill>
                <a:latin typeface="Calibri" pitchFamily="34" charset="0"/>
                <a:ea typeface="Calibri" pitchFamily="34" charset="-122"/>
                <a:cs typeface="Calibri" pitchFamily="34" charset="-120"/>
              </a:rPr>
              <a:t>= </a:t>
            </a:r>
            <a:r>
              <a:rPr lang="en-US" dirty="0">
                <a:solidFill>
                  <a:srgbClr val="F2F2F8"/>
                </a:solidFill>
                <a:latin typeface="Calibri" pitchFamily="34" charset="0"/>
                <a:ea typeface="Calibri" pitchFamily="34" charset="-122"/>
                <a:cs typeface="Calibri" pitchFamily="34" charset="-120"/>
              </a:rPr>
              <a:t>W</a:t>
            </a:r>
            <a:r>
              <a:rPr lang="en-US" baseline="-25000" dirty="0">
                <a:solidFill>
                  <a:srgbClr val="F2F2F8"/>
                </a:solidFill>
                <a:latin typeface="Calibri" pitchFamily="34" charset="0"/>
                <a:ea typeface="Calibri" pitchFamily="34" charset="-122"/>
                <a:cs typeface="Calibri" pitchFamily="34" charset="-120"/>
              </a:rPr>
              <a:t>old</a:t>
            </a:r>
            <a:r>
              <a:rPr lang="en-US" dirty="0">
                <a:solidFill>
                  <a:srgbClr val="F2F2F8"/>
                </a:solidFill>
                <a:latin typeface="Calibri" pitchFamily="34" charset="0"/>
                <a:ea typeface="Calibri" pitchFamily="34" charset="-122"/>
                <a:cs typeface="Calibri" pitchFamily="34" charset="-120"/>
              </a:rPr>
              <a:t> </a:t>
            </a:r>
            <a:r>
              <a:rPr lang="en-US" sz="1800" dirty="0">
                <a:solidFill>
                  <a:srgbClr val="F2F2F8"/>
                </a:solidFill>
                <a:latin typeface="Calibri" pitchFamily="34" charset="0"/>
                <a:ea typeface="Calibri" pitchFamily="34" charset="-122"/>
                <a:cs typeface="Calibri" pitchFamily="34" charset="-120"/>
              </a:rPr>
              <a:t>).</a:t>
            </a:r>
            <a:endParaRPr lang="en-US" sz="1800" dirty="0"/>
          </a:p>
        </p:txBody>
      </p:sp>
      <p:sp>
        <p:nvSpPr>
          <p:cNvPr id="28" name="Text 26"/>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D4FA29F-83B0-7839-D8FD-49838AEE958C}"/>
            </a:ext>
          </a:extLst>
        </p:cNvPr>
        <p:cNvGrpSpPr/>
        <p:nvPr/>
      </p:nvGrpSpPr>
      <p:grpSpPr>
        <a:xfrm>
          <a:off x="0" y="0"/>
          <a:ext cx="0" cy="0"/>
          <a:chOff x="0" y="0"/>
          <a:chExt cx="0" cy="0"/>
        </a:xfrm>
      </p:grpSpPr>
      <p:sp>
        <p:nvSpPr>
          <p:cNvPr id="16" name="Text 14">
            <a:extLst>
              <a:ext uri="{FF2B5EF4-FFF2-40B4-BE49-F238E27FC236}">
                <a16:creationId xmlns:a16="http://schemas.microsoft.com/office/drawing/2014/main" id="{7A91F77B-E862-778E-5658-2344C5446ED0}"/>
              </a:ext>
            </a:extLst>
          </p:cNvPr>
          <p:cNvSpPr txBox="1"/>
          <p:nvPr/>
        </p:nvSpPr>
        <p:spPr>
          <a:xfrm>
            <a:off x="1524000" y="388620"/>
            <a:ext cx="9144000" cy="868680"/>
          </a:xfrm>
          <a:prstGeom prst="rect">
            <a:avLst/>
          </a:prstGeom>
          <a:noFill/>
          <a:ln/>
        </p:spPr>
        <p:txBody>
          <a:bodyPr wrap="square" lIns="0" tIns="0" rIns="0" bIns="0" rtlCol="0" anchor="ctr"/>
          <a:lstStyle/>
          <a:p>
            <a:pPr marL="0" indent="0" algn="ctr">
              <a:buNone/>
            </a:pPr>
            <a:endParaRPr lang="en-US" sz="2400" dirty="0"/>
          </a:p>
        </p:txBody>
      </p:sp>
      <p:sp>
        <p:nvSpPr>
          <p:cNvPr id="22" name="Text 20">
            <a:extLst>
              <a:ext uri="{FF2B5EF4-FFF2-40B4-BE49-F238E27FC236}">
                <a16:creationId xmlns:a16="http://schemas.microsoft.com/office/drawing/2014/main" id="{FA1C0A05-4DE3-D8BF-385D-CDBA57001F73}"/>
              </a:ext>
            </a:extLst>
          </p:cNvPr>
          <p:cNvSpPr txBox="1"/>
          <p:nvPr/>
        </p:nvSpPr>
        <p:spPr>
          <a:xfrm>
            <a:off x="4553712" y="1645920"/>
            <a:ext cx="3108960" cy="822960"/>
          </a:xfrm>
          <a:prstGeom prst="rect">
            <a:avLst/>
          </a:prstGeom>
          <a:noFill/>
          <a:ln/>
        </p:spPr>
        <p:txBody>
          <a:bodyPr wrap="square" lIns="0" tIns="0" rIns="0" bIns="0" rtlCol="0" anchor="ctr"/>
          <a:lstStyle/>
          <a:p>
            <a:pPr marL="0" indent="0" algn="ctr">
              <a:buNone/>
            </a:pPr>
            <a:endParaRPr lang="en-US" sz="1900" dirty="0"/>
          </a:p>
        </p:txBody>
      </p:sp>
      <p:sp>
        <p:nvSpPr>
          <p:cNvPr id="28" name="Text 26">
            <a:extLst>
              <a:ext uri="{FF2B5EF4-FFF2-40B4-BE49-F238E27FC236}">
                <a16:creationId xmlns:a16="http://schemas.microsoft.com/office/drawing/2014/main" id="{DF9A7224-999C-DCF9-373E-CEBF48C73C56}"/>
              </a:ext>
            </a:extLst>
          </p:cNvPr>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
        <p:nvSpPr>
          <p:cNvPr id="3" name="Shape 15">
            <a:extLst>
              <a:ext uri="{FF2B5EF4-FFF2-40B4-BE49-F238E27FC236}">
                <a16:creationId xmlns:a16="http://schemas.microsoft.com/office/drawing/2014/main" id="{CB160AC9-35DC-37E3-22FE-4502B839EE50}"/>
              </a:ext>
            </a:extLst>
          </p:cNvPr>
          <p:cNvSpPr/>
          <p:nvPr/>
        </p:nvSpPr>
        <p:spPr>
          <a:xfrm>
            <a:off x="1798320" y="243840"/>
            <a:ext cx="8585200" cy="6390640"/>
          </a:xfrm>
          <a:prstGeom prst="roundRect">
            <a:avLst>
              <a:gd name="adj" fmla="val 2202"/>
            </a:avLst>
          </a:prstGeom>
          <a:solidFill>
            <a:srgbClr val="1C2036"/>
          </a:solidFill>
          <a:ln w="9525">
            <a:solidFill>
              <a:srgbClr val="343A58"/>
            </a:solidFill>
            <a:prstDash val="solid"/>
          </a:ln>
        </p:spPr>
        <p:txBody>
          <a:bodyPr/>
          <a:lstStyle/>
          <a:p>
            <a:endParaRPr lang="en-IN"/>
          </a:p>
        </p:txBody>
      </p:sp>
      <p:pic>
        <p:nvPicPr>
          <p:cNvPr id="5" name="Picture 4">
            <a:extLst>
              <a:ext uri="{FF2B5EF4-FFF2-40B4-BE49-F238E27FC236}">
                <a16:creationId xmlns:a16="http://schemas.microsoft.com/office/drawing/2014/main" id="{7390F0E4-CFE2-E8D6-7E5D-91DAB3347558}"/>
              </a:ext>
            </a:extLst>
          </p:cNvPr>
          <p:cNvPicPr>
            <a:picLocks noChangeAspect="1"/>
          </p:cNvPicPr>
          <p:nvPr/>
        </p:nvPicPr>
        <p:blipFill>
          <a:blip r:embed="rId4"/>
          <a:stretch>
            <a:fillRect/>
          </a:stretch>
        </p:blipFill>
        <p:spPr>
          <a:xfrm>
            <a:off x="2193008" y="504190"/>
            <a:ext cx="7805983" cy="5849620"/>
          </a:xfrm>
          <a:prstGeom prst="rect">
            <a:avLst/>
          </a:prstGeom>
        </p:spPr>
      </p:pic>
    </p:spTree>
    <p:extLst>
      <p:ext uri="{BB962C8B-B14F-4D97-AF65-F5344CB8AC3E}">
        <p14:creationId xmlns:p14="http://schemas.microsoft.com/office/powerpoint/2010/main" val="3356919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38" name="Shape 15">
            <a:extLst>
              <a:ext uri="{FF2B5EF4-FFF2-40B4-BE49-F238E27FC236}">
                <a16:creationId xmlns:a16="http://schemas.microsoft.com/office/drawing/2014/main" id="{583F8BED-3F95-6B5A-702F-2396B65ED9DE}"/>
              </a:ext>
            </a:extLst>
          </p:cNvPr>
          <p:cNvSpPr/>
          <p:nvPr/>
        </p:nvSpPr>
        <p:spPr>
          <a:xfrm>
            <a:off x="1798320" y="243840"/>
            <a:ext cx="8585200" cy="6390640"/>
          </a:xfrm>
          <a:prstGeom prst="roundRect">
            <a:avLst>
              <a:gd name="adj" fmla="val 2202"/>
            </a:avLst>
          </a:prstGeom>
          <a:solidFill>
            <a:srgbClr val="1C2036"/>
          </a:solidFill>
          <a:ln w="9525">
            <a:solidFill>
              <a:srgbClr val="343A58"/>
            </a:solidFill>
            <a:prstDash val="solid"/>
          </a:ln>
        </p:spPr>
        <p:txBody>
          <a:bodyPr/>
          <a:lstStyle/>
          <a:p>
            <a:endParaRPr lang="en-IN"/>
          </a:p>
        </p:txBody>
      </p:sp>
      <p:sp>
        <p:nvSpPr>
          <p:cNvPr id="16" name="Text 14"/>
          <p:cNvSpPr txBox="1"/>
          <p:nvPr/>
        </p:nvSpPr>
        <p:spPr>
          <a:xfrm>
            <a:off x="365760" y="411480"/>
            <a:ext cx="9144000" cy="868680"/>
          </a:xfrm>
          <a:prstGeom prst="rect">
            <a:avLst/>
          </a:prstGeom>
          <a:noFill/>
          <a:ln/>
        </p:spPr>
        <p:txBody>
          <a:bodyPr wrap="square" lIns="0" tIns="0" rIns="0" bIns="0" rtlCol="0" anchor="ctr"/>
          <a:lstStyle/>
          <a:p>
            <a:pPr marL="0" indent="0" algn="ctr">
              <a:buNone/>
            </a:pPr>
            <a:endParaRPr lang="en-US" sz="2400" dirty="0"/>
          </a:p>
        </p:txBody>
      </p:sp>
      <p:sp>
        <p:nvSpPr>
          <p:cNvPr id="17" name="Text 15"/>
          <p:cNvSpPr txBox="1"/>
          <p:nvPr/>
        </p:nvSpPr>
        <p:spPr>
          <a:xfrm>
            <a:off x="731520" y="228600"/>
            <a:ext cx="5486400" cy="274320"/>
          </a:xfrm>
          <a:prstGeom prst="rect">
            <a:avLst/>
          </a:prstGeom>
          <a:noFill/>
          <a:ln/>
        </p:spPr>
        <p:txBody>
          <a:bodyPr wrap="square" lIns="0" tIns="0" rIns="0" bIns="0" rtlCol="0" anchor="t"/>
          <a:lstStyle/>
          <a:p>
            <a:pPr marL="0" indent="0">
              <a:buNone/>
            </a:pPr>
            <a:endParaRPr lang="en-US" sz="1300" dirty="0"/>
          </a:p>
        </p:txBody>
      </p:sp>
      <p:sp>
        <p:nvSpPr>
          <p:cNvPr id="26" name="Text 24"/>
          <p:cNvSpPr txBox="1"/>
          <p:nvPr/>
        </p:nvSpPr>
        <p:spPr>
          <a:xfrm>
            <a:off x="731520" y="6446520"/>
            <a:ext cx="5486400" cy="274320"/>
          </a:xfrm>
          <a:prstGeom prst="rect">
            <a:avLst/>
          </a:prstGeom>
          <a:noFill/>
          <a:ln/>
        </p:spPr>
        <p:txBody>
          <a:bodyPr wrap="square" lIns="0" tIns="0" rIns="0" bIns="0" rtlCol="0" anchor="t"/>
          <a:lstStyle/>
          <a:p>
            <a:pPr marL="0" indent="0">
              <a:buNone/>
            </a:pPr>
            <a:endParaRPr lang="en-US" sz="1200" dirty="0"/>
          </a:p>
        </p:txBody>
      </p:sp>
      <p:sp>
        <p:nvSpPr>
          <p:cNvPr id="27" name="Text 25"/>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pic>
        <p:nvPicPr>
          <p:cNvPr id="28" name="WhatsApp Video 2026-10-12 at 8.25.41 PM">
            <a:hlinkClick r:id="" action="ppaction://media"/>
            <a:extLst>
              <a:ext uri="{FF2B5EF4-FFF2-40B4-BE49-F238E27FC236}">
                <a16:creationId xmlns:a16="http://schemas.microsoft.com/office/drawing/2014/main" id="{910F8E6D-1EC5-A354-F629-60A3B37D051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128058" y="1162570"/>
            <a:ext cx="7935884" cy="4953096"/>
          </a:xfrm>
          <a:prstGeom prst="rect">
            <a:avLst/>
          </a:prstGeom>
        </p:spPr>
      </p:pic>
      <p:sp>
        <p:nvSpPr>
          <p:cNvPr id="30" name="TextBox 29">
            <a:extLst>
              <a:ext uri="{FF2B5EF4-FFF2-40B4-BE49-F238E27FC236}">
                <a16:creationId xmlns:a16="http://schemas.microsoft.com/office/drawing/2014/main" id="{9BA86049-9FC3-0E5E-D07B-B331572712E2}"/>
              </a:ext>
            </a:extLst>
          </p:cNvPr>
          <p:cNvSpPr txBox="1"/>
          <p:nvPr/>
        </p:nvSpPr>
        <p:spPr>
          <a:xfrm>
            <a:off x="1582490" y="408801"/>
            <a:ext cx="9051403" cy="553998"/>
          </a:xfrm>
          <a:prstGeom prst="rect">
            <a:avLst/>
          </a:prstGeom>
          <a:noFill/>
        </p:spPr>
        <p:txBody>
          <a:bodyPr wrap="square">
            <a:spAutoFit/>
          </a:bodyPr>
          <a:lstStyle/>
          <a:p>
            <a:pPr marL="0" indent="0" algn="ctr">
              <a:buNone/>
            </a:pPr>
            <a:r>
              <a:rPr lang="en-US" sz="3000" dirty="0" err="1">
                <a:solidFill>
                  <a:srgbClr val="F2F2F8"/>
                </a:solidFill>
                <a:latin typeface="Impact" pitchFamily="34" charset="0"/>
                <a:ea typeface="Impact" pitchFamily="34" charset="-122"/>
                <a:cs typeface="Impact" pitchFamily="34" charset="-120"/>
              </a:rPr>
              <a:t>Visualising</a:t>
            </a:r>
            <a:r>
              <a:rPr lang="en-US" sz="3000" dirty="0">
                <a:solidFill>
                  <a:srgbClr val="F2F2F8"/>
                </a:solidFill>
                <a:latin typeface="Impact" pitchFamily="34" charset="0"/>
                <a:ea typeface="Impact" pitchFamily="34" charset="-122"/>
                <a:cs typeface="Impact" pitchFamily="34" charset="-120"/>
              </a:rPr>
              <a:t> Decision Boundary as a binary classifier</a:t>
            </a:r>
            <a:endParaRPr lang="en-US" sz="3000" dirty="0"/>
          </a:p>
        </p:txBody>
      </p:sp>
      <p:sp>
        <p:nvSpPr>
          <p:cNvPr id="34" name="Text 20">
            <a:extLst>
              <a:ext uri="{FF2B5EF4-FFF2-40B4-BE49-F238E27FC236}">
                <a16:creationId xmlns:a16="http://schemas.microsoft.com/office/drawing/2014/main" id="{AA450119-09CB-1285-69FC-A31624892D93}"/>
              </a:ext>
            </a:extLst>
          </p:cNvPr>
          <p:cNvSpPr txBox="1"/>
          <p:nvPr/>
        </p:nvSpPr>
        <p:spPr>
          <a:xfrm>
            <a:off x="4553712" y="1645920"/>
            <a:ext cx="3108960" cy="822960"/>
          </a:xfrm>
          <a:prstGeom prst="rect">
            <a:avLst/>
          </a:prstGeom>
          <a:noFill/>
          <a:ln/>
        </p:spPr>
        <p:txBody>
          <a:bodyPr wrap="square" lIns="0" tIns="0" rIns="0" bIns="0" rtlCol="0" anchor="ctr"/>
          <a:lstStyle/>
          <a:p>
            <a:pPr marL="0" indent="0" algn="ctr">
              <a:buNone/>
            </a:pPr>
            <a:endParaRPr lang="en-US" sz="1900" dirty="0"/>
          </a:p>
        </p:txBody>
      </p:sp>
      <p:sp>
        <p:nvSpPr>
          <p:cNvPr id="36" name="Text 26">
            <a:extLst>
              <a:ext uri="{FF2B5EF4-FFF2-40B4-BE49-F238E27FC236}">
                <a16:creationId xmlns:a16="http://schemas.microsoft.com/office/drawing/2014/main" id="{B2191CE6-4D49-1C5C-948B-3B917ED20DB0}"/>
              </a:ext>
            </a:extLst>
          </p:cNvPr>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717"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8"/>
                </p:tgtEl>
              </p:cMediaNode>
            </p:video>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8"/>
                                        </p:tgtEl>
                                      </p:cBhvr>
                                    </p:cmd>
                                  </p:childTnLst>
                                </p:cTn>
                              </p:par>
                            </p:childTnLst>
                          </p:cTn>
                        </p:par>
                      </p:childTnLst>
                    </p:cTn>
                  </p:par>
                </p:childTnLst>
              </p:cTn>
              <p:nextCondLst>
                <p:cond evt="onClick" delay="0">
                  <p:tgtEl>
                    <p:spTgt spid="28"/>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0" y="411480"/>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Linear Separability</a:t>
            </a:r>
            <a:endParaRPr lang="en-US" sz="4000" dirty="0"/>
          </a:p>
        </p:txBody>
      </p:sp>
      <p:sp>
        <p:nvSpPr>
          <p:cNvPr id="17" name="Shape 15"/>
          <p:cNvSpPr/>
          <p:nvPr/>
        </p:nvSpPr>
        <p:spPr>
          <a:xfrm>
            <a:off x="731520" y="1417320"/>
            <a:ext cx="10725912" cy="1188720"/>
          </a:xfrm>
          <a:prstGeom prst="roundRect">
            <a:avLst>
              <a:gd name="adj" fmla="val 9231"/>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1005840" y="1417320"/>
            <a:ext cx="10149840" cy="1188720"/>
          </a:xfrm>
          <a:prstGeom prst="rect">
            <a:avLst/>
          </a:prstGeom>
          <a:noFill/>
          <a:ln/>
        </p:spPr>
        <p:txBody>
          <a:bodyPr wrap="square" lIns="0" tIns="0" rIns="0" bIns="0" rtlCol="0" anchor="ctr"/>
          <a:lstStyle/>
          <a:p>
            <a:pPr marL="0" indent="0">
              <a:buNone/>
            </a:pPr>
            <a:r>
              <a:rPr lang="en-US" sz="2150" dirty="0">
                <a:solidFill>
                  <a:srgbClr val="F2F2F8"/>
                </a:solidFill>
                <a:latin typeface="Calibri" pitchFamily="34" charset="0"/>
                <a:ea typeface="Calibri" pitchFamily="34" charset="-122"/>
                <a:cs typeface="Calibri" pitchFamily="34" charset="-120"/>
              </a:rPr>
              <a:t>A dataset is linearly separable if one linear boundary can separate its classes without error. A single perceptron can correctly classify all the data points if such a boundary exists.</a:t>
            </a:r>
            <a:endParaRPr lang="en-US" sz="2150" dirty="0"/>
          </a:p>
        </p:txBody>
      </p:sp>
      <p:sp>
        <p:nvSpPr>
          <p:cNvPr id="19" name="Shape 17"/>
          <p:cNvSpPr/>
          <p:nvPr/>
        </p:nvSpPr>
        <p:spPr>
          <a:xfrm>
            <a:off x="731520" y="2880360"/>
            <a:ext cx="3474720" cy="2743200"/>
          </a:xfrm>
          <a:prstGeom prst="roundRect">
            <a:avLst>
              <a:gd name="adj" fmla="val 4000"/>
            </a:avLst>
          </a:prstGeom>
          <a:solidFill>
            <a:srgbClr val="3B4366"/>
          </a:solidFill>
          <a:ln w="9525">
            <a:solidFill>
              <a:srgbClr val="3B4366"/>
            </a:solidFill>
            <a:prstDash val="solid"/>
          </a:ln>
        </p:spPr>
        <p:txBody>
          <a:bodyPr/>
          <a:lstStyle/>
          <a:p>
            <a:endParaRPr lang="en-IN"/>
          </a:p>
        </p:txBody>
      </p:sp>
      <p:sp>
        <p:nvSpPr>
          <p:cNvPr id="20" name="Text 18"/>
          <p:cNvSpPr txBox="1"/>
          <p:nvPr/>
        </p:nvSpPr>
        <p:spPr>
          <a:xfrm>
            <a:off x="960120" y="3108960"/>
            <a:ext cx="3017520" cy="2377440"/>
          </a:xfrm>
          <a:prstGeom prst="rect">
            <a:avLst/>
          </a:prstGeom>
          <a:noFill/>
          <a:ln/>
        </p:spPr>
        <p:txBody>
          <a:bodyPr wrap="square" lIns="0" tIns="0" rIns="0" bIns="0" rtlCol="0" anchor="t"/>
          <a:lstStyle/>
          <a:p>
            <a:pPr marL="0" indent="0">
              <a:spcAft>
                <a:spcPts val="600"/>
              </a:spcAft>
              <a:buNone/>
            </a:pPr>
            <a:r>
              <a:rPr lang="en-US" sz="2000" b="1" dirty="0">
                <a:solidFill>
                  <a:srgbClr val="D9D6EE"/>
                </a:solidFill>
                <a:latin typeface="Calibri" pitchFamily="34" charset="0"/>
                <a:ea typeface="Calibri" pitchFamily="34" charset="-122"/>
                <a:cs typeface="Calibri" pitchFamily="34" charset="-120"/>
              </a:rPr>
              <a:t>Why it matters</a:t>
            </a:r>
            <a:endParaRPr lang="en-US" sz="1900" dirty="0"/>
          </a:p>
          <a:p>
            <a:pPr marL="0" indent="0">
              <a:spcAft>
                <a:spcPts val="600"/>
              </a:spcAft>
              <a:buNone/>
            </a:pPr>
            <a:r>
              <a:rPr lang="en-US" sz="1900" dirty="0">
                <a:solidFill>
                  <a:srgbClr val="FFFFFF"/>
                </a:solidFill>
                <a:latin typeface="Calibri" pitchFamily="34" charset="0"/>
                <a:ea typeface="Calibri" pitchFamily="34" charset="-122"/>
                <a:cs typeface="Calibri" pitchFamily="34" charset="-120"/>
              </a:rPr>
              <a:t>The perceptron convergence guarantee depends on linear separability and the algorithm's standard assumptions.</a:t>
            </a:r>
            <a:endParaRPr lang="en-US" sz="1900" dirty="0"/>
          </a:p>
        </p:txBody>
      </p:sp>
      <p:sp>
        <p:nvSpPr>
          <p:cNvPr id="21" name="Shape 19"/>
          <p:cNvSpPr/>
          <p:nvPr/>
        </p:nvSpPr>
        <p:spPr>
          <a:xfrm>
            <a:off x="4389120" y="2880360"/>
            <a:ext cx="3520440" cy="2743200"/>
          </a:xfrm>
          <a:prstGeom prst="roundRect">
            <a:avLst>
              <a:gd name="adj" fmla="val 4000"/>
            </a:avLst>
          </a:prstGeom>
          <a:solidFill>
            <a:srgbClr val="141829"/>
          </a:solidFill>
          <a:ln w="9525">
            <a:solidFill>
              <a:srgbClr val="141829"/>
            </a:solidFill>
            <a:prstDash val="solid"/>
          </a:ln>
        </p:spPr>
        <p:txBody>
          <a:bodyPr/>
          <a:lstStyle/>
          <a:p>
            <a:endParaRPr lang="en-IN"/>
          </a:p>
        </p:txBody>
      </p:sp>
      <p:sp>
        <p:nvSpPr>
          <p:cNvPr id="22" name="Shape 20"/>
          <p:cNvSpPr/>
          <p:nvPr/>
        </p:nvSpPr>
        <p:spPr>
          <a:xfrm>
            <a:off x="4565142" y="5074920"/>
            <a:ext cx="3203600" cy="0"/>
          </a:xfrm>
          <a:prstGeom prst="line">
            <a:avLst/>
          </a:prstGeom>
          <a:noFill/>
          <a:ln w="12700">
            <a:solidFill>
              <a:srgbClr val="6B76A6"/>
            </a:solidFill>
            <a:prstDash val="solid"/>
          </a:ln>
        </p:spPr>
        <p:txBody>
          <a:bodyPr/>
          <a:lstStyle/>
          <a:p>
            <a:endParaRPr lang="en-IN"/>
          </a:p>
        </p:txBody>
      </p:sp>
      <p:sp>
        <p:nvSpPr>
          <p:cNvPr id="23" name="Shape 21"/>
          <p:cNvSpPr/>
          <p:nvPr/>
        </p:nvSpPr>
        <p:spPr>
          <a:xfrm>
            <a:off x="5093208" y="3017520"/>
            <a:ext cx="0" cy="2468880"/>
          </a:xfrm>
          <a:prstGeom prst="line">
            <a:avLst/>
          </a:prstGeom>
          <a:noFill/>
          <a:ln w="12700">
            <a:solidFill>
              <a:srgbClr val="6B76A6"/>
            </a:solidFill>
            <a:prstDash val="solid"/>
          </a:ln>
        </p:spPr>
        <p:txBody>
          <a:bodyPr/>
          <a:lstStyle/>
          <a:p>
            <a:endParaRPr lang="en-IN"/>
          </a:p>
        </p:txBody>
      </p:sp>
      <p:sp>
        <p:nvSpPr>
          <p:cNvPr id="24" name="Text 22"/>
          <p:cNvSpPr txBox="1"/>
          <p:nvPr/>
        </p:nvSpPr>
        <p:spPr>
          <a:xfrm>
            <a:off x="7627925" y="5111496"/>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x₁</a:t>
            </a:r>
            <a:endParaRPr lang="en-US" sz="1450" dirty="0"/>
          </a:p>
        </p:txBody>
      </p:sp>
      <p:sp>
        <p:nvSpPr>
          <p:cNvPr id="25" name="Text 23"/>
          <p:cNvSpPr txBox="1"/>
          <p:nvPr/>
        </p:nvSpPr>
        <p:spPr>
          <a:xfrm>
            <a:off x="5166360" y="2990088"/>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x₂</a:t>
            </a:r>
            <a:endParaRPr lang="en-US" sz="1450" dirty="0"/>
          </a:p>
        </p:txBody>
      </p:sp>
      <p:sp>
        <p:nvSpPr>
          <p:cNvPr id="26" name="Shape 24"/>
          <p:cNvSpPr/>
          <p:nvPr/>
        </p:nvSpPr>
        <p:spPr>
          <a:xfrm>
            <a:off x="4839736" y="3535985"/>
            <a:ext cx="2407981" cy="1719986"/>
          </a:xfrm>
          <a:prstGeom prst="line">
            <a:avLst/>
          </a:prstGeom>
          <a:noFill/>
          <a:ln w="22225">
            <a:solidFill>
              <a:srgbClr val="F0B050"/>
            </a:solidFill>
            <a:prstDash val="solid"/>
          </a:ln>
        </p:spPr>
        <p:txBody>
          <a:bodyPr/>
          <a:lstStyle/>
          <a:p>
            <a:endParaRPr lang="en-IN"/>
          </a:p>
        </p:txBody>
      </p:sp>
      <p:sp>
        <p:nvSpPr>
          <p:cNvPr id="27" name="Shape 25"/>
          <p:cNvSpPr/>
          <p:nvPr/>
        </p:nvSpPr>
        <p:spPr>
          <a:xfrm>
            <a:off x="4910328" y="4892040"/>
            <a:ext cx="365760" cy="365760"/>
          </a:xfrm>
          <a:prstGeom prst="ellipse">
            <a:avLst/>
          </a:prstGeom>
          <a:solidFill>
            <a:srgbClr val="141829"/>
          </a:solidFill>
          <a:ln w="22225">
            <a:solidFill>
              <a:srgbClr val="F2F2F8"/>
            </a:solidFill>
            <a:prstDash val="solid"/>
          </a:ln>
        </p:spPr>
        <p:txBody>
          <a:bodyPr/>
          <a:lstStyle/>
          <a:p>
            <a:endParaRPr lang="en-IN"/>
          </a:p>
        </p:txBody>
      </p:sp>
      <p:sp>
        <p:nvSpPr>
          <p:cNvPr id="28" name="Shape 26"/>
          <p:cNvSpPr/>
          <p:nvPr/>
        </p:nvSpPr>
        <p:spPr>
          <a:xfrm>
            <a:off x="6177686" y="4892040"/>
            <a:ext cx="365760" cy="365760"/>
          </a:xfrm>
          <a:prstGeom prst="ellipse">
            <a:avLst/>
          </a:prstGeom>
          <a:solidFill>
            <a:srgbClr val="141829"/>
          </a:solidFill>
          <a:ln w="22225">
            <a:solidFill>
              <a:srgbClr val="F2F2F8"/>
            </a:solidFill>
            <a:prstDash val="solid"/>
          </a:ln>
        </p:spPr>
        <p:txBody>
          <a:bodyPr/>
          <a:lstStyle/>
          <a:p>
            <a:endParaRPr lang="en-IN"/>
          </a:p>
        </p:txBody>
      </p:sp>
      <p:sp>
        <p:nvSpPr>
          <p:cNvPr id="29" name="Shape 27"/>
          <p:cNvSpPr/>
          <p:nvPr/>
        </p:nvSpPr>
        <p:spPr>
          <a:xfrm>
            <a:off x="4910328" y="3986784"/>
            <a:ext cx="365760" cy="365760"/>
          </a:xfrm>
          <a:prstGeom prst="ellipse">
            <a:avLst/>
          </a:prstGeom>
          <a:solidFill>
            <a:srgbClr val="141829"/>
          </a:solidFill>
          <a:ln w="22225">
            <a:solidFill>
              <a:srgbClr val="F2F2F8"/>
            </a:solidFill>
            <a:prstDash val="solid"/>
          </a:ln>
        </p:spPr>
        <p:txBody>
          <a:bodyPr/>
          <a:lstStyle/>
          <a:p>
            <a:endParaRPr lang="en-IN"/>
          </a:p>
        </p:txBody>
      </p:sp>
      <p:sp>
        <p:nvSpPr>
          <p:cNvPr id="30" name="Shape 28"/>
          <p:cNvSpPr/>
          <p:nvPr/>
        </p:nvSpPr>
        <p:spPr>
          <a:xfrm>
            <a:off x="6177686" y="3986784"/>
            <a:ext cx="365760" cy="365760"/>
          </a:xfrm>
          <a:prstGeom prst="ellipse">
            <a:avLst/>
          </a:prstGeom>
          <a:solidFill>
            <a:srgbClr val="6B76A6"/>
          </a:solidFill>
          <a:ln w="22225">
            <a:solidFill>
              <a:srgbClr val="6B76A6"/>
            </a:solidFill>
            <a:prstDash val="solid"/>
          </a:ln>
        </p:spPr>
        <p:txBody>
          <a:bodyPr/>
          <a:lstStyle/>
          <a:p>
            <a:endParaRPr lang="en-IN"/>
          </a:p>
        </p:txBody>
      </p:sp>
      <p:sp>
        <p:nvSpPr>
          <p:cNvPr id="31" name="Shape 29"/>
          <p:cNvSpPr/>
          <p:nvPr/>
        </p:nvSpPr>
        <p:spPr>
          <a:xfrm>
            <a:off x="7955280" y="2880360"/>
            <a:ext cx="3520440" cy="2743200"/>
          </a:xfrm>
          <a:prstGeom prst="roundRect">
            <a:avLst>
              <a:gd name="adj" fmla="val 4000"/>
            </a:avLst>
          </a:prstGeom>
          <a:solidFill>
            <a:srgbClr val="141829"/>
          </a:solidFill>
          <a:ln w="9525">
            <a:solidFill>
              <a:srgbClr val="141829"/>
            </a:solidFill>
            <a:prstDash val="solid"/>
          </a:ln>
        </p:spPr>
        <p:txBody>
          <a:bodyPr/>
          <a:lstStyle/>
          <a:p>
            <a:endParaRPr lang="en-IN"/>
          </a:p>
        </p:txBody>
      </p:sp>
      <p:sp>
        <p:nvSpPr>
          <p:cNvPr id="32" name="Shape 30"/>
          <p:cNvSpPr/>
          <p:nvPr/>
        </p:nvSpPr>
        <p:spPr>
          <a:xfrm>
            <a:off x="8131302" y="5074920"/>
            <a:ext cx="3203600" cy="0"/>
          </a:xfrm>
          <a:prstGeom prst="line">
            <a:avLst/>
          </a:prstGeom>
          <a:noFill/>
          <a:ln w="12700">
            <a:solidFill>
              <a:srgbClr val="6B76A6"/>
            </a:solidFill>
            <a:prstDash val="solid"/>
          </a:ln>
        </p:spPr>
        <p:txBody>
          <a:bodyPr/>
          <a:lstStyle/>
          <a:p>
            <a:endParaRPr lang="en-IN"/>
          </a:p>
        </p:txBody>
      </p:sp>
      <p:sp>
        <p:nvSpPr>
          <p:cNvPr id="33" name="Shape 31"/>
          <p:cNvSpPr/>
          <p:nvPr/>
        </p:nvSpPr>
        <p:spPr>
          <a:xfrm>
            <a:off x="8659368" y="3017520"/>
            <a:ext cx="0" cy="2468880"/>
          </a:xfrm>
          <a:prstGeom prst="line">
            <a:avLst/>
          </a:prstGeom>
          <a:noFill/>
          <a:ln w="12700">
            <a:solidFill>
              <a:srgbClr val="6B76A6"/>
            </a:solidFill>
            <a:prstDash val="solid"/>
          </a:ln>
        </p:spPr>
        <p:txBody>
          <a:bodyPr/>
          <a:lstStyle/>
          <a:p>
            <a:endParaRPr lang="en-IN"/>
          </a:p>
        </p:txBody>
      </p:sp>
      <p:sp>
        <p:nvSpPr>
          <p:cNvPr id="34" name="Text 32"/>
          <p:cNvSpPr txBox="1"/>
          <p:nvPr/>
        </p:nvSpPr>
        <p:spPr>
          <a:xfrm>
            <a:off x="11194085" y="5111496"/>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x₁</a:t>
            </a:r>
            <a:endParaRPr lang="en-US" sz="1450" dirty="0"/>
          </a:p>
        </p:txBody>
      </p:sp>
      <p:sp>
        <p:nvSpPr>
          <p:cNvPr id="35" name="Text 33"/>
          <p:cNvSpPr txBox="1"/>
          <p:nvPr/>
        </p:nvSpPr>
        <p:spPr>
          <a:xfrm>
            <a:off x="8732520" y="2990088"/>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x₂</a:t>
            </a:r>
            <a:endParaRPr lang="en-US" sz="1450" dirty="0"/>
          </a:p>
        </p:txBody>
      </p:sp>
      <p:sp>
        <p:nvSpPr>
          <p:cNvPr id="36" name="Shape 34"/>
          <p:cNvSpPr/>
          <p:nvPr/>
        </p:nvSpPr>
        <p:spPr>
          <a:xfrm>
            <a:off x="8152425" y="4260190"/>
            <a:ext cx="1647566" cy="1176833"/>
          </a:xfrm>
          <a:prstGeom prst="line">
            <a:avLst/>
          </a:prstGeom>
          <a:noFill/>
          <a:ln w="22225">
            <a:solidFill>
              <a:srgbClr val="F0B050"/>
            </a:solidFill>
            <a:prstDash val="solid"/>
          </a:ln>
        </p:spPr>
        <p:txBody>
          <a:bodyPr/>
          <a:lstStyle/>
          <a:p>
            <a:endParaRPr lang="en-IN"/>
          </a:p>
        </p:txBody>
      </p:sp>
      <p:sp>
        <p:nvSpPr>
          <p:cNvPr id="37" name="Shape 35"/>
          <p:cNvSpPr/>
          <p:nvPr/>
        </p:nvSpPr>
        <p:spPr>
          <a:xfrm>
            <a:off x="8476488" y="4892040"/>
            <a:ext cx="365760" cy="365760"/>
          </a:xfrm>
          <a:prstGeom prst="ellipse">
            <a:avLst/>
          </a:prstGeom>
          <a:solidFill>
            <a:srgbClr val="141829"/>
          </a:solidFill>
          <a:ln w="22225">
            <a:solidFill>
              <a:srgbClr val="F2F2F8"/>
            </a:solidFill>
            <a:prstDash val="solid"/>
          </a:ln>
        </p:spPr>
        <p:txBody>
          <a:bodyPr/>
          <a:lstStyle/>
          <a:p>
            <a:endParaRPr lang="en-IN"/>
          </a:p>
        </p:txBody>
      </p:sp>
      <p:sp>
        <p:nvSpPr>
          <p:cNvPr id="38" name="Shape 36"/>
          <p:cNvSpPr/>
          <p:nvPr/>
        </p:nvSpPr>
        <p:spPr>
          <a:xfrm>
            <a:off x="9743846" y="4892040"/>
            <a:ext cx="365760" cy="365760"/>
          </a:xfrm>
          <a:prstGeom prst="ellipse">
            <a:avLst/>
          </a:prstGeom>
          <a:solidFill>
            <a:srgbClr val="6B76A6"/>
          </a:solidFill>
          <a:ln w="22225">
            <a:solidFill>
              <a:srgbClr val="6B76A6"/>
            </a:solidFill>
            <a:prstDash val="solid"/>
          </a:ln>
        </p:spPr>
        <p:txBody>
          <a:bodyPr/>
          <a:lstStyle/>
          <a:p>
            <a:endParaRPr lang="en-IN"/>
          </a:p>
        </p:txBody>
      </p:sp>
      <p:sp>
        <p:nvSpPr>
          <p:cNvPr id="39" name="Shape 37"/>
          <p:cNvSpPr/>
          <p:nvPr/>
        </p:nvSpPr>
        <p:spPr>
          <a:xfrm>
            <a:off x="8476488" y="3986784"/>
            <a:ext cx="365760" cy="365760"/>
          </a:xfrm>
          <a:prstGeom prst="ellipse">
            <a:avLst/>
          </a:prstGeom>
          <a:solidFill>
            <a:srgbClr val="6B76A6"/>
          </a:solidFill>
          <a:ln w="22225">
            <a:solidFill>
              <a:srgbClr val="6B76A6"/>
            </a:solidFill>
            <a:prstDash val="solid"/>
          </a:ln>
        </p:spPr>
        <p:txBody>
          <a:bodyPr/>
          <a:lstStyle/>
          <a:p>
            <a:endParaRPr lang="en-IN"/>
          </a:p>
        </p:txBody>
      </p:sp>
      <p:sp>
        <p:nvSpPr>
          <p:cNvPr id="40" name="Shape 38"/>
          <p:cNvSpPr/>
          <p:nvPr/>
        </p:nvSpPr>
        <p:spPr>
          <a:xfrm>
            <a:off x="9743846" y="3986784"/>
            <a:ext cx="365760" cy="365760"/>
          </a:xfrm>
          <a:prstGeom prst="ellipse">
            <a:avLst/>
          </a:prstGeom>
          <a:solidFill>
            <a:srgbClr val="6B76A6"/>
          </a:solidFill>
          <a:ln w="22225">
            <a:solidFill>
              <a:srgbClr val="6B76A6"/>
            </a:solidFill>
            <a:prstDash val="solid"/>
          </a:ln>
        </p:spPr>
        <p:txBody>
          <a:bodyPr/>
          <a:lstStyle/>
          <a:p>
            <a:endParaRPr lang="en-IN"/>
          </a:p>
        </p:txBody>
      </p:sp>
      <p:sp>
        <p:nvSpPr>
          <p:cNvPr id="41" name="Text 39"/>
          <p:cNvSpPr txBox="1"/>
          <p:nvPr/>
        </p:nvSpPr>
        <p:spPr>
          <a:xfrm>
            <a:off x="4389120" y="5669280"/>
            <a:ext cx="3520440" cy="594360"/>
          </a:xfrm>
          <a:prstGeom prst="rect">
            <a:avLst/>
          </a:prstGeom>
          <a:noFill/>
          <a:ln/>
        </p:spPr>
        <p:txBody>
          <a:bodyPr wrap="square" lIns="0" tIns="0" rIns="0" bIns="0" rtlCol="0" anchor="t"/>
          <a:lstStyle/>
          <a:p>
            <a:pPr marL="0" indent="0" algn="ctr">
              <a:buNone/>
            </a:pPr>
            <a:r>
              <a:rPr lang="en-US" sz="1700" b="1" dirty="0">
                <a:solidFill>
                  <a:srgbClr val="5FD0A0"/>
                </a:solidFill>
                <a:latin typeface="Calibri" pitchFamily="34" charset="0"/>
                <a:ea typeface="Calibri" pitchFamily="34" charset="-122"/>
                <a:cs typeface="Calibri" pitchFamily="34" charset="-120"/>
              </a:rPr>
              <a:t>AND ✓</a:t>
            </a:r>
            <a:endParaRPr lang="en-US" sz="1800" dirty="0"/>
          </a:p>
          <a:p>
            <a:pPr marL="0" indent="0" algn="ctr">
              <a:buNone/>
            </a:pPr>
            <a:r>
              <a:rPr lang="en-US" sz="1800" dirty="0">
                <a:solidFill>
                  <a:srgbClr val="F2F2F8"/>
                </a:solidFill>
                <a:latin typeface="Calibri" pitchFamily="34" charset="0"/>
                <a:ea typeface="Calibri" pitchFamily="34" charset="-122"/>
                <a:cs typeface="Calibri" pitchFamily="34" charset="-120"/>
              </a:rPr>
              <a:t>x₁ + x₂ − 1.5 = 0</a:t>
            </a:r>
            <a:endParaRPr lang="en-US" sz="1800" dirty="0"/>
          </a:p>
        </p:txBody>
      </p:sp>
      <p:sp>
        <p:nvSpPr>
          <p:cNvPr id="42" name="Text 40"/>
          <p:cNvSpPr txBox="1"/>
          <p:nvPr/>
        </p:nvSpPr>
        <p:spPr>
          <a:xfrm>
            <a:off x="7955280" y="5669280"/>
            <a:ext cx="3520440" cy="594360"/>
          </a:xfrm>
          <a:prstGeom prst="rect">
            <a:avLst/>
          </a:prstGeom>
          <a:noFill/>
          <a:ln/>
        </p:spPr>
        <p:txBody>
          <a:bodyPr wrap="square" lIns="0" tIns="0" rIns="0" bIns="0" rtlCol="0" anchor="t"/>
          <a:lstStyle/>
          <a:p>
            <a:pPr marL="0" indent="0" algn="ctr">
              <a:buNone/>
            </a:pPr>
            <a:r>
              <a:rPr lang="en-US" sz="1700" b="1" dirty="0">
                <a:solidFill>
                  <a:srgbClr val="5FD0A0"/>
                </a:solidFill>
                <a:latin typeface="Calibri" pitchFamily="34" charset="0"/>
                <a:ea typeface="Calibri" pitchFamily="34" charset="-122"/>
                <a:cs typeface="Calibri" pitchFamily="34" charset="-120"/>
              </a:rPr>
              <a:t>OR ✓</a:t>
            </a:r>
            <a:endParaRPr lang="en-US" sz="1800" dirty="0"/>
          </a:p>
          <a:p>
            <a:pPr marL="0" indent="0" algn="ctr">
              <a:buNone/>
            </a:pPr>
            <a:r>
              <a:rPr lang="en-US" sz="1800" dirty="0">
                <a:solidFill>
                  <a:srgbClr val="F2F2F8"/>
                </a:solidFill>
                <a:latin typeface="Calibri" pitchFamily="34" charset="0"/>
                <a:ea typeface="Calibri" pitchFamily="34" charset="-122"/>
                <a:cs typeface="Calibri" pitchFamily="34" charset="-120"/>
              </a:rPr>
              <a:t>x₁ + x₂ − 0.5 = 0</a:t>
            </a:r>
            <a:endParaRPr lang="en-US" sz="1800" dirty="0"/>
          </a:p>
        </p:txBody>
      </p:sp>
      <p:sp>
        <p:nvSpPr>
          <p:cNvPr id="43" name="Text 41"/>
          <p:cNvSpPr txBox="1"/>
          <p:nvPr/>
        </p:nvSpPr>
        <p:spPr>
          <a:xfrm>
            <a:off x="4389120" y="6400800"/>
            <a:ext cx="7086600" cy="274320"/>
          </a:xfrm>
          <a:prstGeom prst="rect">
            <a:avLst/>
          </a:prstGeom>
          <a:noFill/>
          <a:ln/>
        </p:spPr>
        <p:txBody>
          <a:bodyPr wrap="square" lIns="0" tIns="0" rIns="0" bIns="0" rtlCol="0" anchor="t"/>
          <a:lstStyle/>
          <a:p>
            <a:pPr marL="0" indent="0" algn="ctr">
              <a:buNone/>
            </a:pPr>
            <a:r>
              <a:rPr lang="en-US" sz="1700" i="1" dirty="0">
                <a:solidFill>
                  <a:srgbClr val="A9AFC8"/>
                </a:solidFill>
                <a:latin typeface="Calibri" pitchFamily="34" charset="0"/>
                <a:ea typeface="Calibri" pitchFamily="34" charset="-122"/>
                <a:cs typeface="Calibri" pitchFamily="34" charset="-120"/>
              </a:rPr>
              <a:t>Both are linearly separable.</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352044" y="5751576"/>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704088" y="5751576"/>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56132" y="5751576"/>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408176" y="5751576"/>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760220" y="5751576"/>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2112264" y="5751576"/>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2464308" y="5751576"/>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352044" y="6254496"/>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704088" y="6254496"/>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56132" y="6254496"/>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408176" y="6254496"/>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760220" y="6254496"/>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2112264" y="6254496"/>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2464308" y="6254496"/>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0" y="2377440"/>
            <a:ext cx="12191695" cy="1828800"/>
          </a:xfrm>
          <a:prstGeom prst="rect">
            <a:avLst/>
          </a:prstGeom>
          <a:noFill/>
          <a:ln/>
        </p:spPr>
        <p:txBody>
          <a:bodyPr wrap="square" lIns="0" tIns="0" rIns="0" bIns="0" rtlCol="0" anchor="ctr"/>
          <a:lstStyle/>
          <a:p>
            <a:pPr marL="0" indent="0" algn="ctr">
              <a:buNone/>
            </a:pPr>
            <a:r>
              <a:rPr lang="en-US" sz="9600" dirty="0">
                <a:solidFill>
                  <a:srgbClr val="F2F2F8"/>
                </a:solidFill>
                <a:latin typeface="Impact" pitchFamily="34" charset="0"/>
                <a:ea typeface="Impact" pitchFamily="34" charset="-122"/>
                <a:cs typeface="Impact" pitchFamily="34" charset="-120"/>
              </a:rPr>
              <a:t>Limitations</a:t>
            </a:r>
            <a:endParaRPr lang="en-US" sz="9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11480"/>
            <a:ext cx="5760720" cy="2971800"/>
          </a:xfrm>
          <a:prstGeom prst="roundRect">
            <a:avLst>
              <a:gd name="adj" fmla="val 3692"/>
            </a:avLst>
          </a:prstGeom>
          <a:solidFill>
            <a:srgbClr val="1C2036"/>
          </a:solidFill>
          <a:ln w="9525">
            <a:solidFill>
              <a:srgbClr val="343A58"/>
            </a:solidFill>
            <a:prstDash val="solid"/>
          </a:ln>
        </p:spPr>
        <p:txBody>
          <a:bodyPr/>
          <a:lstStyle/>
          <a:p>
            <a:endParaRPr lang="en-IN"/>
          </a:p>
        </p:txBody>
      </p:sp>
      <p:sp>
        <p:nvSpPr>
          <p:cNvPr id="3" name="Text 1"/>
          <p:cNvSpPr txBox="1"/>
          <p:nvPr/>
        </p:nvSpPr>
        <p:spPr>
          <a:xfrm>
            <a:off x="640080" y="548640"/>
            <a:ext cx="5760720" cy="457200"/>
          </a:xfrm>
          <a:prstGeom prst="rect">
            <a:avLst/>
          </a:prstGeom>
          <a:noFill/>
          <a:ln/>
        </p:spPr>
        <p:txBody>
          <a:bodyPr wrap="square" lIns="0" tIns="0" rIns="0" bIns="0" rtlCol="0" anchor="t"/>
          <a:lstStyle/>
          <a:p>
            <a:pPr marL="0" indent="0" algn="ctr">
              <a:buNone/>
            </a:pPr>
            <a:r>
              <a:rPr lang="en-US" sz="2900" b="1" dirty="0">
                <a:solidFill>
                  <a:srgbClr val="F2F2F8"/>
                </a:solidFill>
                <a:latin typeface="Calibri" pitchFamily="34" charset="0"/>
                <a:ea typeface="Calibri" pitchFamily="34" charset="-122"/>
                <a:cs typeface="Calibri" pitchFamily="34" charset="-120"/>
              </a:rPr>
              <a:t>Non-Linearly Separable Data</a:t>
            </a:r>
            <a:endParaRPr lang="en-US" sz="2900" dirty="0"/>
          </a:p>
        </p:txBody>
      </p:sp>
      <p:sp>
        <p:nvSpPr>
          <p:cNvPr id="4" name="Text 2"/>
          <p:cNvSpPr txBox="1"/>
          <p:nvPr/>
        </p:nvSpPr>
        <p:spPr>
          <a:xfrm>
            <a:off x="868680" y="1097280"/>
            <a:ext cx="5303520" cy="2194560"/>
          </a:xfrm>
          <a:prstGeom prst="rect">
            <a:avLst/>
          </a:prstGeom>
          <a:noFill/>
          <a:ln/>
        </p:spPr>
        <p:txBody>
          <a:bodyPr wrap="square" lIns="0" tIns="0" rIns="0" bIns="0" rtlCol="0" anchor="t"/>
          <a:lstStyle/>
          <a:p>
            <a:pPr marL="0" indent="0">
              <a:spcAft>
                <a:spcPts val="500"/>
              </a:spcAft>
              <a:buNone/>
            </a:pPr>
            <a:r>
              <a:rPr lang="en-US" sz="1800" b="1" dirty="0">
                <a:solidFill>
                  <a:srgbClr val="F2F2F8"/>
                </a:solidFill>
                <a:latin typeface="Calibri" pitchFamily="34" charset="0"/>
                <a:ea typeface="Calibri" pitchFamily="34" charset="-122"/>
                <a:cs typeface="Calibri" pitchFamily="34" charset="-120"/>
              </a:rPr>
              <a:t>Definition: </a:t>
            </a:r>
            <a:r>
              <a:rPr lang="en-US" sz="1800" dirty="0">
                <a:solidFill>
                  <a:srgbClr val="F2F2F8"/>
                </a:solidFill>
                <a:latin typeface="Calibri" pitchFamily="34" charset="0"/>
                <a:ea typeface="Calibri" pitchFamily="34" charset="-122"/>
                <a:cs typeface="Calibri" pitchFamily="34" charset="-120"/>
              </a:rPr>
              <a:t>Datasets requiring curved, circular, or multi-segment boundaries to separate classes.</a:t>
            </a:r>
            <a:endParaRPr lang="en-US" sz="1800" dirty="0"/>
          </a:p>
          <a:p>
            <a:pPr marL="0" indent="0">
              <a:spcAft>
                <a:spcPts val="500"/>
              </a:spcAft>
              <a:buNone/>
            </a:pPr>
            <a:r>
              <a:rPr lang="en-US" sz="1800" b="1" dirty="0">
                <a:solidFill>
                  <a:srgbClr val="F2F2F8"/>
                </a:solidFill>
                <a:latin typeface="Calibri" pitchFamily="34" charset="0"/>
                <a:ea typeface="Calibri" pitchFamily="34" charset="-122"/>
                <a:cs typeface="Calibri" pitchFamily="34" charset="-120"/>
              </a:rPr>
              <a:t>Perceptron Failure: </a:t>
            </a:r>
            <a:r>
              <a:rPr lang="en-US" sz="1800" dirty="0">
                <a:solidFill>
                  <a:srgbClr val="F2F2F8"/>
                </a:solidFill>
                <a:latin typeface="Calibri" pitchFamily="34" charset="0"/>
                <a:ea typeface="Calibri" pitchFamily="34" charset="-122"/>
                <a:cs typeface="Calibri" pitchFamily="34" charset="-120"/>
              </a:rPr>
              <a:t>Single perceptron CANNOT converge; boundary oscillates indefinitely without solving problem.</a:t>
            </a:r>
            <a:endParaRPr lang="en-US" sz="1800" dirty="0"/>
          </a:p>
          <a:p>
            <a:pPr marL="0" indent="0">
              <a:spcAft>
                <a:spcPts val="500"/>
              </a:spcAft>
              <a:buNone/>
            </a:pPr>
            <a:r>
              <a:rPr lang="en-US" sz="1800" b="1" dirty="0">
                <a:solidFill>
                  <a:srgbClr val="F2F2F8"/>
                </a:solidFill>
                <a:latin typeface="Calibri" pitchFamily="34" charset="0"/>
                <a:ea typeface="Calibri" pitchFamily="34" charset="-122"/>
                <a:cs typeface="Calibri" pitchFamily="34" charset="-120"/>
              </a:rPr>
              <a:t>Examples: </a:t>
            </a:r>
            <a:r>
              <a:rPr lang="en-US" sz="1800" dirty="0">
                <a:solidFill>
                  <a:srgbClr val="F2F2F8"/>
                </a:solidFill>
                <a:latin typeface="Calibri" pitchFamily="34" charset="0"/>
                <a:ea typeface="Calibri" pitchFamily="34" charset="-122"/>
                <a:cs typeface="Calibri" pitchFamily="34" charset="-120"/>
              </a:rPr>
              <a:t>XOR logic gate, concentric circle clusters, complex real-world image/text data.</a:t>
            </a:r>
            <a:endParaRPr lang="en-US" sz="1800" dirty="0"/>
          </a:p>
        </p:txBody>
      </p:sp>
      <p:sp>
        <p:nvSpPr>
          <p:cNvPr id="5" name="Text 3"/>
          <p:cNvSpPr txBox="1"/>
          <p:nvPr/>
        </p:nvSpPr>
        <p:spPr>
          <a:xfrm>
            <a:off x="640080" y="3566160"/>
            <a:ext cx="5760720" cy="640080"/>
          </a:xfrm>
          <a:prstGeom prst="rect">
            <a:avLst/>
          </a:prstGeom>
          <a:noFill/>
          <a:ln/>
        </p:spPr>
        <p:txBody>
          <a:bodyPr wrap="square" lIns="0" tIns="0" rIns="0" bIns="0" rtlCol="0" anchor="t"/>
          <a:lstStyle/>
          <a:p>
            <a:pPr marL="0" indent="0">
              <a:buNone/>
            </a:pPr>
            <a:r>
              <a:rPr lang="en-US" sz="3800" dirty="0">
                <a:solidFill>
                  <a:srgbClr val="6B76A6"/>
                </a:solidFill>
                <a:latin typeface="Impact" pitchFamily="34" charset="0"/>
                <a:ea typeface="Impact" pitchFamily="34" charset="-122"/>
                <a:cs typeface="Impact" pitchFamily="34" charset="-120"/>
              </a:rPr>
              <a:t>1. XOR Problem</a:t>
            </a:r>
            <a:endParaRPr lang="en-US" sz="3800" dirty="0"/>
          </a:p>
        </p:txBody>
      </p:sp>
      <p:sp>
        <p:nvSpPr>
          <p:cNvPr id="6" name="Shape 4"/>
          <p:cNvSpPr/>
          <p:nvPr/>
        </p:nvSpPr>
        <p:spPr>
          <a:xfrm>
            <a:off x="640080" y="4297680"/>
            <a:ext cx="5760720" cy="2057400"/>
          </a:xfrm>
          <a:prstGeom prst="roundRect">
            <a:avLst>
              <a:gd name="adj" fmla="val 5333"/>
            </a:avLst>
          </a:prstGeom>
          <a:solidFill>
            <a:srgbClr val="3B4366"/>
          </a:solidFill>
          <a:ln w="9525">
            <a:solidFill>
              <a:srgbClr val="3B4366"/>
            </a:solidFill>
            <a:prstDash val="solid"/>
          </a:ln>
        </p:spPr>
        <p:txBody>
          <a:bodyPr/>
          <a:lstStyle/>
          <a:p>
            <a:endParaRPr lang="en-IN"/>
          </a:p>
        </p:txBody>
      </p:sp>
      <p:sp>
        <p:nvSpPr>
          <p:cNvPr id="7" name="Text 5"/>
          <p:cNvSpPr txBox="1"/>
          <p:nvPr/>
        </p:nvSpPr>
        <p:spPr>
          <a:xfrm>
            <a:off x="908304" y="4671441"/>
            <a:ext cx="5303520" cy="1380744"/>
          </a:xfrm>
          <a:prstGeom prst="rect">
            <a:avLst/>
          </a:prstGeom>
          <a:noFill/>
          <a:ln/>
        </p:spPr>
        <p:txBody>
          <a:bodyPr wrap="square" lIns="0" tIns="0" rIns="0" bIns="0" rtlCol="0" anchor="t"/>
          <a:lstStyle/>
          <a:p>
            <a:pPr marL="0" indent="0">
              <a:spcAft>
                <a:spcPts val="600"/>
              </a:spcAft>
              <a:buNone/>
            </a:pPr>
            <a:r>
              <a:rPr lang="en-US" sz="1900" dirty="0">
                <a:solidFill>
                  <a:srgbClr val="FFFFFF"/>
                </a:solidFill>
                <a:latin typeface="Calibri" pitchFamily="34" charset="0"/>
                <a:ea typeface="Calibri" pitchFamily="34" charset="-122"/>
                <a:cs typeface="Calibri" pitchFamily="34" charset="-120"/>
              </a:rPr>
              <a:t>XOR is 1 when the inputs differ and 0 when they are equal. No single line separates the two classes.</a:t>
            </a:r>
            <a:endParaRPr lang="en-US" sz="1900" dirty="0"/>
          </a:p>
          <a:p>
            <a:pPr marL="0" indent="0">
              <a:spcAft>
                <a:spcPts val="600"/>
              </a:spcAft>
              <a:buNone/>
            </a:pPr>
            <a:r>
              <a:rPr lang="en-US" sz="1900" dirty="0">
                <a:solidFill>
                  <a:srgbClr val="FFFFFF"/>
                </a:solidFill>
                <a:latin typeface="Calibri" pitchFamily="34" charset="0"/>
                <a:ea typeface="Calibri" pitchFamily="34" charset="-122"/>
                <a:cs typeface="Calibri" pitchFamily="34" charset="-120"/>
              </a:rPr>
              <a:t>This is </a:t>
            </a:r>
            <a:r>
              <a:rPr lang="en-US" sz="1900" b="1" dirty="0">
                <a:solidFill>
                  <a:srgbClr val="FFFFFF"/>
                </a:solidFill>
                <a:latin typeface="Calibri" pitchFamily="34" charset="0"/>
                <a:ea typeface="Calibri" pitchFamily="34" charset="-122"/>
                <a:cs typeface="Calibri" pitchFamily="34" charset="-120"/>
              </a:rPr>
              <a:t>a representational limit, not a training problem</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75120" y="457200"/>
          <a:ext cx="4800600" cy="20574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411480">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x₁</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3B4366"/>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x₂</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3B4366"/>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XOR</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3B4366"/>
                    </a:solidFill>
                  </a:tcPr>
                </a:tc>
                <a:extLst>
                  <a:ext uri="{0D108BD9-81ED-4DB2-BD59-A6C34878D82A}">
                    <a16:rowId xmlns:a16="http://schemas.microsoft.com/office/drawing/2014/main" val="10000"/>
                  </a:ext>
                </a:extLst>
              </a:tr>
              <a:tr h="411480">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b="1" dirty="0">
                          <a:solidFill>
                            <a:srgbClr val="FF8A8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extLst>
                  <a:ext uri="{0D108BD9-81ED-4DB2-BD59-A6C34878D82A}">
                    <a16:rowId xmlns:a16="http://schemas.microsoft.com/office/drawing/2014/main" val="10001"/>
                  </a:ext>
                </a:extLst>
              </a:tr>
              <a:tr h="411480">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b="1" dirty="0">
                          <a:solidFill>
                            <a:srgbClr val="5FD0A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extLst>
                  <a:ext uri="{0D108BD9-81ED-4DB2-BD59-A6C34878D82A}">
                    <a16:rowId xmlns:a16="http://schemas.microsoft.com/office/drawing/2014/main" val="10002"/>
                  </a:ext>
                </a:extLst>
              </a:tr>
              <a:tr h="411480">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b="1" dirty="0">
                          <a:solidFill>
                            <a:srgbClr val="5FD0A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extLst>
                  <a:ext uri="{0D108BD9-81ED-4DB2-BD59-A6C34878D82A}">
                    <a16:rowId xmlns:a16="http://schemas.microsoft.com/office/drawing/2014/main" val="10003"/>
                  </a:ext>
                </a:extLst>
              </a:tr>
              <a:tr h="411480">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dirty="0">
                          <a:solidFill>
                            <a:srgbClr val="F2F2F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tc>
                  <a:txBody>
                    <a:bodyPr/>
                    <a:lstStyle/>
                    <a:p>
                      <a:pPr marL="0" indent="0" algn="ctr">
                        <a:buNone/>
                      </a:pPr>
                      <a:r>
                        <a:rPr lang="en-US" sz="1500" b="1" dirty="0">
                          <a:solidFill>
                            <a:srgbClr val="FF8A8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anchor="ctr">
                    <a:lnL w="9525" cap="flat" cmpd="sng" algn="ctr">
                      <a:solidFill>
                        <a:srgbClr val="3A4160"/>
                      </a:solidFill>
                      <a:prstDash val="solid"/>
                      <a:round/>
                      <a:headEnd type="none" w="med" len="med"/>
                      <a:tailEnd type="none" w="med" len="med"/>
                    </a:lnL>
                    <a:lnR w="9525" cap="flat" cmpd="sng" algn="ctr">
                      <a:solidFill>
                        <a:srgbClr val="3A4160"/>
                      </a:solidFill>
                      <a:prstDash val="solid"/>
                      <a:round/>
                      <a:headEnd type="none" w="med" len="med"/>
                      <a:tailEnd type="none" w="med" len="med"/>
                    </a:lnR>
                    <a:lnT w="9525" cap="flat" cmpd="sng" algn="ctr">
                      <a:solidFill>
                        <a:srgbClr val="3A4160"/>
                      </a:solidFill>
                      <a:prstDash val="solid"/>
                      <a:round/>
                      <a:headEnd type="none" w="med" len="med"/>
                      <a:tailEnd type="none" w="med" len="med"/>
                    </a:lnT>
                    <a:lnB w="9525" cap="flat" cmpd="sng" algn="ctr">
                      <a:solidFill>
                        <a:srgbClr val="3A4160"/>
                      </a:solidFill>
                      <a:prstDash val="solid"/>
                      <a:round/>
                      <a:headEnd type="none" w="med" len="med"/>
                      <a:tailEnd type="none" w="med" len="med"/>
                    </a:lnB>
                    <a:solidFill>
                      <a:srgbClr val="1C2036"/>
                    </a:solidFill>
                  </a:tcPr>
                </a:tc>
                <a:extLst>
                  <a:ext uri="{0D108BD9-81ED-4DB2-BD59-A6C34878D82A}">
                    <a16:rowId xmlns:a16="http://schemas.microsoft.com/office/drawing/2014/main" val="10004"/>
                  </a:ext>
                </a:extLst>
              </a:tr>
            </a:tbl>
          </a:graphicData>
        </a:graphic>
      </p:graphicFrame>
      <p:sp>
        <p:nvSpPr>
          <p:cNvPr id="9" name="Shape 6"/>
          <p:cNvSpPr/>
          <p:nvPr/>
        </p:nvSpPr>
        <p:spPr>
          <a:xfrm>
            <a:off x="6675120" y="2743200"/>
            <a:ext cx="4800600" cy="3611880"/>
          </a:xfrm>
          <a:prstGeom prst="roundRect">
            <a:avLst>
              <a:gd name="adj" fmla="val 3038"/>
            </a:avLst>
          </a:prstGeom>
          <a:solidFill>
            <a:srgbClr val="141829"/>
          </a:solidFill>
          <a:ln w="9525">
            <a:solidFill>
              <a:srgbClr val="141829"/>
            </a:solidFill>
            <a:prstDash val="solid"/>
          </a:ln>
        </p:spPr>
        <p:txBody>
          <a:bodyPr/>
          <a:lstStyle/>
          <a:p>
            <a:endParaRPr lang="en-IN"/>
          </a:p>
        </p:txBody>
      </p:sp>
      <p:sp>
        <p:nvSpPr>
          <p:cNvPr id="10" name="Shape 7"/>
          <p:cNvSpPr/>
          <p:nvPr/>
        </p:nvSpPr>
        <p:spPr>
          <a:xfrm>
            <a:off x="6915150" y="5632704"/>
            <a:ext cx="4368546" cy="0"/>
          </a:xfrm>
          <a:prstGeom prst="line">
            <a:avLst/>
          </a:prstGeom>
          <a:noFill/>
          <a:ln w="12700">
            <a:solidFill>
              <a:srgbClr val="6B76A6"/>
            </a:solidFill>
            <a:prstDash val="solid"/>
          </a:ln>
        </p:spPr>
        <p:txBody>
          <a:bodyPr/>
          <a:lstStyle/>
          <a:p>
            <a:endParaRPr lang="en-IN"/>
          </a:p>
        </p:txBody>
      </p:sp>
      <p:sp>
        <p:nvSpPr>
          <p:cNvPr id="11" name="Shape 8"/>
          <p:cNvSpPr/>
          <p:nvPr/>
        </p:nvSpPr>
        <p:spPr>
          <a:xfrm>
            <a:off x="7539228" y="2923794"/>
            <a:ext cx="0" cy="3250692"/>
          </a:xfrm>
          <a:prstGeom prst="line">
            <a:avLst/>
          </a:prstGeom>
          <a:noFill/>
          <a:ln w="12700">
            <a:solidFill>
              <a:srgbClr val="6B76A6"/>
            </a:solidFill>
            <a:prstDash val="solid"/>
          </a:ln>
        </p:spPr>
        <p:txBody>
          <a:bodyPr/>
          <a:lstStyle/>
          <a:p>
            <a:endParaRPr lang="en-IN"/>
          </a:p>
        </p:txBody>
      </p:sp>
      <p:sp>
        <p:nvSpPr>
          <p:cNvPr id="12" name="Text 9"/>
          <p:cNvSpPr txBox="1"/>
          <p:nvPr/>
        </p:nvSpPr>
        <p:spPr>
          <a:xfrm>
            <a:off x="11091672" y="5669280"/>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x₁</a:t>
            </a:r>
            <a:endParaRPr lang="en-US" sz="1450" dirty="0"/>
          </a:p>
        </p:txBody>
      </p:sp>
      <p:sp>
        <p:nvSpPr>
          <p:cNvPr id="13" name="Text 10"/>
          <p:cNvSpPr txBox="1"/>
          <p:nvPr/>
        </p:nvSpPr>
        <p:spPr>
          <a:xfrm>
            <a:off x="7612380" y="2887675"/>
            <a:ext cx="365760" cy="274320"/>
          </a:xfrm>
          <a:prstGeom prst="rect">
            <a:avLst/>
          </a:prstGeom>
          <a:noFill/>
          <a:ln/>
        </p:spPr>
        <p:txBody>
          <a:bodyPr wrap="square" lIns="0" tIns="0" rIns="0" bIns="0" rtlCol="0" anchor="t"/>
          <a:lstStyle/>
          <a:p>
            <a:pPr marL="0" indent="0">
              <a:buNone/>
            </a:pPr>
            <a:r>
              <a:rPr lang="en-US" sz="1450" dirty="0">
                <a:solidFill>
                  <a:srgbClr val="A9AFC8"/>
                </a:solidFill>
                <a:latin typeface="Calibri" pitchFamily="34" charset="0"/>
                <a:ea typeface="Calibri" pitchFamily="34" charset="-122"/>
                <a:cs typeface="Calibri" pitchFamily="34" charset="-120"/>
              </a:rPr>
              <a:t>x₂</a:t>
            </a:r>
            <a:endParaRPr lang="en-US" sz="1450" dirty="0"/>
          </a:p>
        </p:txBody>
      </p:sp>
      <p:sp>
        <p:nvSpPr>
          <p:cNvPr id="14" name="Shape 11"/>
          <p:cNvSpPr/>
          <p:nvPr/>
        </p:nvSpPr>
        <p:spPr>
          <a:xfrm>
            <a:off x="6984759" y="4711675"/>
            <a:ext cx="1901038" cy="1300277"/>
          </a:xfrm>
          <a:prstGeom prst="line">
            <a:avLst/>
          </a:prstGeom>
          <a:noFill/>
          <a:ln w="22225">
            <a:solidFill>
              <a:srgbClr val="A9AFC8"/>
            </a:solidFill>
            <a:prstDash val="dash"/>
          </a:ln>
        </p:spPr>
        <p:txBody>
          <a:bodyPr/>
          <a:lstStyle/>
          <a:p>
            <a:endParaRPr lang="en-IN"/>
          </a:p>
        </p:txBody>
      </p:sp>
      <p:sp>
        <p:nvSpPr>
          <p:cNvPr id="15" name="Shape 12"/>
          <p:cNvSpPr/>
          <p:nvPr/>
        </p:nvSpPr>
        <p:spPr>
          <a:xfrm>
            <a:off x="7301598" y="3844823"/>
            <a:ext cx="2851556" cy="1950415"/>
          </a:xfrm>
          <a:prstGeom prst="line">
            <a:avLst/>
          </a:prstGeom>
          <a:noFill/>
          <a:ln w="22225">
            <a:solidFill>
              <a:srgbClr val="A9AFC8"/>
            </a:solidFill>
            <a:prstDash val="dash"/>
          </a:ln>
        </p:spPr>
        <p:txBody>
          <a:bodyPr/>
          <a:lstStyle/>
          <a:p>
            <a:endParaRPr lang="en-IN"/>
          </a:p>
        </p:txBody>
      </p:sp>
      <p:sp>
        <p:nvSpPr>
          <p:cNvPr id="16" name="Shape 13"/>
          <p:cNvSpPr/>
          <p:nvPr/>
        </p:nvSpPr>
        <p:spPr>
          <a:xfrm>
            <a:off x="7356348" y="5449824"/>
            <a:ext cx="365760" cy="365760"/>
          </a:xfrm>
          <a:prstGeom prst="ellipse">
            <a:avLst/>
          </a:prstGeom>
          <a:solidFill>
            <a:srgbClr val="141829"/>
          </a:solidFill>
          <a:ln w="22225">
            <a:solidFill>
              <a:srgbClr val="F2F2F8"/>
            </a:solidFill>
            <a:prstDash val="solid"/>
          </a:ln>
        </p:spPr>
        <p:txBody>
          <a:bodyPr/>
          <a:lstStyle/>
          <a:p>
            <a:endParaRPr lang="en-IN"/>
          </a:p>
        </p:txBody>
      </p:sp>
      <p:sp>
        <p:nvSpPr>
          <p:cNvPr id="17" name="Text 14"/>
          <p:cNvSpPr txBox="1"/>
          <p:nvPr/>
        </p:nvSpPr>
        <p:spPr>
          <a:xfrm>
            <a:off x="7776972" y="5742432"/>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(0,0)</a:t>
            </a:r>
            <a:endParaRPr lang="en-US" sz="1300" dirty="0"/>
          </a:p>
        </p:txBody>
      </p:sp>
      <p:sp>
        <p:nvSpPr>
          <p:cNvPr id="18" name="Shape 15"/>
          <p:cNvSpPr/>
          <p:nvPr/>
        </p:nvSpPr>
        <p:spPr>
          <a:xfrm>
            <a:off x="8940546" y="5449824"/>
            <a:ext cx="365760" cy="365760"/>
          </a:xfrm>
          <a:prstGeom prst="ellipse">
            <a:avLst/>
          </a:prstGeom>
          <a:solidFill>
            <a:srgbClr val="6B76A6"/>
          </a:solidFill>
          <a:ln w="22225">
            <a:solidFill>
              <a:srgbClr val="6B76A6"/>
            </a:solidFill>
            <a:prstDash val="solid"/>
          </a:ln>
        </p:spPr>
        <p:txBody>
          <a:bodyPr/>
          <a:lstStyle/>
          <a:p>
            <a:endParaRPr lang="en-IN"/>
          </a:p>
        </p:txBody>
      </p:sp>
      <p:sp>
        <p:nvSpPr>
          <p:cNvPr id="19" name="Text 16"/>
          <p:cNvSpPr txBox="1"/>
          <p:nvPr/>
        </p:nvSpPr>
        <p:spPr>
          <a:xfrm>
            <a:off x="9361170" y="5742432"/>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(1,0)</a:t>
            </a:r>
            <a:endParaRPr lang="en-US" sz="1300" dirty="0"/>
          </a:p>
        </p:txBody>
      </p:sp>
      <p:sp>
        <p:nvSpPr>
          <p:cNvPr id="20" name="Shape 17"/>
          <p:cNvSpPr/>
          <p:nvPr/>
        </p:nvSpPr>
        <p:spPr>
          <a:xfrm>
            <a:off x="7356348" y="4366260"/>
            <a:ext cx="365760" cy="365760"/>
          </a:xfrm>
          <a:prstGeom prst="ellipse">
            <a:avLst/>
          </a:prstGeom>
          <a:solidFill>
            <a:srgbClr val="6B76A6"/>
          </a:solidFill>
          <a:ln w="22225">
            <a:solidFill>
              <a:srgbClr val="6B76A6"/>
            </a:solidFill>
            <a:prstDash val="solid"/>
          </a:ln>
        </p:spPr>
        <p:txBody>
          <a:bodyPr/>
          <a:lstStyle/>
          <a:p>
            <a:endParaRPr lang="en-IN"/>
          </a:p>
        </p:txBody>
      </p:sp>
      <p:sp>
        <p:nvSpPr>
          <p:cNvPr id="21" name="Text 18"/>
          <p:cNvSpPr txBox="1"/>
          <p:nvPr/>
        </p:nvSpPr>
        <p:spPr>
          <a:xfrm>
            <a:off x="7776972" y="4658868"/>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(0,1)</a:t>
            </a:r>
            <a:endParaRPr lang="en-US" sz="1300" dirty="0"/>
          </a:p>
        </p:txBody>
      </p:sp>
      <p:sp>
        <p:nvSpPr>
          <p:cNvPr id="22" name="Shape 19"/>
          <p:cNvSpPr/>
          <p:nvPr/>
        </p:nvSpPr>
        <p:spPr>
          <a:xfrm>
            <a:off x="8940546" y="4366260"/>
            <a:ext cx="365760" cy="365760"/>
          </a:xfrm>
          <a:prstGeom prst="ellipse">
            <a:avLst/>
          </a:prstGeom>
          <a:solidFill>
            <a:srgbClr val="141829"/>
          </a:solidFill>
          <a:ln w="22225">
            <a:solidFill>
              <a:srgbClr val="F2F2F8"/>
            </a:solidFill>
            <a:prstDash val="solid"/>
          </a:ln>
        </p:spPr>
        <p:txBody>
          <a:bodyPr/>
          <a:lstStyle/>
          <a:p>
            <a:endParaRPr lang="en-IN"/>
          </a:p>
        </p:txBody>
      </p:sp>
      <p:sp>
        <p:nvSpPr>
          <p:cNvPr id="23" name="Text 20"/>
          <p:cNvSpPr txBox="1"/>
          <p:nvPr/>
        </p:nvSpPr>
        <p:spPr>
          <a:xfrm>
            <a:off x="9361170" y="4658868"/>
            <a:ext cx="640080" cy="228600"/>
          </a:xfrm>
          <a:prstGeom prst="rect">
            <a:avLst/>
          </a:prstGeom>
          <a:noFill/>
          <a:ln/>
        </p:spPr>
        <p:txBody>
          <a:bodyPr wrap="square" lIns="0" tIns="0" rIns="0" bIns="0" rtlCol="0" anchor="t"/>
          <a:lstStyle/>
          <a:p>
            <a:pPr marL="0" indent="0">
              <a:buNone/>
            </a:pPr>
            <a:r>
              <a:rPr lang="en-US" sz="1300" dirty="0">
                <a:solidFill>
                  <a:srgbClr val="A9AFC8"/>
                </a:solidFill>
                <a:latin typeface="Calibri" pitchFamily="34" charset="0"/>
                <a:ea typeface="Calibri" pitchFamily="34" charset="-122"/>
                <a:cs typeface="Calibri" pitchFamily="34" charset="-120"/>
              </a:rPr>
              <a:t>(1,1)</a:t>
            </a:r>
            <a:endParaRPr lang="en-US" sz="1300" dirty="0"/>
          </a:p>
        </p:txBody>
      </p:sp>
      <p:sp>
        <p:nvSpPr>
          <p:cNvPr id="8" name="Text 21"/>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132080" y="269748"/>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Other Limitations</a:t>
            </a:r>
            <a:endParaRPr lang="en-US" sz="4000" dirty="0"/>
          </a:p>
        </p:txBody>
      </p:sp>
      <p:sp>
        <p:nvSpPr>
          <p:cNvPr id="25" name="Shape 23"/>
          <p:cNvSpPr/>
          <p:nvPr/>
        </p:nvSpPr>
        <p:spPr>
          <a:xfrm>
            <a:off x="1645920" y="1417320"/>
            <a:ext cx="4051808" cy="2103120"/>
          </a:xfrm>
          <a:prstGeom prst="roundRect">
            <a:avLst>
              <a:gd name="adj" fmla="val 5217"/>
            </a:avLst>
          </a:prstGeom>
          <a:solidFill>
            <a:srgbClr val="1C2036"/>
          </a:solidFill>
          <a:ln w="9525">
            <a:solidFill>
              <a:srgbClr val="343A58"/>
            </a:solidFill>
            <a:prstDash val="solid"/>
          </a:ln>
        </p:spPr>
        <p:txBody>
          <a:bodyPr/>
          <a:lstStyle/>
          <a:p>
            <a:endParaRPr lang="en-IN"/>
          </a:p>
        </p:txBody>
      </p:sp>
      <p:sp>
        <p:nvSpPr>
          <p:cNvPr id="26" name="Text 24"/>
          <p:cNvSpPr txBox="1"/>
          <p:nvPr/>
        </p:nvSpPr>
        <p:spPr>
          <a:xfrm>
            <a:off x="1874520" y="1645920"/>
            <a:ext cx="502920" cy="50292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7" name="Text 25"/>
          <p:cNvSpPr txBox="1"/>
          <p:nvPr/>
        </p:nvSpPr>
        <p:spPr>
          <a:xfrm>
            <a:off x="2560320" y="1645920"/>
            <a:ext cx="2377440" cy="502920"/>
          </a:xfrm>
          <a:prstGeom prst="rect">
            <a:avLst/>
          </a:prstGeom>
          <a:noFill/>
          <a:ln/>
        </p:spPr>
        <p:txBody>
          <a:bodyPr wrap="square" lIns="0" tIns="0" rIns="0" bIns="0" rtlCol="0" anchor="ctr"/>
          <a:lstStyle/>
          <a:p>
            <a:pPr marL="0" indent="0">
              <a:buNone/>
            </a:pPr>
            <a:r>
              <a:rPr lang="en-US" sz="2150" b="1" dirty="0">
                <a:solidFill>
                  <a:srgbClr val="F2F2F8"/>
                </a:solidFill>
                <a:latin typeface="Calibri" pitchFamily="34" charset="0"/>
                <a:ea typeface="Calibri" pitchFamily="34" charset="-122"/>
                <a:cs typeface="Calibri" pitchFamily="34" charset="-120"/>
              </a:rPr>
              <a:t>Hard threshold</a:t>
            </a:r>
            <a:endParaRPr lang="en-US" sz="2150" dirty="0"/>
          </a:p>
        </p:txBody>
      </p:sp>
      <p:sp>
        <p:nvSpPr>
          <p:cNvPr id="28" name="Text 26"/>
          <p:cNvSpPr txBox="1"/>
          <p:nvPr/>
        </p:nvSpPr>
        <p:spPr>
          <a:xfrm>
            <a:off x="2047240" y="2441448"/>
            <a:ext cx="3017520" cy="1097280"/>
          </a:xfrm>
          <a:prstGeom prst="rect">
            <a:avLst/>
          </a:prstGeom>
          <a:noFill/>
          <a:ln/>
        </p:spPr>
        <p:txBody>
          <a:bodyPr wrap="square" lIns="0" tIns="0" rIns="0" bIns="0" rtlCol="0" anchor="t"/>
          <a:lstStyle/>
          <a:p>
            <a:pPr marL="0" indent="0">
              <a:buNone/>
            </a:pPr>
            <a:r>
              <a:rPr lang="en-US" sz="1900" dirty="0">
                <a:solidFill>
                  <a:srgbClr val="C9CCE0"/>
                </a:solidFill>
                <a:latin typeface="Calibri" pitchFamily="34" charset="0"/>
                <a:ea typeface="Calibri" pitchFamily="34" charset="-122"/>
                <a:cs typeface="Calibri" pitchFamily="34" charset="-120"/>
              </a:rPr>
              <a:t>Abrupt output, no continuous probability-like score.</a:t>
            </a:r>
            <a:endParaRPr lang="en-US" sz="1900" dirty="0"/>
          </a:p>
        </p:txBody>
      </p:sp>
      <p:sp>
        <p:nvSpPr>
          <p:cNvPr id="29" name="Shape 27"/>
          <p:cNvSpPr/>
          <p:nvPr/>
        </p:nvSpPr>
        <p:spPr>
          <a:xfrm>
            <a:off x="6715760" y="1435608"/>
            <a:ext cx="3790696" cy="2103120"/>
          </a:xfrm>
          <a:prstGeom prst="roundRect">
            <a:avLst>
              <a:gd name="adj" fmla="val 5217"/>
            </a:avLst>
          </a:prstGeom>
          <a:solidFill>
            <a:srgbClr val="1C2036"/>
          </a:solidFill>
          <a:ln w="9525">
            <a:solidFill>
              <a:srgbClr val="343A58"/>
            </a:solidFill>
            <a:prstDash val="solid"/>
          </a:ln>
        </p:spPr>
        <p:txBody>
          <a:bodyPr/>
          <a:lstStyle/>
          <a:p>
            <a:endParaRPr lang="en-IN"/>
          </a:p>
        </p:txBody>
      </p:sp>
      <p:sp>
        <p:nvSpPr>
          <p:cNvPr id="30" name="Text 28"/>
          <p:cNvSpPr txBox="1"/>
          <p:nvPr/>
        </p:nvSpPr>
        <p:spPr>
          <a:xfrm>
            <a:off x="7008876" y="1632204"/>
            <a:ext cx="502920" cy="50292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1" name="Text 29"/>
          <p:cNvSpPr txBox="1"/>
          <p:nvPr/>
        </p:nvSpPr>
        <p:spPr>
          <a:xfrm>
            <a:off x="7799070" y="1645920"/>
            <a:ext cx="2377440" cy="502920"/>
          </a:xfrm>
          <a:prstGeom prst="rect">
            <a:avLst/>
          </a:prstGeom>
          <a:noFill/>
          <a:ln/>
        </p:spPr>
        <p:txBody>
          <a:bodyPr wrap="square" lIns="0" tIns="0" rIns="0" bIns="0" rtlCol="0" anchor="ctr"/>
          <a:lstStyle/>
          <a:p>
            <a:pPr marL="0" indent="0">
              <a:buNone/>
            </a:pPr>
            <a:r>
              <a:rPr lang="en-US" sz="2150" b="1" dirty="0">
                <a:solidFill>
                  <a:srgbClr val="F2F2F8"/>
                </a:solidFill>
                <a:latin typeface="Calibri" pitchFamily="34" charset="0"/>
                <a:ea typeface="Calibri" pitchFamily="34" charset="-122"/>
                <a:cs typeface="Calibri" pitchFamily="34" charset="-120"/>
              </a:rPr>
              <a:t>Limited capacity</a:t>
            </a:r>
            <a:endParaRPr lang="en-US" sz="2150" dirty="0"/>
          </a:p>
        </p:txBody>
      </p:sp>
      <p:sp>
        <p:nvSpPr>
          <p:cNvPr id="32" name="Text 30"/>
          <p:cNvSpPr txBox="1"/>
          <p:nvPr/>
        </p:nvSpPr>
        <p:spPr>
          <a:xfrm>
            <a:off x="7008876" y="2395728"/>
            <a:ext cx="3017520" cy="1097280"/>
          </a:xfrm>
          <a:prstGeom prst="rect">
            <a:avLst/>
          </a:prstGeom>
          <a:noFill/>
          <a:ln/>
        </p:spPr>
        <p:txBody>
          <a:bodyPr wrap="square" lIns="0" tIns="0" rIns="0" bIns="0" rtlCol="0" anchor="t"/>
          <a:lstStyle/>
          <a:p>
            <a:pPr marL="0" indent="0">
              <a:buNone/>
            </a:pPr>
            <a:r>
              <a:rPr lang="en-US" sz="1900" dirty="0">
                <a:solidFill>
                  <a:srgbClr val="C9CCE0"/>
                </a:solidFill>
                <a:latin typeface="Calibri" pitchFamily="34" charset="0"/>
                <a:ea typeface="Calibri" pitchFamily="34" charset="-122"/>
                <a:cs typeface="Calibri" pitchFamily="34" charset="-120"/>
              </a:rPr>
              <a:t>One threshold unit cannot model every relationship.</a:t>
            </a:r>
            <a:endParaRPr lang="en-US" sz="1900" dirty="0"/>
          </a:p>
        </p:txBody>
      </p:sp>
      <p:sp>
        <p:nvSpPr>
          <p:cNvPr id="33" name="Shape 31"/>
          <p:cNvSpPr/>
          <p:nvPr/>
        </p:nvSpPr>
        <p:spPr>
          <a:xfrm>
            <a:off x="1664208" y="3703320"/>
            <a:ext cx="4033520" cy="2103120"/>
          </a:xfrm>
          <a:prstGeom prst="roundRect">
            <a:avLst>
              <a:gd name="adj" fmla="val 5217"/>
            </a:avLst>
          </a:prstGeom>
          <a:solidFill>
            <a:srgbClr val="1C2036"/>
          </a:solidFill>
          <a:ln w="9525">
            <a:solidFill>
              <a:srgbClr val="343A58"/>
            </a:solidFill>
            <a:prstDash val="solid"/>
          </a:ln>
        </p:spPr>
        <p:txBody>
          <a:bodyPr/>
          <a:lstStyle/>
          <a:p>
            <a:endParaRPr lang="en-IN"/>
          </a:p>
        </p:txBody>
      </p:sp>
      <p:sp>
        <p:nvSpPr>
          <p:cNvPr id="34" name="Text 32"/>
          <p:cNvSpPr txBox="1"/>
          <p:nvPr/>
        </p:nvSpPr>
        <p:spPr>
          <a:xfrm>
            <a:off x="1892808" y="3931920"/>
            <a:ext cx="502920" cy="50292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5" name="Text 33"/>
          <p:cNvSpPr txBox="1"/>
          <p:nvPr/>
        </p:nvSpPr>
        <p:spPr>
          <a:xfrm>
            <a:off x="2578608" y="3931920"/>
            <a:ext cx="2377440" cy="502920"/>
          </a:xfrm>
          <a:prstGeom prst="rect">
            <a:avLst/>
          </a:prstGeom>
          <a:noFill/>
          <a:ln/>
        </p:spPr>
        <p:txBody>
          <a:bodyPr wrap="square" lIns="0" tIns="0" rIns="0" bIns="0" rtlCol="0" anchor="ctr"/>
          <a:lstStyle/>
          <a:p>
            <a:pPr marL="0" indent="0">
              <a:buNone/>
            </a:pPr>
            <a:r>
              <a:rPr lang="en-US" sz="2150" b="1" dirty="0">
                <a:solidFill>
                  <a:srgbClr val="F2F2F8"/>
                </a:solidFill>
                <a:latin typeface="Calibri" pitchFamily="34" charset="0"/>
                <a:ea typeface="Calibri" pitchFamily="34" charset="-122"/>
                <a:cs typeface="Calibri" pitchFamily="34" charset="-120"/>
              </a:rPr>
              <a:t>Order of examples</a:t>
            </a:r>
            <a:endParaRPr lang="en-US" sz="2150" dirty="0"/>
          </a:p>
        </p:txBody>
      </p:sp>
      <p:sp>
        <p:nvSpPr>
          <p:cNvPr id="36" name="Text 34"/>
          <p:cNvSpPr txBox="1"/>
          <p:nvPr/>
        </p:nvSpPr>
        <p:spPr>
          <a:xfrm>
            <a:off x="2067560" y="4699000"/>
            <a:ext cx="3017520" cy="1097280"/>
          </a:xfrm>
          <a:prstGeom prst="rect">
            <a:avLst/>
          </a:prstGeom>
          <a:noFill/>
          <a:ln/>
        </p:spPr>
        <p:txBody>
          <a:bodyPr wrap="square" lIns="0" tIns="0" rIns="0" bIns="0" rtlCol="0" anchor="t"/>
          <a:lstStyle/>
          <a:p>
            <a:pPr marL="0" indent="0">
              <a:buNone/>
            </a:pPr>
            <a:r>
              <a:rPr lang="en-US" sz="1900" dirty="0">
                <a:solidFill>
                  <a:srgbClr val="C9CCE0"/>
                </a:solidFill>
                <a:latin typeface="Calibri" pitchFamily="34" charset="0"/>
                <a:ea typeface="Calibri" pitchFamily="34" charset="-122"/>
                <a:cs typeface="Calibri" pitchFamily="34" charset="-120"/>
              </a:rPr>
              <a:t>Presentation order shapes the boundary found.</a:t>
            </a:r>
            <a:endParaRPr lang="en-US" sz="1900" dirty="0"/>
          </a:p>
        </p:txBody>
      </p:sp>
      <p:sp>
        <p:nvSpPr>
          <p:cNvPr id="37" name="Shape 35"/>
          <p:cNvSpPr/>
          <p:nvPr/>
        </p:nvSpPr>
        <p:spPr>
          <a:xfrm>
            <a:off x="6725920" y="3721608"/>
            <a:ext cx="3800856" cy="2103120"/>
          </a:xfrm>
          <a:prstGeom prst="roundRect">
            <a:avLst>
              <a:gd name="adj" fmla="val 5217"/>
            </a:avLst>
          </a:prstGeom>
          <a:solidFill>
            <a:srgbClr val="1C2036"/>
          </a:solidFill>
          <a:ln w="9525">
            <a:solidFill>
              <a:srgbClr val="343A58"/>
            </a:solidFill>
            <a:prstDash val="solid"/>
          </a:ln>
        </p:spPr>
        <p:txBody>
          <a:bodyPr/>
          <a:lstStyle/>
          <a:p>
            <a:endParaRPr lang="en-IN"/>
          </a:p>
        </p:txBody>
      </p:sp>
      <p:sp>
        <p:nvSpPr>
          <p:cNvPr id="38" name="Text 36"/>
          <p:cNvSpPr txBox="1"/>
          <p:nvPr/>
        </p:nvSpPr>
        <p:spPr>
          <a:xfrm>
            <a:off x="7008876" y="3967988"/>
            <a:ext cx="502920" cy="502920"/>
          </a:xfrm>
          <a:prstGeom prst="ellipse">
            <a:avLst/>
          </a:prstGeom>
          <a:solidFill>
            <a:srgbClr val="6B76A6"/>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9" name="Text 37"/>
          <p:cNvSpPr txBox="1"/>
          <p:nvPr/>
        </p:nvSpPr>
        <p:spPr>
          <a:xfrm>
            <a:off x="7793736" y="3970528"/>
            <a:ext cx="2377440" cy="502920"/>
          </a:xfrm>
          <a:prstGeom prst="rect">
            <a:avLst/>
          </a:prstGeom>
          <a:noFill/>
          <a:ln/>
        </p:spPr>
        <p:txBody>
          <a:bodyPr wrap="square" lIns="0" tIns="0" rIns="0" bIns="0" rtlCol="0" anchor="ctr"/>
          <a:lstStyle/>
          <a:p>
            <a:pPr marL="0" indent="0">
              <a:buNone/>
            </a:pPr>
            <a:r>
              <a:rPr lang="en-US" sz="2150" b="1" dirty="0">
                <a:solidFill>
                  <a:srgbClr val="F2F2F8"/>
                </a:solidFill>
                <a:latin typeface="Calibri" pitchFamily="34" charset="0"/>
                <a:ea typeface="Calibri" pitchFamily="34" charset="-122"/>
                <a:cs typeface="Calibri" pitchFamily="34" charset="-120"/>
              </a:rPr>
              <a:t>Generalization</a:t>
            </a:r>
            <a:endParaRPr lang="en-US" sz="2150" dirty="0"/>
          </a:p>
        </p:txBody>
      </p:sp>
      <p:sp>
        <p:nvSpPr>
          <p:cNvPr id="40" name="Text 38"/>
          <p:cNvSpPr txBox="1"/>
          <p:nvPr/>
        </p:nvSpPr>
        <p:spPr>
          <a:xfrm>
            <a:off x="7117588" y="4727448"/>
            <a:ext cx="3017520" cy="1097280"/>
          </a:xfrm>
          <a:prstGeom prst="rect">
            <a:avLst/>
          </a:prstGeom>
          <a:noFill/>
          <a:ln/>
        </p:spPr>
        <p:txBody>
          <a:bodyPr wrap="square" lIns="0" tIns="0" rIns="0" bIns="0" rtlCol="0" anchor="t"/>
          <a:lstStyle/>
          <a:p>
            <a:pPr marL="0" indent="0">
              <a:buNone/>
            </a:pPr>
            <a:r>
              <a:rPr lang="en-US" sz="1900" dirty="0">
                <a:solidFill>
                  <a:srgbClr val="C9CCE0"/>
                </a:solidFill>
                <a:latin typeface="Calibri" pitchFamily="34" charset="0"/>
                <a:ea typeface="Calibri" pitchFamily="34" charset="-122"/>
                <a:cs typeface="Calibri" pitchFamily="34" charset="-120"/>
              </a:rPr>
              <a:t>Fitting training data does not ensure unseen accuracy.</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0" y="411480"/>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Overcoming the Limitations</a:t>
            </a:r>
            <a:endParaRPr lang="en-US" sz="4000" dirty="0"/>
          </a:p>
        </p:txBody>
      </p:sp>
      <p:sp>
        <p:nvSpPr>
          <p:cNvPr id="17" name="Shape 15"/>
          <p:cNvSpPr/>
          <p:nvPr/>
        </p:nvSpPr>
        <p:spPr>
          <a:xfrm>
            <a:off x="731520" y="146304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1005840" y="1737360"/>
            <a:ext cx="594360" cy="594360"/>
          </a:xfrm>
          <a:prstGeom prst="ellipse">
            <a:avLst/>
          </a:prstGeom>
          <a:solidFill>
            <a:srgbClr val="6B76A6"/>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9" name="Text 17"/>
          <p:cNvSpPr txBox="1"/>
          <p:nvPr/>
        </p:nvSpPr>
        <p:spPr>
          <a:xfrm>
            <a:off x="1783080" y="1737360"/>
            <a:ext cx="4023360" cy="594360"/>
          </a:xfrm>
          <a:prstGeom prst="rect">
            <a:avLst/>
          </a:prstGeom>
          <a:noFill/>
          <a:ln/>
        </p:spPr>
        <p:txBody>
          <a:bodyPr wrap="square" lIns="0" tIns="0" rIns="0" bIns="0" rtlCol="0" anchor="ctr"/>
          <a:lstStyle/>
          <a:p>
            <a:pPr marL="0" indent="0">
              <a:buNone/>
            </a:pPr>
            <a:r>
              <a:rPr lang="en-US" sz="2500" b="1" dirty="0">
                <a:solidFill>
                  <a:srgbClr val="F2F2F8"/>
                </a:solidFill>
                <a:latin typeface="Calibri" pitchFamily="34" charset="0"/>
                <a:ea typeface="Calibri" pitchFamily="34" charset="-122"/>
                <a:cs typeface="Calibri" pitchFamily="34" charset="-120"/>
              </a:rPr>
              <a:t>Multilayer perceptrons</a:t>
            </a:r>
            <a:endParaRPr lang="en-US" sz="2500" dirty="0"/>
          </a:p>
        </p:txBody>
      </p:sp>
      <p:sp>
        <p:nvSpPr>
          <p:cNvPr id="20" name="Text 18"/>
          <p:cNvSpPr txBox="1"/>
          <p:nvPr/>
        </p:nvSpPr>
        <p:spPr>
          <a:xfrm>
            <a:off x="1005840" y="2514600"/>
            <a:ext cx="4709160" cy="1097280"/>
          </a:xfrm>
          <a:prstGeom prst="rect">
            <a:avLst/>
          </a:prstGeom>
          <a:noFill/>
          <a:ln/>
        </p:spPr>
        <p:txBody>
          <a:bodyPr wrap="square" lIns="0" tIns="0" rIns="0" bIns="0" rtlCol="0" anchor="t"/>
          <a:lstStyle/>
          <a:p>
            <a:pPr marL="0" indent="0">
              <a:buNone/>
            </a:pPr>
            <a:r>
              <a:rPr lang="en-US" sz="2050" dirty="0">
                <a:solidFill>
                  <a:srgbClr val="C9CCE0"/>
                </a:solidFill>
                <a:latin typeface="Calibri" pitchFamily="34" charset="0"/>
                <a:ea typeface="Calibri" pitchFamily="34" charset="-122"/>
                <a:cs typeface="Calibri" pitchFamily="34" charset="-120"/>
              </a:rPr>
              <a:t>Hidden layers plus nonlinear activations can form nonlinear boundaries, including XOR.</a:t>
            </a:r>
            <a:endParaRPr lang="en-US" sz="2050" dirty="0"/>
          </a:p>
        </p:txBody>
      </p:sp>
      <p:sp>
        <p:nvSpPr>
          <p:cNvPr id="21" name="Shape 19"/>
          <p:cNvSpPr/>
          <p:nvPr/>
        </p:nvSpPr>
        <p:spPr>
          <a:xfrm>
            <a:off x="6199632" y="146304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2" name="Text 20"/>
          <p:cNvSpPr txBox="1"/>
          <p:nvPr/>
        </p:nvSpPr>
        <p:spPr>
          <a:xfrm>
            <a:off x="6473952" y="1737360"/>
            <a:ext cx="594360" cy="594360"/>
          </a:xfrm>
          <a:prstGeom prst="ellipse">
            <a:avLst/>
          </a:prstGeom>
          <a:solidFill>
            <a:srgbClr val="3B4366"/>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3" name="Text 21"/>
          <p:cNvSpPr txBox="1"/>
          <p:nvPr/>
        </p:nvSpPr>
        <p:spPr>
          <a:xfrm>
            <a:off x="7251192" y="1737360"/>
            <a:ext cx="4023360" cy="594360"/>
          </a:xfrm>
          <a:prstGeom prst="rect">
            <a:avLst/>
          </a:prstGeom>
          <a:noFill/>
          <a:ln/>
        </p:spPr>
        <p:txBody>
          <a:bodyPr wrap="square" lIns="0" tIns="0" rIns="0" bIns="0" rtlCol="0" anchor="ctr"/>
          <a:lstStyle/>
          <a:p>
            <a:pPr marL="0" indent="0">
              <a:buNone/>
            </a:pPr>
            <a:r>
              <a:rPr lang="en-US" sz="2500" b="1" dirty="0">
                <a:solidFill>
                  <a:srgbClr val="F2F2F8"/>
                </a:solidFill>
                <a:latin typeface="Calibri" pitchFamily="34" charset="0"/>
                <a:ea typeface="Calibri" pitchFamily="34" charset="-122"/>
                <a:cs typeface="Calibri" pitchFamily="34" charset="-120"/>
              </a:rPr>
              <a:t>Nonlinear activations</a:t>
            </a:r>
            <a:endParaRPr lang="en-US" sz="2500" dirty="0"/>
          </a:p>
        </p:txBody>
      </p:sp>
      <p:sp>
        <p:nvSpPr>
          <p:cNvPr id="24" name="Text 22"/>
          <p:cNvSpPr txBox="1"/>
          <p:nvPr/>
        </p:nvSpPr>
        <p:spPr>
          <a:xfrm>
            <a:off x="6473952" y="2514600"/>
            <a:ext cx="4709160" cy="1097280"/>
          </a:xfrm>
          <a:prstGeom prst="rect">
            <a:avLst/>
          </a:prstGeom>
          <a:noFill/>
          <a:ln/>
        </p:spPr>
        <p:txBody>
          <a:bodyPr wrap="square" lIns="0" tIns="0" rIns="0" bIns="0" rtlCol="0" anchor="t"/>
          <a:lstStyle/>
          <a:p>
            <a:pPr marL="0" indent="0">
              <a:buNone/>
            </a:pPr>
            <a:r>
              <a:rPr lang="en-US" sz="2050" dirty="0">
                <a:solidFill>
                  <a:srgbClr val="C9CCE0"/>
                </a:solidFill>
                <a:latin typeface="Calibri" pitchFamily="34" charset="0"/>
                <a:ea typeface="Calibri" pitchFamily="34" charset="-122"/>
                <a:cs typeface="Calibri" pitchFamily="34" charset="-120"/>
              </a:rPr>
              <a:t>ReLU, sigmoid, tanh. Stacked linear layers alone stay linear.</a:t>
            </a:r>
            <a:endParaRPr lang="en-US" sz="2050" dirty="0"/>
          </a:p>
        </p:txBody>
      </p:sp>
      <p:sp>
        <p:nvSpPr>
          <p:cNvPr id="25" name="Shape 23"/>
          <p:cNvSpPr/>
          <p:nvPr/>
        </p:nvSpPr>
        <p:spPr>
          <a:xfrm>
            <a:off x="731520" y="393192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6" name="Text 24"/>
          <p:cNvSpPr txBox="1"/>
          <p:nvPr/>
        </p:nvSpPr>
        <p:spPr>
          <a:xfrm>
            <a:off x="1005840" y="4206240"/>
            <a:ext cx="594360" cy="594360"/>
          </a:xfrm>
          <a:prstGeom prst="ellipse">
            <a:avLst/>
          </a:prstGeom>
          <a:solidFill>
            <a:srgbClr val="6B76A6"/>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7" name="Text 25"/>
          <p:cNvSpPr txBox="1"/>
          <p:nvPr/>
        </p:nvSpPr>
        <p:spPr>
          <a:xfrm>
            <a:off x="1783080" y="4206240"/>
            <a:ext cx="4023360" cy="594360"/>
          </a:xfrm>
          <a:prstGeom prst="rect">
            <a:avLst/>
          </a:prstGeom>
          <a:noFill/>
          <a:ln/>
        </p:spPr>
        <p:txBody>
          <a:bodyPr wrap="square" lIns="0" tIns="0" rIns="0" bIns="0" rtlCol="0" anchor="ctr"/>
          <a:lstStyle/>
          <a:p>
            <a:pPr marL="0" indent="0">
              <a:buNone/>
            </a:pPr>
            <a:r>
              <a:rPr lang="en-US" sz="2500" b="1" dirty="0">
                <a:solidFill>
                  <a:srgbClr val="F2F2F8"/>
                </a:solidFill>
                <a:latin typeface="Calibri" pitchFamily="34" charset="0"/>
                <a:ea typeface="Calibri" pitchFamily="34" charset="-122"/>
                <a:cs typeface="Calibri" pitchFamily="34" charset="-120"/>
              </a:rPr>
              <a:t>Feature engineering</a:t>
            </a:r>
            <a:endParaRPr lang="en-US" sz="2500" dirty="0"/>
          </a:p>
        </p:txBody>
      </p:sp>
      <p:sp>
        <p:nvSpPr>
          <p:cNvPr id="28" name="Text 26"/>
          <p:cNvSpPr txBox="1"/>
          <p:nvPr/>
        </p:nvSpPr>
        <p:spPr>
          <a:xfrm>
            <a:off x="1005840" y="4983480"/>
            <a:ext cx="4709160" cy="1097280"/>
          </a:xfrm>
          <a:prstGeom prst="rect">
            <a:avLst/>
          </a:prstGeom>
          <a:noFill/>
          <a:ln/>
        </p:spPr>
        <p:txBody>
          <a:bodyPr wrap="square" lIns="0" tIns="0" rIns="0" bIns="0" rtlCol="0" anchor="t"/>
          <a:lstStyle/>
          <a:p>
            <a:pPr marL="0" indent="0">
              <a:buNone/>
            </a:pPr>
            <a:r>
              <a:rPr lang="en-US" sz="2050" dirty="0">
                <a:solidFill>
                  <a:srgbClr val="C9CCE0"/>
                </a:solidFill>
                <a:latin typeface="Calibri" pitchFamily="34" charset="0"/>
                <a:ea typeface="Calibri" pitchFamily="34" charset="-122"/>
                <a:cs typeface="Calibri" pitchFamily="34" charset="-120"/>
              </a:rPr>
              <a:t>A good input transformation can make classes linearly separable.</a:t>
            </a:r>
            <a:endParaRPr lang="en-US" sz="2050" dirty="0"/>
          </a:p>
        </p:txBody>
      </p:sp>
      <p:sp>
        <p:nvSpPr>
          <p:cNvPr id="29" name="Shape 27"/>
          <p:cNvSpPr/>
          <p:nvPr/>
        </p:nvSpPr>
        <p:spPr>
          <a:xfrm>
            <a:off x="6199632" y="393192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30" name="Text 28"/>
          <p:cNvSpPr txBox="1"/>
          <p:nvPr/>
        </p:nvSpPr>
        <p:spPr>
          <a:xfrm>
            <a:off x="6473952" y="4206240"/>
            <a:ext cx="594360" cy="594360"/>
          </a:xfrm>
          <a:prstGeom prst="ellipse">
            <a:avLst/>
          </a:prstGeom>
          <a:solidFill>
            <a:srgbClr val="3B4366"/>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9"/>
          <p:cNvSpPr txBox="1"/>
          <p:nvPr/>
        </p:nvSpPr>
        <p:spPr>
          <a:xfrm>
            <a:off x="7251192" y="4206240"/>
            <a:ext cx="4023360" cy="594360"/>
          </a:xfrm>
          <a:prstGeom prst="rect">
            <a:avLst/>
          </a:prstGeom>
          <a:noFill/>
          <a:ln/>
        </p:spPr>
        <p:txBody>
          <a:bodyPr wrap="square" lIns="0" tIns="0" rIns="0" bIns="0" rtlCol="0" anchor="ctr"/>
          <a:lstStyle/>
          <a:p>
            <a:pPr marL="0" indent="0">
              <a:buNone/>
            </a:pPr>
            <a:r>
              <a:rPr lang="en-US" sz="2500" b="1" dirty="0">
                <a:solidFill>
                  <a:srgbClr val="F2F2F8"/>
                </a:solidFill>
                <a:latin typeface="Calibri" pitchFamily="34" charset="0"/>
                <a:ea typeface="Calibri" pitchFamily="34" charset="-122"/>
                <a:cs typeface="Calibri" pitchFamily="34" charset="-120"/>
              </a:rPr>
              <a:t>Other classifiers</a:t>
            </a:r>
            <a:endParaRPr lang="en-US" sz="2500" dirty="0"/>
          </a:p>
        </p:txBody>
      </p:sp>
      <p:sp>
        <p:nvSpPr>
          <p:cNvPr id="32" name="Text 30"/>
          <p:cNvSpPr txBox="1"/>
          <p:nvPr/>
        </p:nvSpPr>
        <p:spPr>
          <a:xfrm>
            <a:off x="6473952" y="4983480"/>
            <a:ext cx="4709160" cy="1097280"/>
          </a:xfrm>
          <a:prstGeom prst="rect">
            <a:avLst/>
          </a:prstGeom>
          <a:noFill/>
          <a:ln/>
        </p:spPr>
        <p:txBody>
          <a:bodyPr wrap="square" lIns="0" tIns="0" rIns="0" bIns="0" rtlCol="0" anchor="t"/>
          <a:lstStyle/>
          <a:p>
            <a:pPr marL="0" indent="0">
              <a:buNone/>
            </a:pPr>
            <a:r>
              <a:rPr lang="en-US" sz="2050" dirty="0">
                <a:solidFill>
                  <a:srgbClr val="C9CCE0"/>
                </a:solidFill>
                <a:latin typeface="Calibri" pitchFamily="34" charset="0"/>
                <a:ea typeface="Calibri" pitchFamily="34" charset="-122"/>
                <a:cs typeface="Calibri" pitchFamily="34" charset="-120"/>
              </a:rPr>
              <a:t>Kernel SVMs, decision trees, random forests or neural networks, depending on the task.</a:t>
            </a:r>
            <a:endParaRPr lang="en-US" sz="2050" dirty="0"/>
          </a:p>
        </p:txBody>
      </p:sp>
      <p:sp>
        <p:nvSpPr>
          <p:cNvPr id="33" name="Text 31"/>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457200"/>
            <a:ext cx="10725912" cy="5943600"/>
          </a:xfrm>
          <a:prstGeom prst="roundRect">
            <a:avLst>
              <a:gd name="adj" fmla="val 1846"/>
            </a:avLst>
          </a:prstGeom>
          <a:solidFill>
            <a:srgbClr val="1C2036"/>
          </a:solidFill>
          <a:ln w="9525">
            <a:solidFill>
              <a:srgbClr val="343A58"/>
            </a:solidFill>
            <a:prstDash val="solid"/>
          </a:ln>
        </p:spPr>
        <p:txBody>
          <a:bodyPr/>
          <a:lstStyle/>
          <a:p>
            <a:endParaRPr lang="en-IN"/>
          </a:p>
        </p:txBody>
      </p:sp>
      <p:pic>
        <p:nvPicPr>
          <p:cNvPr id="3" name="Image 0" descr="a/beyond.png"/>
          <p:cNvPicPr>
            <a:picLocks noChangeAspect="1"/>
          </p:cNvPicPr>
          <p:nvPr/>
        </p:nvPicPr>
        <p:blipFill>
          <a:blip r:embed="rId4"/>
          <a:stretch>
            <a:fillRect/>
          </a:stretch>
        </p:blipFill>
        <p:spPr>
          <a:xfrm>
            <a:off x="1097280" y="621792"/>
            <a:ext cx="10059162" cy="561441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0" y="411480"/>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Applications</a:t>
            </a:r>
            <a:endParaRPr lang="en-US" sz="4000" dirty="0"/>
          </a:p>
        </p:txBody>
      </p:sp>
      <p:sp>
        <p:nvSpPr>
          <p:cNvPr id="17" name="Shape 15"/>
          <p:cNvSpPr/>
          <p:nvPr/>
        </p:nvSpPr>
        <p:spPr>
          <a:xfrm>
            <a:off x="731520" y="146304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1005840" y="1737360"/>
            <a:ext cx="640080" cy="640080"/>
          </a:xfrm>
          <a:prstGeom prst="ellipse">
            <a:avLst/>
          </a:prstGeom>
          <a:solidFill>
            <a:srgbClr val="6B76A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9" name="Text 17"/>
          <p:cNvSpPr txBox="1"/>
          <p:nvPr/>
        </p:nvSpPr>
        <p:spPr>
          <a:xfrm>
            <a:off x="1856232" y="1737360"/>
            <a:ext cx="3904488" cy="1828800"/>
          </a:xfrm>
          <a:prstGeom prst="rect">
            <a:avLst/>
          </a:prstGeom>
          <a:noFill/>
          <a:ln/>
        </p:spPr>
        <p:txBody>
          <a:bodyPr wrap="square" lIns="0" tIns="0" rIns="0" bIns="0" rtlCol="0" anchor="t"/>
          <a:lstStyle/>
          <a:p>
            <a:r>
              <a:rPr lang="en-US" sz="2200" b="1" dirty="0">
                <a:solidFill>
                  <a:srgbClr val="F2F2F8"/>
                </a:solidFill>
                <a:latin typeface="Calibri" pitchFamily="34" charset="0"/>
                <a:ea typeface="Calibri" pitchFamily="34" charset="-122"/>
                <a:cs typeface="Calibri" pitchFamily="34" charset="-120"/>
              </a:rPr>
              <a:t>Perceptron as a Binary Classifier</a:t>
            </a:r>
          </a:p>
          <a:p>
            <a:endParaRPr lang="en-US" sz="1900" dirty="0">
              <a:solidFill>
                <a:srgbClr val="C9CCE0"/>
              </a:solidFill>
              <a:latin typeface="Calibri" pitchFamily="34" charset="0"/>
              <a:ea typeface="Calibri" pitchFamily="34" charset="-122"/>
              <a:cs typeface="Calibri" pitchFamily="34" charset="-120"/>
            </a:endParaRPr>
          </a:p>
          <a:p>
            <a:pPr marL="0" indent="0">
              <a:buNone/>
            </a:pPr>
            <a:r>
              <a:rPr lang="en-US" sz="1900" dirty="0">
                <a:solidFill>
                  <a:srgbClr val="C9CCE0"/>
                </a:solidFill>
                <a:latin typeface="Calibri" pitchFamily="34" charset="0"/>
                <a:ea typeface="Calibri" pitchFamily="34" charset="-122"/>
                <a:cs typeface="Calibri" pitchFamily="34" charset="-120"/>
              </a:rPr>
              <a:t>A perceptron can classify input patterns into different categories based on their features. It works correctly when the classes are linearly separable.</a:t>
            </a:r>
            <a:endParaRPr lang="en-US" sz="1900" dirty="0"/>
          </a:p>
        </p:txBody>
      </p:sp>
      <p:sp>
        <p:nvSpPr>
          <p:cNvPr id="20" name="Shape 18"/>
          <p:cNvSpPr/>
          <p:nvPr/>
        </p:nvSpPr>
        <p:spPr>
          <a:xfrm>
            <a:off x="6199632" y="146304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1" name="Text 19"/>
          <p:cNvSpPr txBox="1"/>
          <p:nvPr/>
        </p:nvSpPr>
        <p:spPr>
          <a:xfrm>
            <a:off x="6473952" y="1737360"/>
            <a:ext cx="640080" cy="640080"/>
          </a:xfrm>
          <a:prstGeom prst="ellipse">
            <a:avLst/>
          </a:prstGeom>
          <a:solidFill>
            <a:srgbClr val="3B436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2" name="Text 20"/>
          <p:cNvSpPr txBox="1"/>
          <p:nvPr/>
        </p:nvSpPr>
        <p:spPr>
          <a:xfrm>
            <a:off x="7365492" y="1679977"/>
            <a:ext cx="3840480" cy="502920"/>
          </a:xfrm>
          <a:prstGeom prst="rect">
            <a:avLst/>
          </a:prstGeom>
          <a:noFill/>
          <a:ln/>
        </p:spPr>
        <p:txBody>
          <a:bodyPr wrap="square" lIns="0" tIns="0" rIns="0" bIns="0" rtlCol="0" anchor="ctr"/>
          <a:lstStyle/>
          <a:p>
            <a:pPr marL="0" indent="0">
              <a:buNone/>
            </a:pPr>
            <a:r>
              <a:rPr lang="en-US" sz="2200" b="1" dirty="0">
                <a:solidFill>
                  <a:srgbClr val="F2F2F8"/>
                </a:solidFill>
                <a:latin typeface="Calibri" pitchFamily="34" charset="0"/>
                <a:ea typeface="Calibri" pitchFamily="34" charset="-122"/>
                <a:cs typeface="Calibri" pitchFamily="34" charset="-120"/>
              </a:rPr>
              <a:t>Boolean functions</a:t>
            </a:r>
            <a:endParaRPr lang="en-US" sz="2200" dirty="0"/>
          </a:p>
        </p:txBody>
      </p:sp>
      <p:sp>
        <p:nvSpPr>
          <p:cNvPr id="23" name="Text 21"/>
          <p:cNvSpPr txBox="1"/>
          <p:nvPr/>
        </p:nvSpPr>
        <p:spPr>
          <a:xfrm>
            <a:off x="7345680" y="2354580"/>
            <a:ext cx="3840480" cy="1188720"/>
          </a:xfrm>
          <a:prstGeom prst="rect">
            <a:avLst/>
          </a:prstGeom>
          <a:noFill/>
          <a:ln/>
        </p:spPr>
        <p:txBody>
          <a:bodyPr wrap="square" lIns="0" tIns="0" rIns="0" bIns="0" rtlCol="0" anchor="t"/>
          <a:lstStyle/>
          <a:p>
            <a:pPr marL="0" indent="0">
              <a:buNone/>
            </a:pPr>
            <a:r>
              <a:rPr lang="en-US" sz="1900" dirty="0">
                <a:solidFill>
                  <a:srgbClr val="C9CCE0"/>
                </a:solidFill>
                <a:latin typeface="Calibri" pitchFamily="34" charset="0"/>
                <a:ea typeface="Calibri" pitchFamily="34" charset="-122"/>
                <a:cs typeface="Calibri" pitchFamily="34" charset="-120"/>
              </a:rPr>
              <a:t>A perceptron can implement basic Boolean functions such as AND and OR. It produces a binary output of 0 or 1 depending on the input values</a:t>
            </a:r>
            <a:endParaRPr lang="en-US" sz="1900" dirty="0"/>
          </a:p>
        </p:txBody>
      </p:sp>
      <p:sp>
        <p:nvSpPr>
          <p:cNvPr id="24" name="Shape 22"/>
          <p:cNvSpPr/>
          <p:nvPr/>
        </p:nvSpPr>
        <p:spPr>
          <a:xfrm>
            <a:off x="731520" y="393192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5" name="Text 23"/>
          <p:cNvSpPr txBox="1"/>
          <p:nvPr/>
        </p:nvSpPr>
        <p:spPr>
          <a:xfrm>
            <a:off x="1005840" y="4206240"/>
            <a:ext cx="640080" cy="640080"/>
          </a:xfrm>
          <a:prstGeom prst="ellipse">
            <a:avLst/>
          </a:prstGeom>
          <a:solidFill>
            <a:srgbClr val="6B76A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6" name="Text 24"/>
          <p:cNvSpPr txBox="1"/>
          <p:nvPr/>
        </p:nvSpPr>
        <p:spPr>
          <a:xfrm>
            <a:off x="1920240" y="4206240"/>
            <a:ext cx="3840480" cy="502920"/>
          </a:xfrm>
          <a:prstGeom prst="rect">
            <a:avLst/>
          </a:prstGeom>
          <a:noFill/>
          <a:ln/>
        </p:spPr>
        <p:txBody>
          <a:bodyPr wrap="square" lIns="0" tIns="0" rIns="0" bIns="0" rtlCol="0" anchor="ctr"/>
          <a:lstStyle/>
          <a:p>
            <a:pPr marL="0" indent="0">
              <a:buNone/>
            </a:pPr>
            <a:r>
              <a:rPr lang="en-US" sz="2500" b="1" dirty="0">
                <a:solidFill>
                  <a:srgbClr val="F2F2F8"/>
                </a:solidFill>
                <a:latin typeface="Calibri" pitchFamily="34" charset="0"/>
                <a:ea typeface="Calibri" pitchFamily="34" charset="-122"/>
                <a:cs typeface="Calibri" pitchFamily="34" charset="-120"/>
              </a:rPr>
              <a:t>Simple binary decisions</a:t>
            </a:r>
            <a:endParaRPr lang="en-US" sz="2500" dirty="0"/>
          </a:p>
        </p:txBody>
      </p:sp>
      <p:sp>
        <p:nvSpPr>
          <p:cNvPr id="27" name="Text 25"/>
          <p:cNvSpPr txBox="1"/>
          <p:nvPr/>
        </p:nvSpPr>
        <p:spPr>
          <a:xfrm>
            <a:off x="1920240" y="4846320"/>
            <a:ext cx="3840480" cy="1188720"/>
          </a:xfrm>
          <a:prstGeom prst="rect">
            <a:avLst/>
          </a:prstGeom>
          <a:noFill/>
          <a:ln/>
        </p:spPr>
        <p:txBody>
          <a:bodyPr wrap="square" lIns="0" tIns="0" rIns="0" bIns="0" rtlCol="0" anchor="t"/>
          <a:lstStyle/>
          <a:p>
            <a:pPr marL="0" indent="0">
              <a:buNone/>
            </a:pPr>
            <a:r>
              <a:rPr lang="en-US" sz="1900" dirty="0">
                <a:solidFill>
                  <a:srgbClr val="C9CCE0"/>
                </a:solidFill>
                <a:latin typeface="Calibri" pitchFamily="34" charset="0"/>
                <a:ea typeface="Calibri" pitchFamily="34" charset="-122"/>
                <a:cs typeface="Calibri" pitchFamily="34" charset="-120"/>
              </a:rPr>
              <a:t>A perceptron can make yes/no decisions using weighted input features and a bias.</a:t>
            </a:r>
            <a:endParaRPr lang="en-US" sz="1900" dirty="0"/>
          </a:p>
        </p:txBody>
      </p:sp>
      <p:sp>
        <p:nvSpPr>
          <p:cNvPr id="28" name="Shape 26"/>
          <p:cNvSpPr/>
          <p:nvPr/>
        </p:nvSpPr>
        <p:spPr>
          <a:xfrm>
            <a:off x="6199632" y="3931920"/>
            <a:ext cx="5257800" cy="2286000"/>
          </a:xfrm>
          <a:prstGeom prst="roundRect">
            <a:avLst>
              <a:gd name="adj" fmla="val 4800"/>
            </a:avLst>
          </a:prstGeom>
          <a:solidFill>
            <a:srgbClr val="1C2036"/>
          </a:solidFill>
          <a:ln w="9525">
            <a:solidFill>
              <a:srgbClr val="343A58"/>
            </a:solidFill>
            <a:prstDash val="solid"/>
          </a:ln>
        </p:spPr>
        <p:txBody>
          <a:bodyPr/>
          <a:lstStyle/>
          <a:p>
            <a:endParaRPr lang="en-IN"/>
          </a:p>
        </p:txBody>
      </p:sp>
      <p:sp>
        <p:nvSpPr>
          <p:cNvPr id="29" name="Text 27"/>
          <p:cNvSpPr txBox="1"/>
          <p:nvPr/>
        </p:nvSpPr>
        <p:spPr>
          <a:xfrm>
            <a:off x="6473952" y="4206240"/>
            <a:ext cx="640080" cy="640080"/>
          </a:xfrm>
          <a:prstGeom prst="ellipse">
            <a:avLst/>
          </a:prstGeom>
          <a:solidFill>
            <a:srgbClr val="3B4366"/>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0" name="Text 28"/>
          <p:cNvSpPr txBox="1"/>
          <p:nvPr/>
        </p:nvSpPr>
        <p:spPr>
          <a:xfrm>
            <a:off x="7388352" y="4206240"/>
            <a:ext cx="3840480" cy="502920"/>
          </a:xfrm>
          <a:prstGeom prst="rect">
            <a:avLst/>
          </a:prstGeom>
          <a:noFill/>
          <a:ln/>
        </p:spPr>
        <p:txBody>
          <a:bodyPr wrap="square" lIns="0" tIns="0" rIns="0" bIns="0" rtlCol="0" anchor="ctr"/>
          <a:lstStyle/>
          <a:p>
            <a:pPr marL="0" indent="0">
              <a:buNone/>
            </a:pPr>
            <a:r>
              <a:rPr lang="en-US" sz="2500" b="1" dirty="0">
                <a:solidFill>
                  <a:srgbClr val="F2F2F8"/>
                </a:solidFill>
                <a:latin typeface="Calibri" pitchFamily="34" charset="0"/>
                <a:ea typeface="Calibri" pitchFamily="34" charset="-122"/>
                <a:cs typeface="Calibri" pitchFamily="34" charset="-120"/>
              </a:rPr>
              <a:t>Educational foundation</a:t>
            </a:r>
            <a:endParaRPr lang="en-US" sz="2500" dirty="0"/>
          </a:p>
        </p:txBody>
      </p:sp>
      <p:sp>
        <p:nvSpPr>
          <p:cNvPr id="31" name="Text 29"/>
          <p:cNvSpPr txBox="1"/>
          <p:nvPr/>
        </p:nvSpPr>
        <p:spPr>
          <a:xfrm>
            <a:off x="7388352" y="4846320"/>
            <a:ext cx="3840480" cy="1188720"/>
          </a:xfrm>
          <a:prstGeom prst="rect">
            <a:avLst/>
          </a:prstGeom>
          <a:noFill/>
          <a:ln/>
        </p:spPr>
        <p:txBody>
          <a:bodyPr wrap="square" lIns="0" tIns="0" rIns="0" bIns="0" rtlCol="0" anchor="t"/>
          <a:lstStyle/>
          <a:p>
            <a:pPr marL="0" indent="0">
              <a:buNone/>
            </a:pPr>
            <a:r>
              <a:rPr lang="en-US" sz="1900" dirty="0">
                <a:solidFill>
                  <a:srgbClr val="C9CCE0"/>
                </a:solidFill>
                <a:latin typeface="Calibri" pitchFamily="34" charset="0"/>
                <a:ea typeface="Calibri" pitchFamily="34" charset="-122"/>
                <a:cs typeface="Calibri" pitchFamily="34" charset="-120"/>
              </a:rPr>
              <a:t>weights, bias, activations, supervised learning, boundaries</a:t>
            </a:r>
            <a:endParaRPr lang="en-US" sz="1900" dirty="0"/>
          </a:p>
        </p:txBody>
      </p:sp>
      <p:sp>
        <p:nvSpPr>
          <p:cNvPr id="32" name="Text 30"/>
          <p:cNvSpPr txBox="1"/>
          <p:nvPr/>
        </p:nvSpPr>
        <p:spPr>
          <a:xfrm>
            <a:off x="9601200" y="6446520"/>
            <a:ext cx="1856232" cy="274320"/>
          </a:xfrm>
          <a:prstGeom prst="rect">
            <a:avLst/>
          </a:prstGeom>
          <a:noFill/>
          <a:ln/>
        </p:spPr>
        <p:txBody>
          <a:bodyPr wrap="square" lIns="0" tIns="0" rIns="0" bIns="0" rtlCol="0" anchor="t"/>
          <a:lstStyle/>
          <a:p>
            <a:pPr marL="0" indent="0" algn="r">
              <a:buNone/>
            </a:pP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V="1">
            <a:off x="9518904" y="210312"/>
            <a:ext cx="310896" cy="310896"/>
          </a:xfrm>
          <a:prstGeom prst="line">
            <a:avLst/>
          </a:prstGeom>
          <a:noFill/>
          <a:ln w="15875">
            <a:solidFill>
              <a:srgbClr val="B8BCD0"/>
            </a:solidFill>
            <a:prstDash val="solid"/>
          </a:ln>
        </p:spPr>
        <p:txBody>
          <a:bodyPr/>
          <a:lstStyle/>
          <a:p>
            <a:endParaRPr lang="en-IN"/>
          </a:p>
        </p:txBody>
      </p:sp>
      <p:sp>
        <p:nvSpPr>
          <p:cNvPr id="3" name="Shape 1"/>
          <p:cNvSpPr/>
          <p:nvPr/>
        </p:nvSpPr>
        <p:spPr>
          <a:xfrm flipV="1">
            <a:off x="9870948" y="210312"/>
            <a:ext cx="310896" cy="310896"/>
          </a:xfrm>
          <a:prstGeom prst="line">
            <a:avLst/>
          </a:prstGeom>
          <a:noFill/>
          <a:ln w="15875">
            <a:solidFill>
              <a:srgbClr val="B8BCD0"/>
            </a:solidFill>
            <a:prstDash val="solid"/>
          </a:ln>
        </p:spPr>
        <p:txBody>
          <a:bodyPr/>
          <a:lstStyle/>
          <a:p>
            <a:endParaRPr lang="en-IN"/>
          </a:p>
        </p:txBody>
      </p:sp>
      <p:sp>
        <p:nvSpPr>
          <p:cNvPr id="4" name="Shape 2"/>
          <p:cNvSpPr/>
          <p:nvPr/>
        </p:nvSpPr>
        <p:spPr>
          <a:xfrm flipV="1">
            <a:off x="10222992" y="210312"/>
            <a:ext cx="310896" cy="310896"/>
          </a:xfrm>
          <a:prstGeom prst="line">
            <a:avLst/>
          </a:prstGeom>
          <a:noFill/>
          <a:ln w="15875">
            <a:solidFill>
              <a:srgbClr val="B8BCD0"/>
            </a:solidFill>
            <a:prstDash val="solid"/>
          </a:ln>
        </p:spPr>
        <p:txBody>
          <a:bodyPr/>
          <a:lstStyle/>
          <a:p>
            <a:endParaRPr lang="en-IN"/>
          </a:p>
        </p:txBody>
      </p:sp>
      <p:sp>
        <p:nvSpPr>
          <p:cNvPr id="5" name="Shape 3"/>
          <p:cNvSpPr/>
          <p:nvPr/>
        </p:nvSpPr>
        <p:spPr>
          <a:xfrm flipV="1">
            <a:off x="10575036" y="210312"/>
            <a:ext cx="310896" cy="310896"/>
          </a:xfrm>
          <a:prstGeom prst="line">
            <a:avLst/>
          </a:prstGeom>
          <a:noFill/>
          <a:ln w="15875">
            <a:solidFill>
              <a:srgbClr val="B8BCD0"/>
            </a:solidFill>
            <a:prstDash val="solid"/>
          </a:ln>
        </p:spPr>
        <p:txBody>
          <a:bodyPr/>
          <a:lstStyle/>
          <a:p>
            <a:endParaRPr lang="en-IN"/>
          </a:p>
        </p:txBody>
      </p:sp>
      <p:sp>
        <p:nvSpPr>
          <p:cNvPr id="6" name="Shape 4"/>
          <p:cNvSpPr/>
          <p:nvPr/>
        </p:nvSpPr>
        <p:spPr>
          <a:xfrm flipV="1">
            <a:off x="10927080" y="210312"/>
            <a:ext cx="310896" cy="310896"/>
          </a:xfrm>
          <a:prstGeom prst="line">
            <a:avLst/>
          </a:prstGeom>
          <a:noFill/>
          <a:ln w="15875">
            <a:solidFill>
              <a:srgbClr val="B8BCD0"/>
            </a:solidFill>
            <a:prstDash val="solid"/>
          </a:ln>
        </p:spPr>
        <p:txBody>
          <a:bodyPr/>
          <a:lstStyle/>
          <a:p>
            <a:endParaRPr lang="en-IN"/>
          </a:p>
        </p:txBody>
      </p:sp>
      <p:sp>
        <p:nvSpPr>
          <p:cNvPr id="7" name="Shape 5"/>
          <p:cNvSpPr/>
          <p:nvPr/>
        </p:nvSpPr>
        <p:spPr>
          <a:xfrm flipV="1">
            <a:off x="11279124" y="210312"/>
            <a:ext cx="310896" cy="310896"/>
          </a:xfrm>
          <a:prstGeom prst="line">
            <a:avLst/>
          </a:prstGeom>
          <a:noFill/>
          <a:ln w="15875">
            <a:solidFill>
              <a:srgbClr val="B8BCD0"/>
            </a:solidFill>
            <a:prstDash val="solid"/>
          </a:ln>
        </p:spPr>
        <p:txBody>
          <a:bodyPr/>
          <a:lstStyle/>
          <a:p>
            <a:endParaRPr lang="en-IN"/>
          </a:p>
        </p:txBody>
      </p:sp>
      <p:sp>
        <p:nvSpPr>
          <p:cNvPr id="8" name="Shape 6"/>
          <p:cNvSpPr/>
          <p:nvPr/>
        </p:nvSpPr>
        <p:spPr>
          <a:xfrm flipV="1">
            <a:off x="11631168" y="210312"/>
            <a:ext cx="310896" cy="310896"/>
          </a:xfrm>
          <a:prstGeom prst="line">
            <a:avLst/>
          </a:prstGeom>
          <a:noFill/>
          <a:ln w="15875">
            <a:solidFill>
              <a:srgbClr val="B8BCD0"/>
            </a:solidFill>
            <a:prstDash val="solid"/>
          </a:ln>
        </p:spPr>
        <p:txBody>
          <a:bodyPr/>
          <a:lstStyle/>
          <a:p>
            <a:endParaRPr lang="en-IN"/>
          </a:p>
        </p:txBody>
      </p:sp>
      <p:sp>
        <p:nvSpPr>
          <p:cNvPr id="9" name="Shape 7"/>
          <p:cNvSpPr/>
          <p:nvPr/>
        </p:nvSpPr>
        <p:spPr>
          <a:xfrm flipV="1">
            <a:off x="9518904" y="713232"/>
            <a:ext cx="310896" cy="310896"/>
          </a:xfrm>
          <a:prstGeom prst="line">
            <a:avLst/>
          </a:prstGeom>
          <a:noFill/>
          <a:ln w="15875">
            <a:solidFill>
              <a:srgbClr val="B8BCD0"/>
            </a:solidFill>
            <a:prstDash val="solid"/>
          </a:ln>
        </p:spPr>
        <p:txBody>
          <a:bodyPr/>
          <a:lstStyle/>
          <a:p>
            <a:endParaRPr lang="en-IN"/>
          </a:p>
        </p:txBody>
      </p:sp>
      <p:sp>
        <p:nvSpPr>
          <p:cNvPr id="10" name="Shape 8"/>
          <p:cNvSpPr/>
          <p:nvPr/>
        </p:nvSpPr>
        <p:spPr>
          <a:xfrm flipV="1">
            <a:off x="9870948" y="713232"/>
            <a:ext cx="310896" cy="310896"/>
          </a:xfrm>
          <a:prstGeom prst="line">
            <a:avLst/>
          </a:prstGeom>
          <a:noFill/>
          <a:ln w="15875">
            <a:solidFill>
              <a:srgbClr val="B8BCD0"/>
            </a:solidFill>
            <a:prstDash val="solid"/>
          </a:ln>
        </p:spPr>
        <p:txBody>
          <a:bodyPr/>
          <a:lstStyle/>
          <a:p>
            <a:endParaRPr lang="en-IN"/>
          </a:p>
        </p:txBody>
      </p:sp>
      <p:sp>
        <p:nvSpPr>
          <p:cNvPr id="11" name="Shape 9"/>
          <p:cNvSpPr/>
          <p:nvPr/>
        </p:nvSpPr>
        <p:spPr>
          <a:xfrm flipV="1">
            <a:off x="10222992" y="713232"/>
            <a:ext cx="310896" cy="310896"/>
          </a:xfrm>
          <a:prstGeom prst="line">
            <a:avLst/>
          </a:prstGeom>
          <a:noFill/>
          <a:ln w="15875">
            <a:solidFill>
              <a:srgbClr val="B8BCD0"/>
            </a:solidFill>
            <a:prstDash val="solid"/>
          </a:ln>
        </p:spPr>
        <p:txBody>
          <a:bodyPr/>
          <a:lstStyle/>
          <a:p>
            <a:endParaRPr lang="en-IN"/>
          </a:p>
        </p:txBody>
      </p:sp>
      <p:sp>
        <p:nvSpPr>
          <p:cNvPr id="12" name="Shape 10"/>
          <p:cNvSpPr/>
          <p:nvPr/>
        </p:nvSpPr>
        <p:spPr>
          <a:xfrm flipV="1">
            <a:off x="10575036" y="713232"/>
            <a:ext cx="310896" cy="310896"/>
          </a:xfrm>
          <a:prstGeom prst="line">
            <a:avLst/>
          </a:prstGeom>
          <a:noFill/>
          <a:ln w="15875">
            <a:solidFill>
              <a:srgbClr val="B8BCD0"/>
            </a:solidFill>
            <a:prstDash val="solid"/>
          </a:ln>
        </p:spPr>
        <p:txBody>
          <a:bodyPr/>
          <a:lstStyle/>
          <a:p>
            <a:endParaRPr lang="en-IN"/>
          </a:p>
        </p:txBody>
      </p:sp>
      <p:sp>
        <p:nvSpPr>
          <p:cNvPr id="13" name="Shape 11"/>
          <p:cNvSpPr/>
          <p:nvPr/>
        </p:nvSpPr>
        <p:spPr>
          <a:xfrm flipV="1">
            <a:off x="10927080" y="713232"/>
            <a:ext cx="310896" cy="310896"/>
          </a:xfrm>
          <a:prstGeom prst="line">
            <a:avLst/>
          </a:prstGeom>
          <a:noFill/>
          <a:ln w="15875">
            <a:solidFill>
              <a:srgbClr val="B8BCD0"/>
            </a:solidFill>
            <a:prstDash val="solid"/>
          </a:ln>
        </p:spPr>
        <p:txBody>
          <a:bodyPr/>
          <a:lstStyle/>
          <a:p>
            <a:endParaRPr lang="en-IN"/>
          </a:p>
        </p:txBody>
      </p:sp>
      <p:sp>
        <p:nvSpPr>
          <p:cNvPr id="14" name="Shape 12"/>
          <p:cNvSpPr/>
          <p:nvPr/>
        </p:nvSpPr>
        <p:spPr>
          <a:xfrm flipV="1">
            <a:off x="11279124" y="713232"/>
            <a:ext cx="310896" cy="310896"/>
          </a:xfrm>
          <a:prstGeom prst="line">
            <a:avLst/>
          </a:prstGeom>
          <a:noFill/>
          <a:ln w="15875">
            <a:solidFill>
              <a:srgbClr val="B8BCD0"/>
            </a:solidFill>
            <a:prstDash val="solid"/>
          </a:ln>
        </p:spPr>
        <p:txBody>
          <a:bodyPr/>
          <a:lstStyle/>
          <a:p>
            <a:endParaRPr lang="en-IN"/>
          </a:p>
        </p:txBody>
      </p:sp>
      <p:sp>
        <p:nvSpPr>
          <p:cNvPr id="15" name="Shape 13"/>
          <p:cNvSpPr/>
          <p:nvPr/>
        </p:nvSpPr>
        <p:spPr>
          <a:xfrm flipV="1">
            <a:off x="11631168" y="713232"/>
            <a:ext cx="310896" cy="310896"/>
          </a:xfrm>
          <a:prstGeom prst="line">
            <a:avLst/>
          </a:prstGeom>
          <a:noFill/>
          <a:ln w="15875">
            <a:solidFill>
              <a:srgbClr val="B8BCD0"/>
            </a:solidFill>
            <a:prstDash val="solid"/>
          </a:ln>
        </p:spPr>
        <p:txBody>
          <a:bodyPr/>
          <a:lstStyle/>
          <a:p>
            <a:endParaRPr lang="en-IN"/>
          </a:p>
        </p:txBody>
      </p:sp>
      <p:sp>
        <p:nvSpPr>
          <p:cNvPr id="16" name="Text 14"/>
          <p:cNvSpPr txBox="1"/>
          <p:nvPr/>
        </p:nvSpPr>
        <p:spPr>
          <a:xfrm>
            <a:off x="0" y="411480"/>
            <a:ext cx="12191695" cy="868680"/>
          </a:xfrm>
          <a:prstGeom prst="rect">
            <a:avLst/>
          </a:prstGeom>
          <a:noFill/>
          <a:ln/>
        </p:spPr>
        <p:txBody>
          <a:bodyPr wrap="square" lIns="0" tIns="0" rIns="0" bIns="0" rtlCol="0" anchor="ctr"/>
          <a:lstStyle/>
          <a:p>
            <a:pPr marL="0" indent="0" algn="ctr">
              <a:buNone/>
            </a:pPr>
            <a:r>
              <a:rPr lang="en-US" sz="4000" dirty="0">
                <a:solidFill>
                  <a:srgbClr val="F2F2F8"/>
                </a:solidFill>
                <a:latin typeface="Impact" pitchFamily="34" charset="0"/>
                <a:ea typeface="Impact" pitchFamily="34" charset="-122"/>
                <a:cs typeface="Impact" pitchFamily="34" charset="-120"/>
              </a:rPr>
              <a:t>References</a:t>
            </a:r>
            <a:endParaRPr lang="en-US" sz="4000" dirty="0"/>
          </a:p>
        </p:txBody>
      </p:sp>
      <p:sp>
        <p:nvSpPr>
          <p:cNvPr id="17" name="Shape 15"/>
          <p:cNvSpPr/>
          <p:nvPr/>
        </p:nvSpPr>
        <p:spPr>
          <a:xfrm>
            <a:off x="2258568" y="1472184"/>
            <a:ext cx="7260336" cy="1234440"/>
          </a:xfrm>
          <a:prstGeom prst="roundRect">
            <a:avLst>
              <a:gd name="adj" fmla="val 6667"/>
            </a:avLst>
          </a:prstGeom>
          <a:solidFill>
            <a:srgbClr val="1C2036"/>
          </a:solidFill>
          <a:ln w="9525">
            <a:solidFill>
              <a:srgbClr val="343A58"/>
            </a:solidFill>
            <a:prstDash val="solid"/>
          </a:ln>
        </p:spPr>
        <p:txBody>
          <a:bodyPr/>
          <a:lstStyle/>
          <a:p>
            <a:endParaRPr lang="en-IN"/>
          </a:p>
        </p:txBody>
      </p:sp>
      <p:sp>
        <p:nvSpPr>
          <p:cNvPr id="18" name="Text 16"/>
          <p:cNvSpPr txBox="1"/>
          <p:nvPr/>
        </p:nvSpPr>
        <p:spPr>
          <a:xfrm>
            <a:off x="685800" y="1408176"/>
            <a:ext cx="1642419" cy="1337310"/>
          </a:xfrm>
          <a:prstGeom prst="roundRect">
            <a:avLst>
              <a:gd name="adj" fmla="val 7692"/>
            </a:avLst>
          </a:prstGeom>
          <a:solidFill>
            <a:srgbClr val="6B76A6"/>
          </a:solidFill>
          <a:ln/>
        </p:spPr>
        <p:txBody>
          <a:bodyPr wrap="square" lIns="0" tIns="0" rIns="0" bIns="0" rtlCol="0" anchor="ctr"/>
          <a:lstStyle/>
          <a:p>
            <a:pPr marL="0" indent="0" algn="ctr">
              <a:buNone/>
            </a:pPr>
            <a:r>
              <a:rPr lang="en-US" sz="6600" dirty="0">
                <a:solidFill>
                  <a:srgbClr val="FFFFFF"/>
                </a:solidFill>
                <a:latin typeface="Impact" pitchFamily="34" charset="0"/>
                <a:ea typeface="Impact" pitchFamily="34" charset="-122"/>
                <a:cs typeface="Impact" pitchFamily="34" charset="-120"/>
              </a:rPr>
              <a:t>1</a:t>
            </a:r>
            <a:endParaRPr lang="en-US" sz="6600" dirty="0"/>
          </a:p>
        </p:txBody>
      </p:sp>
      <p:sp>
        <p:nvSpPr>
          <p:cNvPr id="19" name="Text 17"/>
          <p:cNvSpPr txBox="1"/>
          <p:nvPr/>
        </p:nvSpPr>
        <p:spPr>
          <a:xfrm>
            <a:off x="2715768" y="1655064"/>
            <a:ext cx="6586523" cy="960120"/>
          </a:xfrm>
          <a:prstGeom prst="rect">
            <a:avLst/>
          </a:prstGeom>
          <a:noFill/>
          <a:ln/>
        </p:spPr>
        <p:txBody>
          <a:bodyPr wrap="square" lIns="0" tIns="0" rIns="0" bIns="0" rtlCol="0" anchor="ctr"/>
          <a:lstStyle/>
          <a:p>
            <a:pPr algn="just"/>
            <a:r>
              <a:rPr lang="en-US" sz="1550" dirty="0">
                <a:solidFill>
                  <a:srgbClr val="F2F2F8"/>
                </a:solidFill>
                <a:latin typeface="Calibri" pitchFamily="34" charset="0"/>
                <a:ea typeface="Calibri" pitchFamily="34" charset="-122"/>
                <a:cs typeface="Calibri" pitchFamily="34" charset="-120"/>
              </a:rPr>
              <a:t>S. N. Deepa and S. N. </a:t>
            </a:r>
            <a:r>
              <a:rPr lang="en-US" sz="1550" dirty="0" err="1">
                <a:solidFill>
                  <a:srgbClr val="F2F2F8"/>
                </a:solidFill>
                <a:latin typeface="Calibri" pitchFamily="34" charset="0"/>
                <a:ea typeface="Calibri" pitchFamily="34" charset="-122"/>
                <a:cs typeface="Calibri" pitchFamily="34" charset="-120"/>
              </a:rPr>
              <a:t>Sivanandam</a:t>
            </a:r>
            <a:r>
              <a:rPr lang="en-US" sz="1550" dirty="0">
                <a:solidFill>
                  <a:srgbClr val="F2F2F8"/>
                </a:solidFill>
                <a:latin typeface="Calibri" pitchFamily="34" charset="0"/>
                <a:ea typeface="Calibri" pitchFamily="34" charset="-122"/>
                <a:cs typeface="Calibri" pitchFamily="34" charset="-120"/>
              </a:rPr>
              <a:t>,” Principles of Soft Computing”, 2nd Edition, Wiley, 2011.</a:t>
            </a:r>
            <a:endParaRPr lang="en-US" sz="1550" dirty="0"/>
          </a:p>
        </p:txBody>
      </p:sp>
      <p:sp>
        <p:nvSpPr>
          <p:cNvPr id="20" name="Shape 18"/>
          <p:cNvSpPr/>
          <p:nvPr/>
        </p:nvSpPr>
        <p:spPr>
          <a:xfrm>
            <a:off x="4076802" y="3125724"/>
            <a:ext cx="7374128" cy="1234440"/>
          </a:xfrm>
          <a:prstGeom prst="roundRect">
            <a:avLst>
              <a:gd name="adj" fmla="val 6667"/>
            </a:avLst>
          </a:prstGeom>
          <a:solidFill>
            <a:srgbClr val="1C2036"/>
          </a:solidFill>
          <a:ln w="9525">
            <a:solidFill>
              <a:srgbClr val="343A58"/>
            </a:solidFill>
            <a:prstDash val="solid"/>
          </a:ln>
        </p:spPr>
        <p:txBody>
          <a:bodyPr/>
          <a:lstStyle/>
          <a:p>
            <a:endParaRPr lang="en-IN"/>
          </a:p>
        </p:txBody>
      </p:sp>
      <p:sp>
        <p:nvSpPr>
          <p:cNvPr id="21" name="Text 19"/>
          <p:cNvSpPr txBox="1"/>
          <p:nvPr/>
        </p:nvSpPr>
        <p:spPr>
          <a:xfrm>
            <a:off x="2548057" y="3074289"/>
            <a:ext cx="1683788" cy="1337310"/>
          </a:xfrm>
          <a:prstGeom prst="roundRect">
            <a:avLst>
              <a:gd name="adj" fmla="val 7692"/>
            </a:avLst>
          </a:prstGeom>
          <a:solidFill>
            <a:srgbClr val="6B76A6"/>
          </a:solidFill>
          <a:ln/>
        </p:spPr>
        <p:txBody>
          <a:bodyPr wrap="square" lIns="0" tIns="0" rIns="0" bIns="0" rtlCol="0" anchor="ctr"/>
          <a:lstStyle/>
          <a:p>
            <a:pPr marL="0" indent="0" algn="ctr">
              <a:buNone/>
            </a:pPr>
            <a:r>
              <a:rPr lang="en-US" sz="6600" dirty="0">
                <a:solidFill>
                  <a:srgbClr val="FFFFFF"/>
                </a:solidFill>
                <a:latin typeface="Impact" pitchFamily="34" charset="0"/>
                <a:ea typeface="Impact" pitchFamily="34" charset="-122"/>
                <a:cs typeface="Impact" pitchFamily="34" charset="-120"/>
              </a:rPr>
              <a:t>2</a:t>
            </a:r>
            <a:endParaRPr lang="en-US" sz="6600" dirty="0"/>
          </a:p>
        </p:txBody>
      </p:sp>
      <p:sp>
        <p:nvSpPr>
          <p:cNvPr id="22" name="Text 20"/>
          <p:cNvSpPr txBox="1"/>
          <p:nvPr/>
        </p:nvSpPr>
        <p:spPr>
          <a:xfrm>
            <a:off x="4422195" y="3308604"/>
            <a:ext cx="6683343" cy="960120"/>
          </a:xfrm>
          <a:prstGeom prst="rect">
            <a:avLst/>
          </a:prstGeom>
          <a:noFill/>
          <a:ln/>
        </p:spPr>
        <p:txBody>
          <a:bodyPr wrap="square" lIns="0" tIns="0" rIns="0" bIns="0" rtlCol="0" anchor="ctr"/>
          <a:lstStyle/>
          <a:p>
            <a:pPr algn="just"/>
            <a:r>
              <a:rPr lang="en-US" sz="1550" dirty="0">
                <a:solidFill>
                  <a:srgbClr val="F2F2F8"/>
                </a:solidFill>
                <a:latin typeface="Calibri" pitchFamily="34" charset="0"/>
                <a:ea typeface="Calibri" pitchFamily="34" charset="-122"/>
                <a:cs typeface="Calibri" pitchFamily="34" charset="-120"/>
              </a:rPr>
              <a:t>S. Rajasekaran, G. A. Vijayalakshmi Pai, “Neural Networks, Fuzzy Logic and Genetic Algorithms : Synthesis and Applications”, 1st Edition, Prentice Hall of India, 2003.</a:t>
            </a:r>
            <a:endParaRPr lang="en-US" sz="1550" dirty="0"/>
          </a:p>
        </p:txBody>
      </p:sp>
      <p:sp>
        <p:nvSpPr>
          <p:cNvPr id="24" name="Shape 15">
            <a:extLst>
              <a:ext uri="{FF2B5EF4-FFF2-40B4-BE49-F238E27FC236}">
                <a16:creationId xmlns:a16="http://schemas.microsoft.com/office/drawing/2014/main" id="{44370FAD-960B-AE78-83F4-6DC5428E2172}"/>
              </a:ext>
            </a:extLst>
          </p:cNvPr>
          <p:cNvSpPr/>
          <p:nvPr/>
        </p:nvSpPr>
        <p:spPr>
          <a:xfrm>
            <a:off x="2258568" y="4754118"/>
            <a:ext cx="7374128" cy="1234440"/>
          </a:xfrm>
          <a:prstGeom prst="roundRect">
            <a:avLst>
              <a:gd name="adj" fmla="val 6667"/>
            </a:avLst>
          </a:prstGeom>
          <a:solidFill>
            <a:srgbClr val="1C2036"/>
          </a:solidFill>
          <a:ln w="9525">
            <a:solidFill>
              <a:srgbClr val="343A58"/>
            </a:solidFill>
            <a:prstDash val="solid"/>
          </a:ln>
        </p:spPr>
        <p:txBody>
          <a:bodyPr/>
          <a:lstStyle/>
          <a:p>
            <a:endParaRPr lang="en-IN"/>
          </a:p>
        </p:txBody>
      </p:sp>
      <p:sp>
        <p:nvSpPr>
          <p:cNvPr id="26" name="Text 16">
            <a:extLst>
              <a:ext uri="{FF2B5EF4-FFF2-40B4-BE49-F238E27FC236}">
                <a16:creationId xmlns:a16="http://schemas.microsoft.com/office/drawing/2014/main" id="{3CCCAE05-2146-BCF6-18A1-AB56E720A960}"/>
              </a:ext>
            </a:extLst>
          </p:cNvPr>
          <p:cNvSpPr txBox="1"/>
          <p:nvPr/>
        </p:nvSpPr>
        <p:spPr>
          <a:xfrm>
            <a:off x="685800" y="4690110"/>
            <a:ext cx="1668161" cy="1337310"/>
          </a:xfrm>
          <a:prstGeom prst="roundRect">
            <a:avLst>
              <a:gd name="adj" fmla="val 7692"/>
            </a:avLst>
          </a:prstGeom>
          <a:solidFill>
            <a:srgbClr val="6B76A6"/>
          </a:solidFill>
          <a:ln/>
        </p:spPr>
        <p:txBody>
          <a:bodyPr wrap="square" lIns="0" tIns="0" rIns="0" bIns="0" rtlCol="0" anchor="ctr"/>
          <a:lstStyle/>
          <a:p>
            <a:pPr marL="0" indent="0" algn="ctr">
              <a:buNone/>
            </a:pPr>
            <a:r>
              <a:rPr lang="en-US" sz="6600" dirty="0">
                <a:solidFill>
                  <a:srgbClr val="FFFFFF"/>
                </a:solidFill>
                <a:latin typeface="Impact" pitchFamily="34" charset="0"/>
              </a:rPr>
              <a:t>3</a:t>
            </a:r>
            <a:endParaRPr lang="en-US" sz="6600" dirty="0"/>
          </a:p>
        </p:txBody>
      </p:sp>
      <p:sp>
        <p:nvSpPr>
          <p:cNvPr id="28" name="Text 17">
            <a:extLst>
              <a:ext uri="{FF2B5EF4-FFF2-40B4-BE49-F238E27FC236}">
                <a16:creationId xmlns:a16="http://schemas.microsoft.com/office/drawing/2014/main" id="{5658B54D-2700-21A4-66D9-4C6483B2741F}"/>
              </a:ext>
            </a:extLst>
          </p:cNvPr>
          <p:cNvSpPr txBox="1"/>
          <p:nvPr/>
        </p:nvSpPr>
        <p:spPr>
          <a:xfrm>
            <a:off x="2715768" y="4936998"/>
            <a:ext cx="6689754" cy="960120"/>
          </a:xfrm>
          <a:prstGeom prst="rect">
            <a:avLst/>
          </a:prstGeom>
          <a:noFill/>
          <a:ln/>
        </p:spPr>
        <p:txBody>
          <a:bodyPr wrap="square" lIns="0" tIns="0" rIns="0" bIns="0" rtlCol="0" anchor="ctr"/>
          <a:lstStyle/>
          <a:p>
            <a:pPr algn="just"/>
            <a:r>
              <a:rPr lang="en-US" sz="1550" dirty="0">
                <a:solidFill>
                  <a:schemeClr val="bg2"/>
                </a:solidFill>
              </a:rPr>
              <a:t>Stanford Lecture</a:t>
            </a:r>
          </a:p>
          <a:p>
            <a:pPr algn="just"/>
            <a:r>
              <a:rPr lang="en-US" sz="1550" dirty="0">
                <a:solidFill>
                  <a:schemeClr val="bg2"/>
                </a:solidFill>
                <a:hlinkClick r:id="rId4"/>
              </a:rPr>
              <a:t>https://share.google</a:t>
            </a:r>
            <a:r>
              <a:rPr lang="en-US" sz="1550">
                <a:solidFill>
                  <a:schemeClr val="bg2"/>
                </a:solidFill>
                <a:hlinkClick r:id="rId4"/>
              </a:rPr>
              <a:t>/6FupdV0VVW7JuFJSj</a:t>
            </a:r>
            <a:r>
              <a:rPr lang="en-US" sz="1550">
                <a:solidFill>
                  <a:schemeClr val="bg2"/>
                </a:solidFill>
              </a:rPr>
              <a:t> </a:t>
            </a:r>
            <a:endParaRPr lang="en-US" sz="1550" dirty="0">
              <a:solidFill>
                <a:schemeClr val="bg2"/>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2605</TotalTime>
  <Words>2586</Words>
  <Application>Microsoft Office PowerPoint</Application>
  <PresentationFormat>Widescreen</PresentationFormat>
  <Paragraphs>394</Paragraphs>
  <Slides>32</Slides>
  <Notes>32</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Arial Black</vt:lpstr>
      <vt:lpstr>Calibri</vt:lpstr>
      <vt:lpstr>Cambria Math</vt:lpstr>
      <vt:lpstr>Impact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Bhagya Ranjan</cp:lastModifiedBy>
  <cp:revision>11</cp:revision>
  <dcterms:created xsi:type="dcterms:W3CDTF">2026-10-12T07:51:11Z</dcterms:created>
  <dcterms:modified xsi:type="dcterms:W3CDTF">2026-10-21T16:30:26Z</dcterms:modified>
</cp:coreProperties>
</file>